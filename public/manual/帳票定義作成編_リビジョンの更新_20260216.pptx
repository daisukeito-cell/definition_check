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notesSlides/notesSlide24.xml" ContentType="application/vnd.openxmlformats-officedocument.presentationml.notesSlide+xml"/>
  <Override PartName="/ppt/tags/tag22.xml" ContentType="application/vnd.openxmlformats-officedocument.presentationml.tags+xml"/>
  <Override PartName="/ppt/notesSlides/notesSlide25.xml" ContentType="application/vnd.openxmlformats-officedocument.presentationml.notesSlide+xml"/>
  <Override PartName="/ppt/tags/tag23.xml" ContentType="application/vnd.openxmlformats-officedocument.presentationml.tags+xml"/>
  <Override PartName="/ppt/notesSlides/notesSlide26.xml" ContentType="application/vnd.openxmlformats-officedocument.presentationml.notesSlide+xml"/>
  <Override PartName="/ppt/tags/tag24.xml" ContentType="application/vnd.openxmlformats-officedocument.presentationml.tags+xml"/>
  <Override PartName="/ppt/notesSlides/notesSlide27.xml" ContentType="application/vnd.openxmlformats-officedocument.presentationml.notesSlide+xml"/>
  <Override PartName="/ppt/tags/tag25.xml" ContentType="application/vnd.openxmlformats-officedocument.presentationml.tags+xml"/>
  <Override PartName="/ppt/notesSlides/notesSlide28.xml" ContentType="application/vnd.openxmlformats-officedocument.presentationml.notesSlide+xml"/>
  <Override PartName="/ppt/tags/tag26.xml" ContentType="application/vnd.openxmlformats-officedocument.presentationml.tags+xml"/>
  <Override PartName="/ppt/notesSlides/notesSlide29.xml" ContentType="application/vnd.openxmlformats-officedocument.presentationml.notesSlide+xml"/>
  <Override PartName="/ppt/tags/tag27.xml" ContentType="application/vnd.openxmlformats-officedocument.presentationml.tags+xml"/>
  <Override PartName="/ppt/notesSlides/notesSlide30.xml" ContentType="application/vnd.openxmlformats-officedocument.presentationml.notesSlide+xml"/>
  <Override PartName="/ppt/tags/tag28.xml" ContentType="application/vnd.openxmlformats-officedocument.presentationml.tags+xml"/>
  <Override PartName="/ppt/notesSlides/notesSlide31.xml" ContentType="application/vnd.openxmlformats-officedocument.presentationml.notesSlide+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tags/tag31.xml" ContentType="application/vnd.openxmlformats-officedocument.presentationml.tags+xml"/>
  <Override PartName="/ppt/notesSlides/notesSlide34.xml" ContentType="application/vnd.openxmlformats-officedocument.presentationml.notesSlide+xml"/>
  <Override PartName="/ppt/tags/tag32.xml" ContentType="application/vnd.openxmlformats-officedocument.presentationml.tags+xml"/>
  <Override PartName="/ppt/notesSlides/notesSlide35.xml" ContentType="application/vnd.openxmlformats-officedocument.presentationml.notesSlide+xml"/>
  <Override PartName="/ppt/tags/tag33.xml" ContentType="application/vnd.openxmlformats-officedocument.presentationml.tags+xml"/>
  <Override PartName="/ppt/notesSlides/notesSlide36.xml" ContentType="application/vnd.openxmlformats-officedocument.presentationml.notesSlide+xml"/>
  <Override PartName="/ppt/tags/tag34.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77" r:id="rId2"/>
    <p:sldId id="369" r:id="rId3"/>
    <p:sldId id="370" r:id="rId4"/>
    <p:sldId id="4539" r:id="rId5"/>
    <p:sldId id="4506" r:id="rId6"/>
    <p:sldId id="4535" r:id="rId7"/>
    <p:sldId id="921" r:id="rId8"/>
    <p:sldId id="4445" r:id="rId9"/>
    <p:sldId id="946" r:id="rId10"/>
    <p:sldId id="4442" r:id="rId11"/>
    <p:sldId id="4441" r:id="rId12"/>
    <p:sldId id="4492" r:id="rId13"/>
    <p:sldId id="4502" r:id="rId14"/>
    <p:sldId id="4503" r:id="rId15"/>
    <p:sldId id="913" r:id="rId16"/>
    <p:sldId id="4493" r:id="rId17"/>
    <p:sldId id="4509" r:id="rId18"/>
    <p:sldId id="4510" r:id="rId19"/>
    <p:sldId id="4446" r:id="rId20"/>
    <p:sldId id="4534" r:id="rId21"/>
    <p:sldId id="4447" r:id="rId22"/>
    <p:sldId id="4495" r:id="rId23"/>
    <p:sldId id="4462" r:id="rId24"/>
    <p:sldId id="4542" r:id="rId25"/>
    <p:sldId id="4490" r:id="rId26"/>
    <p:sldId id="4496" r:id="rId27"/>
    <p:sldId id="885" r:id="rId28"/>
    <p:sldId id="649" r:id="rId29"/>
    <p:sldId id="4543" r:id="rId30"/>
    <p:sldId id="4497" r:id="rId31"/>
    <p:sldId id="898" r:id="rId32"/>
    <p:sldId id="4541" r:id="rId33"/>
    <p:sldId id="899" r:id="rId34"/>
    <p:sldId id="900" r:id="rId35"/>
    <p:sldId id="901" r:id="rId36"/>
    <p:sldId id="904" r:id="rId37"/>
    <p:sldId id="4511" r:id="rId38"/>
    <p:sldId id="4536" r:id="rId39"/>
    <p:sldId id="4537" r:id="rId40"/>
    <p:sldId id="4538" r:id="rId41"/>
    <p:sldId id="4533" r:id="rId42"/>
  </p:sldIdLst>
  <p:sldSz cx="12192000" cy="6858000"/>
  <p:notesSz cx="7104063" cy="10234613"/>
  <p:defaultTextStyle>
    <a:defPPr>
      <a:defRPr kumimoji="1" lang="ja-JP"/>
    </a:defPPr>
    <a:lvl1pPr marL="0" algn="l" defTabSz="914400" rtl="0" eaLnBrk="1" latinLnBrk="0" hangingPunct="1">
      <a:defRPr kumimoji="1" lang="ja-JP" sz="1800" kern="1200">
        <a:solidFill>
          <a:schemeClr val="tx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CB6BBEF7-9717-4733-A929-535518E6EBF6}">
          <p14:sldIdLst>
            <p14:sldId id="277"/>
            <p14:sldId id="369"/>
            <p14:sldId id="370"/>
          </p14:sldIdLst>
        </p14:section>
        <p14:section name="タイトルなしのセクション" id="{DAEEE08E-E74A-49D1-8EDB-0EC47F44F318}">
          <p14:sldIdLst>
            <p14:sldId id="4539"/>
            <p14:sldId id="4506"/>
            <p14:sldId id="4535"/>
            <p14:sldId id="921"/>
            <p14:sldId id="4445"/>
            <p14:sldId id="946"/>
            <p14:sldId id="4442"/>
            <p14:sldId id="4441"/>
            <p14:sldId id="4492"/>
            <p14:sldId id="4502"/>
            <p14:sldId id="4503"/>
            <p14:sldId id="913"/>
            <p14:sldId id="4493"/>
            <p14:sldId id="4509"/>
            <p14:sldId id="4510"/>
            <p14:sldId id="4446"/>
            <p14:sldId id="4534"/>
            <p14:sldId id="4447"/>
            <p14:sldId id="4495"/>
            <p14:sldId id="4462"/>
            <p14:sldId id="4542"/>
            <p14:sldId id="4490"/>
            <p14:sldId id="4496"/>
            <p14:sldId id="885"/>
            <p14:sldId id="649"/>
            <p14:sldId id="4543"/>
            <p14:sldId id="4497"/>
            <p14:sldId id="898"/>
            <p14:sldId id="4541"/>
            <p14:sldId id="899"/>
            <p14:sldId id="900"/>
            <p14:sldId id="901"/>
            <p14:sldId id="904"/>
            <p14:sldId id="4511"/>
            <p14:sldId id="4536"/>
            <p14:sldId id="4537"/>
            <p14:sldId id="4538"/>
            <p14:sldId id="453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00000"/>
    <a:srgbClr val="6600CC"/>
    <a:srgbClr val="CCFFCC"/>
    <a:srgbClr val="FDE7D5"/>
    <a:srgbClr val="333399"/>
    <a:srgbClr val="FFFFFF"/>
    <a:srgbClr val="CCECFF"/>
    <a:srgbClr val="FEE6C6"/>
    <a:srgbClr val="FEDD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96" autoAdjust="0"/>
    <p:restoredTop sz="95026" autoAdjust="0"/>
  </p:normalViewPr>
  <p:slideViewPr>
    <p:cSldViewPr>
      <p:cViewPr varScale="1">
        <p:scale>
          <a:sx n="77" d="100"/>
          <a:sy n="77" d="100"/>
        </p:scale>
        <p:origin x="132" y="342"/>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1" d="1"/>
        <a:sy n="1" d="1"/>
      </p:scale>
      <p:origin x="0" y="0"/>
    </p:cViewPr>
  </p:notesTextViewPr>
  <p:sorterViewPr>
    <p:cViewPr varScale="1">
      <p:scale>
        <a:sx n="100" d="100"/>
        <a:sy n="100" d="100"/>
      </p:scale>
      <p:origin x="0" y="-4162"/>
    </p:cViewPr>
  </p:sorterViewPr>
  <p:notesViewPr>
    <p:cSldViewPr>
      <p:cViewPr>
        <p:scale>
          <a:sx n="75" d="100"/>
          <a:sy n="75" d="100"/>
        </p:scale>
        <p:origin x="-1968" y="72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22.xml"/><Relationship Id="rId3" Type="http://schemas.openxmlformats.org/officeDocument/2006/relationships/slide" Target="slides/slide3.xml"/><Relationship Id="rId7" Type="http://schemas.openxmlformats.org/officeDocument/2006/relationships/slide" Target="slides/slide16.xml"/><Relationship Id="rId12" Type="http://schemas.openxmlformats.org/officeDocument/2006/relationships/slide" Target="slides/slide41.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15.xml"/><Relationship Id="rId11" Type="http://schemas.openxmlformats.org/officeDocument/2006/relationships/slide" Target="slides/slide38.xml"/><Relationship Id="rId5" Type="http://schemas.openxmlformats.org/officeDocument/2006/relationships/slide" Target="slides/slide12.xml"/><Relationship Id="rId10" Type="http://schemas.openxmlformats.org/officeDocument/2006/relationships/slide" Target="slides/slide30.xml"/><Relationship Id="rId4" Type="http://schemas.openxmlformats.org/officeDocument/2006/relationships/slide" Target="slides/slide7.xml"/><Relationship Id="rId9"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3078924" cy="511649"/>
          </a:xfrm>
          <a:prstGeom prst="rect">
            <a:avLst/>
          </a:prstGeom>
        </p:spPr>
        <p:txBody>
          <a:bodyPr vert="horz" lIns="94669" tIns="47335" rIns="94669" bIns="47335"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4023482" y="0"/>
            <a:ext cx="3078924" cy="511649"/>
          </a:xfrm>
          <a:prstGeom prst="rect">
            <a:avLst/>
          </a:prstGeom>
        </p:spPr>
        <p:txBody>
          <a:bodyPr vert="horz" lIns="94669" tIns="47335" rIns="94669" bIns="47335" rtlCol="0"/>
          <a:lstStyle>
            <a:lvl1pPr algn="r">
              <a:defRPr sz="1200"/>
            </a:lvl1pPr>
          </a:lstStyle>
          <a:p>
            <a:fld id="{0220A4B1-6D73-4E92-A2F9-7B11B307AFF0}" type="datetimeFigureOut">
              <a:rPr kumimoji="1" lang="ja-JP" altLang="en-US" smtClean="0"/>
              <a:t>2026/1/27</a:t>
            </a:fld>
            <a:endParaRPr kumimoji="1" lang="ja-JP" altLang="en-US"/>
          </a:p>
        </p:txBody>
      </p:sp>
      <p:sp>
        <p:nvSpPr>
          <p:cNvPr id="4" name="フッター プレースホルダー 3"/>
          <p:cNvSpPr>
            <a:spLocks noGrp="1"/>
          </p:cNvSpPr>
          <p:nvPr>
            <p:ph type="ftr" sz="quarter" idx="2"/>
          </p:nvPr>
        </p:nvSpPr>
        <p:spPr>
          <a:xfrm>
            <a:off x="1" y="9721330"/>
            <a:ext cx="3078924" cy="511648"/>
          </a:xfrm>
          <a:prstGeom prst="rect">
            <a:avLst/>
          </a:prstGeom>
        </p:spPr>
        <p:txBody>
          <a:bodyPr vert="horz" lIns="94669" tIns="47335" rIns="94669" bIns="47335"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4023482" y="9721330"/>
            <a:ext cx="3078924" cy="511648"/>
          </a:xfrm>
          <a:prstGeom prst="rect">
            <a:avLst/>
          </a:prstGeom>
        </p:spPr>
        <p:txBody>
          <a:bodyPr vert="horz" lIns="94669" tIns="47335" rIns="94669" bIns="47335" rtlCol="0" anchor="b"/>
          <a:lstStyle>
            <a:lvl1pPr algn="r">
              <a:defRPr sz="1200"/>
            </a:lvl1pPr>
          </a:lstStyle>
          <a:p>
            <a:fld id="{D4381593-4517-4F6D-9CE2-9EFA26A9DC5E}" type="slidenum">
              <a:rPr kumimoji="1" lang="ja-JP" altLang="en-US" smtClean="0"/>
              <a:t>‹#›</a:t>
            </a:fld>
            <a:endParaRPr kumimoji="1" lang="ja-JP" altLang="en-US"/>
          </a:p>
        </p:txBody>
      </p:sp>
    </p:spTree>
    <p:extLst>
      <p:ext uri="{BB962C8B-B14F-4D97-AF65-F5344CB8AC3E}">
        <p14:creationId xmlns:p14="http://schemas.microsoft.com/office/powerpoint/2010/main" val="13870190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8427" cy="511731"/>
          </a:xfrm>
          <a:prstGeom prst="rect">
            <a:avLst/>
          </a:prstGeom>
        </p:spPr>
        <p:txBody>
          <a:bodyPr vert="horz" lIns="94669" tIns="47335" rIns="94669" bIns="47335" rtlCol="0"/>
          <a:lstStyle>
            <a:lvl1pPr algn="l" latinLnBrk="0">
              <a:defRPr kumimoji="1" lang="ja-JP" sz="1200"/>
            </a:lvl1pPr>
          </a:lstStyle>
          <a:p>
            <a:endParaRPr kumimoji="1" lang="ja-JP"/>
          </a:p>
        </p:txBody>
      </p:sp>
      <p:sp>
        <p:nvSpPr>
          <p:cNvPr id="3" name="Date Placeholder 2"/>
          <p:cNvSpPr>
            <a:spLocks noGrp="1"/>
          </p:cNvSpPr>
          <p:nvPr>
            <p:ph type="dt" idx="1"/>
          </p:nvPr>
        </p:nvSpPr>
        <p:spPr>
          <a:xfrm>
            <a:off x="4023993" y="1"/>
            <a:ext cx="3078427" cy="511731"/>
          </a:xfrm>
          <a:prstGeom prst="rect">
            <a:avLst/>
          </a:prstGeom>
        </p:spPr>
        <p:txBody>
          <a:bodyPr vert="horz" lIns="94669" tIns="47335" rIns="94669" bIns="47335" rtlCol="0"/>
          <a:lstStyle>
            <a:lvl1pPr algn="r" latinLnBrk="0">
              <a:defRPr kumimoji="1" lang="ja-JP" sz="1200"/>
            </a:lvl1pPr>
          </a:lstStyle>
          <a:p>
            <a:fld id="{00F830A1-3891-4B82-A120-081866556DA0}" type="datetimeFigureOut">
              <a:pPr/>
              <a:t>2026/1/27</a:t>
            </a:fld>
            <a:endParaRPr kumimoji="1" lang="ja-JP"/>
          </a:p>
        </p:txBody>
      </p:sp>
      <p:sp>
        <p:nvSpPr>
          <p:cNvPr id="4" name="Slide Image Placeholder 3"/>
          <p:cNvSpPr>
            <a:spLocks noGrp="1" noRot="1" noChangeAspect="1"/>
          </p:cNvSpPr>
          <p:nvPr>
            <p:ph type="sldImg" idx="2"/>
          </p:nvPr>
        </p:nvSpPr>
        <p:spPr>
          <a:xfrm>
            <a:off x="142875" y="768350"/>
            <a:ext cx="6819900" cy="3836988"/>
          </a:xfrm>
          <a:prstGeom prst="rect">
            <a:avLst/>
          </a:prstGeom>
          <a:noFill/>
          <a:ln w="12700">
            <a:solidFill>
              <a:prstClr val="black"/>
            </a:solidFill>
          </a:ln>
        </p:spPr>
        <p:txBody>
          <a:bodyPr vert="horz" lIns="94669" tIns="47335" rIns="94669" bIns="47335" rtlCol="0" anchor="ctr"/>
          <a:lstStyle/>
          <a:p>
            <a:endParaRPr kumimoji="1" lang="ja-JP"/>
          </a:p>
        </p:txBody>
      </p:sp>
      <p:sp>
        <p:nvSpPr>
          <p:cNvPr id="5" name="Notes Placeholder 4"/>
          <p:cNvSpPr>
            <a:spLocks noGrp="1"/>
          </p:cNvSpPr>
          <p:nvPr>
            <p:ph type="body" sz="quarter" idx="3"/>
          </p:nvPr>
        </p:nvSpPr>
        <p:spPr>
          <a:xfrm>
            <a:off x="710408" y="4861442"/>
            <a:ext cx="5683250" cy="4605576"/>
          </a:xfrm>
          <a:prstGeom prst="rect">
            <a:avLst/>
          </a:prstGeom>
        </p:spPr>
        <p:txBody>
          <a:bodyPr vert="horz" lIns="94669" tIns="47335" rIns="94669" bIns="47335" rtlCol="0"/>
          <a:lstStyle/>
          <a:p>
            <a:pPr lvl="0"/>
            <a:r>
              <a:rPr kumimoji="1" lang="ja-JP"/>
              <a:t>マスター テキストの書式設定</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6" name="Footer Placeholder 5"/>
          <p:cNvSpPr>
            <a:spLocks noGrp="1"/>
          </p:cNvSpPr>
          <p:nvPr>
            <p:ph type="ftr" sz="quarter" idx="4"/>
          </p:nvPr>
        </p:nvSpPr>
        <p:spPr>
          <a:xfrm>
            <a:off x="2" y="9721107"/>
            <a:ext cx="3078427" cy="511731"/>
          </a:xfrm>
          <a:prstGeom prst="rect">
            <a:avLst/>
          </a:prstGeom>
        </p:spPr>
        <p:txBody>
          <a:bodyPr vert="horz" lIns="94669" tIns="47335" rIns="94669" bIns="47335" rtlCol="0" anchor="b"/>
          <a:lstStyle>
            <a:lvl1pPr algn="l" latinLnBrk="0">
              <a:defRPr kumimoji="1" lang="ja-JP" sz="1200"/>
            </a:lvl1pPr>
          </a:lstStyle>
          <a:p>
            <a:endParaRPr kumimoji="1" lang="ja-JP"/>
          </a:p>
        </p:txBody>
      </p:sp>
      <p:sp>
        <p:nvSpPr>
          <p:cNvPr id="7" name="Slide Number Placeholder 6"/>
          <p:cNvSpPr>
            <a:spLocks noGrp="1"/>
          </p:cNvSpPr>
          <p:nvPr>
            <p:ph type="sldNum" sz="quarter" idx="5"/>
          </p:nvPr>
        </p:nvSpPr>
        <p:spPr>
          <a:xfrm>
            <a:off x="4023993" y="9721107"/>
            <a:ext cx="3078427" cy="511731"/>
          </a:xfrm>
          <a:prstGeom prst="rect">
            <a:avLst/>
          </a:prstGeom>
        </p:spPr>
        <p:txBody>
          <a:bodyPr vert="horz" lIns="94669" tIns="47335" rIns="94669" bIns="47335" rtlCol="0" anchor="b"/>
          <a:lstStyle>
            <a:lvl1pPr algn="r" latinLnBrk="0">
              <a:defRPr kumimoji="1" lang="ja-JP" sz="1200"/>
            </a:lvl1pPr>
          </a:lstStyle>
          <a:p>
            <a:fld id="{58CC9574-A819-4FE4-99A7-1E27AD09ADC2}" type="slidenum">
              <a:pPr/>
              <a:t>‹#›</a:t>
            </a:fld>
            <a:endParaRPr kumimoji="1" lang="ja-JP"/>
          </a:p>
        </p:txBody>
      </p:sp>
    </p:spTree>
    <p:extLst>
      <p:ext uri="{BB962C8B-B14F-4D97-AF65-F5344CB8AC3E}">
        <p14:creationId xmlns:p14="http://schemas.microsoft.com/office/powerpoint/2010/main" val="31300213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lang="ja-JP" sz="1200" kern="1200">
        <a:solidFill>
          <a:schemeClr val="tx1"/>
        </a:solidFill>
        <a:latin typeface="+mn-lt"/>
        <a:ea typeface="+mn-ea"/>
        <a:cs typeface="+mn-cs"/>
      </a:defRPr>
    </a:lvl1pPr>
    <a:lvl2pPr marL="457200" algn="l" defTabSz="914400" rtl="0" eaLnBrk="1" latinLnBrk="0" hangingPunct="1">
      <a:defRPr kumimoji="1" lang="ja-JP" sz="1200" kern="1200">
        <a:solidFill>
          <a:schemeClr val="tx1"/>
        </a:solidFill>
        <a:latin typeface="+mn-lt"/>
        <a:ea typeface="+mn-ea"/>
        <a:cs typeface="+mn-cs"/>
      </a:defRPr>
    </a:lvl2pPr>
    <a:lvl3pPr marL="914400" algn="l" defTabSz="914400" rtl="0" eaLnBrk="1" latinLnBrk="0" hangingPunct="1">
      <a:defRPr kumimoji="1" lang="ja-JP" sz="1200" kern="1200">
        <a:solidFill>
          <a:schemeClr val="tx1"/>
        </a:solidFill>
        <a:latin typeface="+mn-lt"/>
        <a:ea typeface="+mn-ea"/>
        <a:cs typeface="+mn-cs"/>
      </a:defRPr>
    </a:lvl3pPr>
    <a:lvl4pPr marL="1371600" algn="l" defTabSz="914400" rtl="0" eaLnBrk="1" latinLnBrk="0" hangingPunct="1">
      <a:defRPr kumimoji="1" lang="ja-JP" sz="1200" kern="1200">
        <a:solidFill>
          <a:schemeClr val="tx1"/>
        </a:solidFill>
        <a:latin typeface="+mn-lt"/>
        <a:ea typeface="+mn-ea"/>
        <a:cs typeface="+mn-cs"/>
      </a:defRPr>
    </a:lvl4pPr>
    <a:lvl5pPr marL="1828800" algn="l" defTabSz="914400" rtl="0" eaLnBrk="1" latinLnBrk="0" hangingPunct="1">
      <a:defRPr kumimoji="1" lang="ja-JP" sz="1200" kern="1200">
        <a:solidFill>
          <a:schemeClr val="tx1"/>
        </a:solidFill>
        <a:latin typeface="+mn-lt"/>
        <a:ea typeface="+mn-ea"/>
        <a:cs typeface="+mn-cs"/>
      </a:defRPr>
    </a:lvl5pPr>
    <a:lvl6pPr marL="2286000" algn="l" defTabSz="914400" rtl="0" eaLnBrk="1" latinLnBrk="0" hangingPunct="1">
      <a:defRPr kumimoji="1" lang="ja-JP" sz="1200" kern="1200">
        <a:solidFill>
          <a:schemeClr val="tx1"/>
        </a:solidFill>
        <a:latin typeface="+mn-lt"/>
        <a:ea typeface="+mn-ea"/>
        <a:cs typeface="+mn-cs"/>
      </a:defRPr>
    </a:lvl6pPr>
    <a:lvl7pPr marL="2743200" algn="l" defTabSz="914400" rtl="0" eaLnBrk="1" latinLnBrk="0" hangingPunct="1">
      <a:defRPr kumimoji="1" lang="ja-JP" sz="1200" kern="1200">
        <a:solidFill>
          <a:schemeClr val="tx1"/>
        </a:solidFill>
        <a:latin typeface="+mn-lt"/>
        <a:ea typeface="+mn-ea"/>
        <a:cs typeface="+mn-cs"/>
      </a:defRPr>
    </a:lvl7pPr>
    <a:lvl8pPr marL="3200400" algn="l" defTabSz="914400" rtl="0" eaLnBrk="1" latinLnBrk="0" hangingPunct="1">
      <a:defRPr kumimoji="1" lang="ja-JP" sz="1200" kern="1200">
        <a:solidFill>
          <a:schemeClr val="tx1"/>
        </a:solidFill>
        <a:latin typeface="+mn-lt"/>
        <a:ea typeface="+mn-ea"/>
        <a:cs typeface="+mn-cs"/>
      </a:defRPr>
    </a:lvl8pPr>
    <a:lvl9pPr marL="3657600" algn="l" defTabSz="914400" rtl="0" eaLnBrk="1" latinLnBrk="0" hangingPunct="1">
      <a:defRPr kumimoji="1" lang="ja-JP"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lstStyle/>
          <a:p>
            <a:endParaRPr kumimoji="1" lang="ja-JP" dirty="0"/>
          </a:p>
        </p:txBody>
      </p:sp>
      <p:sp>
        <p:nvSpPr>
          <p:cNvPr id="4" name="Slide Number Placeholder 3"/>
          <p:cNvSpPr>
            <a:spLocks noGrp="1"/>
          </p:cNvSpPr>
          <p:nvPr>
            <p:ph type="sldNum" sz="quarter" idx="10"/>
          </p:nvPr>
        </p:nvSpPr>
        <p:spPr/>
        <p:txBody>
          <a:bodyPr/>
          <a:lstStyle/>
          <a:p>
            <a:fld id="{58CC9574-A819-4FE4-99A7-1E27AD09ADC2}" type="slidenum">
              <a:rPr kumimoji="1" lang="ja-JP" smtClean="0"/>
              <a:pPr/>
              <a:t>1</a:t>
            </a:fld>
            <a:endParaRPr kumimoji="1" lang="ja-JP" dirty="0"/>
          </a:p>
        </p:txBody>
      </p:sp>
    </p:spTree>
    <p:extLst>
      <p:ext uri="{BB962C8B-B14F-4D97-AF65-F5344CB8AC3E}">
        <p14:creationId xmlns:p14="http://schemas.microsoft.com/office/powerpoint/2010/main" val="225625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a:t>
            </a:fld>
            <a:endParaRPr kumimoji="1" lang="ja-JP" dirty="0"/>
          </a:p>
        </p:txBody>
      </p:sp>
    </p:spTree>
    <p:extLst>
      <p:ext uri="{BB962C8B-B14F-4D97-AF65-F5344CB8AC3E}">
        <p14:creationId xmlns:p14="http://schemas.microsoft.com/office/powerpoint/2010/main" val="2554046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a:t>
            </a:fld>
            <a:endParaRPr kumimoji="1" lang="ja-JP" dirty="0"/>
          </a:p>
        </p:txBody>
      </p:sp>
    </p:spTree>
    <p:extLst>
      <p:ext uri="{BB962C8B-B14F-4D97-AF65-F5344CB8AC3E}">
        <p14:creationId xmlns:p14="http://schemas.microsoft.com/office/powerpoint/2010/main" val="2762949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8CC9574-A819-4FE4-99A7-1E27AD09ADC2}" type="slidenum">
              <a:rPr lang="en-US" altLang="ja-JP" smtClean="0"/>
              <a:pPr/>
              <a:t>6</a:t>
            </a:fld>
            <a:endParaRPr kumimoji="1" lang="ja-JP" altLang="en-US"/>
          </a:p>
        </p:txBody>
      </p:sp>
    </p:spTree>
    <p:extLst>
      <p:ext uri="{BB962C8B-B14F-4D97-AF65-F5344CB8AC3E}">
        <p14:creationId xmlns:p14="http://schemas.microsoft.com/office/powerpoint/2010/main" val="96443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7</a:t>
            </a:fld>
            <a:endParaRPr kumimoji="1" lang="ja-JP" dirty="0"/>
          </a:p>
        </p:txBody>
      </p:sp>
    </p:spTree>
    <p:extLst>
      <p:ext uri="{BB962C8B-B14F-4D97-AF65-F5344CB8AC3E}">
        <p14:creationId xmlns:p14="http://schemas.microsoft.com/office/powerpoint/2010/main" val="2792954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8</a:t>
            </a:fld>
            <a:endParaRPr kumimoji="1" lang="ja-JP" dirty="0"/>
          </a:p>
        </p:txBody>
      </p:sp>
    </p:spTree>
    <p:extLst>
      <p:ext uri="{BB962C8B-B14F-4D97-AF65-F5344CB8AC3E}">
        <p14:creationId xmlns:p14="http://schemas.microsoft.com/office/powerpoint/2010/main" val="3694428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9</a:t>
            </a:fld>
            <a:endParaRPr kumimoji="1" lang="ja-JP" dirty="0"/>
          </a:p>
        </p:txBody>
      </p:sp>
    </p:spTree>
    <p:extLst>
      <p:ext uri="{BB962C8B-B14F-4D97-AF65-F5344CB8AC3E}">
        <p14:creationId xmlns:p14="http://schemas.microsoft.com/office/powerpoint/2010/main" val="2753569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10</a:t>
            </a:fld>
            <a:endParaRPr kumimoji="1" lang="ja-JP" dirty="0"/>
          </a:p>
        </p:txBody>
      </p:sp>
    </p:spTree>
    <p:extLst>
      <p:ext uri="{BB962C8B-B14F-4D97-AF65-F5344CB8AC3E}">
        <p14:creationId xmlns:p14="http://schemas.microsoft.com/office/powerpoint/2010/main" val="2480570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11</a:t>
            </a:fld>
            <a:endParaRPr kumimoji="1" lang="ja-JP" dirty="0"/>
          </a:p>
        </p:txBody>
      </p:sp>
    </p:spTree>
    <p:extLst>
      <p:ext uri="{BB962C8B-B14F-4D97-AF65-F5344CB8AC3E}">
        <p14:creationId xmlns:p14="http://schemas.microsoft.com/office/powerpoint/2010/main" val="526996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12</a:t>
            </a:fld>
            <a:endParaRPr kumimoji="1" lang="ja-JP" dirty="0"/>
          </a:p>
        </p:txBody>
      </p:sp>
    </p:spTree>
    <p:extLst>
      <p:ext uri="{BB962C8B-B14F-4D97-AF65-F5344CB8AC3E}">
        <p14:creationId xmlns:p14="http://schemas.microsoft.com/office/powerpoint/2010/main" val="1603062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13</a:t>
            </a:fld>
            <a:endParaRPr kumimoji="1" lang="ja-JP" dirty="0"/>
          </a:p>
        </p:txBody>
      </p:sp>
    </p:spTree>
    <p:extLst>
      <p:ext uri="{BB962C8B-B14F-4D97-AF65-F5344CB8AC3E}">
        <p14:creationId xmlns:p14="http://schemas.microsoft.com/office/powerpoint/2010/main" val="4061728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8CC9574-A819-4FE4-99A7-1E27AD09ADC2}" type="slidenum">
              <a:rPr lang="en-US" altLang="ja-JP" smtClean="0"/>
              <a:pPr/>
              <a:t>14</a:t>
            </a:fld>
            <a:endParaRPr kumimoji="1" lang="ja-JP" altLang="en-US"/>
          </a:p>
        </p:txBody>
      </p:sp>
    </p:spTree>
    <p:extLst>
      <p:ext uri="{BB962C8B-B14F-4D97-AF65-F5344CB8AC3E}">
        <p14:creationId xmlns:p14="http://schemas.microsoft.com/office/powerpoint/2010/main" val="3243304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15</a:t>
            </a:fld>
            <a:endParaRPr kumimoji="1" lang="ja-JP" dirty="0"/>
          </a:p>
        </p:txBody>
      </p:sp>
    </p:spTree>
    <p:extLst>
      <p:ext uri="{BB962C8B-B14F-4D97-AF65-F5344CB8AC3E}">
        <p14:creationId xmlns:p14="http://schemas.microsoft.com/office/powerpoint/2010/main" val="2410030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16</a:t>
            </a:fld>
            <a:endParaRPr kumimoji="1" lang="ja-JP" dirty="0"/>
          </a:p>
        </p:txBody>
      </p:sp>
    </p:spTree>
    <p:extLst>
      <p:ext uri="{BB962C8B-B14F-4D97-AF65-F5344CB8AC3E}">
        <p14:creationId xmlns:p14="http://schemas.microsoft.com/office/powerpoint/2010/main" val="750381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17</a:t>
            </a:fld>
            <a:endParaRPr kumimoji="1" lang="ja-JP" dirty="0"/>
          </a:p>
        </p:txBody>
      </p:sp>
    </p:spTree>
    <p:extLst>
      <p:ext uri="{BB962C8B-B14F-4D97-AF65-F5344CB8AC3E}">
        <p14:creationId xmlns:p14="http://schemas.microsoft.com/office/powerpoint/2010/main" val="2811800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18</a:t>
            </a:fld>
            <a:endParaRPr kumimoji="1" lang="ja-JP" dirty="0"/>
          </a:p>
        </p:txBody>
      </p:sp>
    </p:spTree>
    <p:extLst>
      <p:ext uri="{BB962C8B-B14F-4D97-AF65-F5344CB8AC3E}">
        <p14:creationId xmlns:p14="http://schemas.microsoft.com/office/powerpoint/2010/main" val="3817350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19</a:t>
            </a:fld>
            <a:endParaRPr kumimoji="1" lang="ja-JP" dirty="0"/>
          </a:p>
        </p:txBody>
      </p:sp>
    </p:spTree>
    <p:extLst>
      <p:ext uri="{BB962C8B-B14F-4D97-AF65-F5344CB8AC3E}">
        <p14:creationId xmlns:p14="http://schemas.microsoft.com/office/powerpoint/2010/main" val="2501118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B1182-ABCC-A1D6-7DE7-9A8F8014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67F9D-8F45-400E-025C-52ACC34E5ECB}"/>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F9A72D1D-CBA8-4C97-D12D-7278BDEBD78D}"/>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FF10E4EA-6767-01E2-9CCB-3201720D157F}"/>
              </a:ext>
            </a:extLst>
          </p:cNvPr>
          <p:cNvSpPr>
            <a:spLocks noGrp="1"/>
          </p:cNvSpPr>
          <p:nvPr>
            <p:ph type="sldNum" sz="quarter" idx="10"/>
          </p:nvPr>
        </p:nvSpPr>
        <p:spPr/>
        <p:txBody>
          <a:bodyPr/>
          <a:lstStyle/>
          <a:p>
            <a:fld id="{2B891980-0BF3-461C-95D4-87E094E9751C}" type="slidenum">
              <a:rPr kumimoji="1" lang="en-US" altLang="ja-JP" smtClean="0"/>
              <a:pPr/>
              <a:t>20</a:t>
            </a:fld>
            <a:endParaRPr kumimoji="1" lang="ja-JP" dirty="0"/>
          </a:p>
        </p:txBody>
      </p:sp>
    </p:spTree>
    <p:extLst>
      <p:ext uri="{BB962C8B-B14F-4D97-AF65-F5344CB8AC3E}">
        <p14:creationId xmlns:p14="http://schemas.microsoft.com/office/powerpoint/2010/main" val="3047931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21</a:t>
            </a:fld>
            <a:endParaRPr kumimoji="1" lang="ja-JP" dirty="0"/>
          </a:p>
        </p:txBody>
      </p:sp>
    </p:spTree>
    <p:extLst>
      <p:ext uri="{BB962C8B-B14F-4D97-AF65-F5344CB8AC3E}">
        <p14:creationId xmlns:p14="http://schemas.microsoft.com/office/powerpoint/2010/main" val="1340161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22</a:t>
            </a:fld>
            <a:endParaRPr kumimoji="1" lang="ja-JP" dirty="0"/>
          </a:p>
        </p:txBody>
      </p:sp>
    </p:spTree>
    <p:extLst>
      <p:ext uri="{BB962C8B-B14F-4D97-AF65-F5344CB8AC3E}">
        <p14:creationId xmlns:p14="http://schemas.microsoft.com/office/powerpoint/2010/main" val="221622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23</a:t>
            </a:fld>
            <a:endParaRPr kumimoji="1" lang="ja-JP" dirty="0"/>
          </a:p>
        </p:txBody>
      </p:sp>
    </p:spTree>
    <p:extLst>
      <p:ext uri="{BB962C8B-B14F-4D97-AF65-F5344CB8AC3E}">
        <p14:creationId xmlns:p14="http://schemas.microsoft.com/office/powerpoint/2010/main" val="1776104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5DBC6-49D9-60A0-2D7A-228F36B34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B50AA-D5B9-B1A4-691B-267F220669E9}"/>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096729D3-8385-766D-211A-E4CC02401796}"/>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425F14E2-DD63-D7FC-FAD0-44CF68295EC2}"/>
              </a:ext>
            </a:extLst>
          </p:cNvPr>
          <p:cNvSpPr>
            <a:spLocks noGrp="1"/>
          </p:cNvSpPr>
          <p:nvPr>
            <p:ph type="sldNum" sz="quarter" idx="10"/>
          </p:nvPr>
        </p:nvSpPr>
        <p:spPr/>
        <p:txBody>
          <a:bodyPr/>
          <a:lstStyle/>
          <a:p>
            <a:fld id="{2B891980-0BF3-461C-95D4-87E094E9751C}" type="slidenum">
              <a:rPr kumimoji="1" lang="en-US" altLang="ja-JP" smtClean="0"/>
              <a:pPr/>
              <a:t>24</a:t>
            </a:fld>
            <a:endParaRPr kumimoji="1" lang="ja-JP" dirty="0"/>
          </a:p>
        </p:txBody>
      </p:sp>
    </p:spTree>
    <p:extLst>
      <p:ext uri="{BB962C8B-B14F-4D97-AF65-F5344CB8AC3E}">
        <p14:creationId xmlns:p14="http://schemas.microsoft.com/office/powerpoint/2010/main" val="3624862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25</a:t>
            </a:fld>
            <a:endParaRPr kumimoji="1" lang="ja-JP" dirty="0"/>
          </a:p>
        </p:txBody>
      </p:sp>
    </p:spTree>
    <p:extLst>
      <p:ext uri="{BB962C8B-B14F-4D97-AF65-F5344CB8AC3E}">
        <p14:creationId xmlns:p14="http://schemas.microsoft.com/office/powerpoint/2010/main" val="2900798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26</a:t>
            </a:fld>
            <a:endParaRPr kumimoji="1" lang="ja-JP" dirty="0"/>
          </a:p>
        </p:txBody>
      </p:sp>
    </p:spTree>
    <p:extLst>
      <p:ext uri="{BB962C8B-B14F-4D97-AF65-F5344CB8AC3E}">
        <p14:creationId xmlns:p14="http://schemas.microsoft.com/office/powerpoint/2010/main" val="2307538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27</a:t>
            </a:fld>
            <a:endParaRPr kumimoji="1" lang="ja-JP" dirty="0"/>
          </a:p>
        </p:txBody>
      </p:sp>
    </p:spTree>
    <p:extLst>
      <p:ext uri="{BB962C8B-B14F-4D97-AF65-F5344CB8AC3E}">
        <p14:creationId xmlns:p14="http://schemas.microsoft.com/office/powerpoint/2010/main" val="2103258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28</a:t>
            </a:fld>
            <a:endParaRPr kumimoji="1" lang="ja-JP" dirty="0"/>
          </a:p>
        </p:txBody>
      </p:sp>
    </p:spTree>
    <p:extLst>
      <p:ext uri="{BB962C8B-B14F-4D97-AF65-F5344CB8AC3E}">
        <p14:creationId xmlns:p14="http://schemas.microsoft.com/office/powerpoint/2010/main" val="31716615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7091-3C9B-4D51-FEA8-A61508426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9A3BA-4DB9-1322-5201-2352521373AB}"/>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89564864-14A3-8A58-E3A7-C588FB6D08D7}"/>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1D3D3DA9-1737-5AAB-B40B-9DFE810335CD}"/>
              </a:ext>
            </a:extLst>
          </p:cNvPr>
          <p:cNvSpPr>
            <a:spLocks noGrp="1"/>
          </p:cNvSpPr>
          <p:nvPr>
            <p:ph type="sldNum" sz="quarter" idx="10"/>
          </p:nvPr>
        </p:nvSpPr>
        <p:spPr/>
        <p:txBody>
          <a:bodyPr/>
          <a:lstStyle/>
          <a:p>
            <a:fld id="{2B891980-0BF3-461C-95D4-87E094E9751C}" type="slidenum">
              <a:rPr kumimoji="1" lang="en-US" altLang="ja-JP" smtClean="0"/>
              <a:pPr/>
              <a:t>29</a:t>
            </a:fld>
            <a:endParaRPr kumimoji="1" lang="ja-JP" dirty="0"/>
          </a:p>
        </p:txBody>
      </p:sp>
    </p:spTree>
    <p:extLst>
      <p:ext uri="{BB962C8B-B14F-4D97-AF65-F5344CB8AC3E}">
        <p14:creationId xmlns:p14="http://schemas.microsoft.com/office/powerpoint/2010/main" val="17846443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30</a:t>
            </a:fld>
            <a:endParaRPr kumimoji="1" lang="ja-JP" dirty="0"/>
          </a:p>
        </p:txBody>
      </p:sp>
    </p:spTree>
    <p:extLst>
      <p:ext uri="{BB962C8B-B14F-4D97-AF65-F5344CB8AC3E}">
        <p14:creationId xmlns:p14="http://schemas.microsoft.com/office/powerpoint/2010/main" val="33757340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33</a:t>
            </a:fld>
            <a:endParaRPr kumimoji="1" lang="ja-JP" dirty="0"/>
          </a:p>
        </p:txBody>
      </p:sp>
    </p:spTree>
    <p:extLst>
      <p:ext uri="{BB962C8B-B14F-4D97-AF65-F5344CB8AC3E}">
        <p14:creationId xmlns:p14="http://schemas.microsoft.com/office/powerpoint/2010/main" val="1962422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34</a:t>
            </a:fld>
            <a:endParaRPr kumimoji="1" lang="ja-JP" dirty="0"/>
          </a:p>
        </p:txBody>
      </p:sp>
    </p:spTree>
    <p:extLst>
      <p:ext uri="{BB962C8B-B14F-4D97-AF65-F5344CB8AC3E}">
        <p14:creationId xmlns:p14="http://schemas.microsoft.com/office/powerpoint/2010/main" val="21467859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35</a:t>
            </a:fld>
            <a:endParaRPr kumimoji="1" lang="ja-JP" dirty="0"/>
          </a:p>
        </p:txBody>
      </p:sp>
    </p:spTree>
    <p:extLst>
      <p:ext uri="{BB962C8B-B14F-4D97-AF65-F5344CB8AC3E}">
        <p14:creationId xmlns:p14="http://schemas.microsoft.com/office/powerpoint/2010/main" val="2953411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36</a:t>
            </a:fld>
            <a:endParaRPr kumimoji="1" lang="ja-JP" dirty="0"/>
          </a:p>
        </p:txBody>
      </p:sp>
    </p:spTree>
    <p:extLst>
      <p:ext uri="{BB962C8B-B14F-4D97-AF65-F5344CB8AC3E}">
        <p14:creationId xmlns:p14="http://schemas.microsoft.com/office/powerpoint/2010/main" val="42338667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normAutofit/>
          </a:bodyPr>
          <a:lstStyle/>
          <a:p>
            <a:endParaRPr kumimoji="1" lang="ja-JP" dirty="0"/>
          </a:p>
        </p:txBody>
      </p:sp>
      <p:sp>
        <p:nvSpPr>
          <p:cNvPr id="4" name="Slide Number Placeholder 3"/>
          <p:cNvSpPr>
            <a:spLocks noGrp="1"/>
          </p:cNvSpPr>
          <p:nvPr>
            <p:ph type="sldNum" sz="quarter" idx="10"/>
          </p:nvPr>
        </p:nvSpPr>
        <p:spPr/>
        <p:txBody>
          <a:bodyPr/>
          <a:lstStyle/>
          <a:p>
            <a:fld id="{2B891980-0BF3-461C-95D4-87E094E9751C}" type="slidenum">
              <a:rPr kumimoji="1" lang="en-US" altLang="ja-JP" smtClean="0"/>
              <a:pPr/>
              <a:t>37</a:t>
            </a:fld>
            <a:endParaRPr kumimoji="1" lang="ja-JP" dirty="0"/>
          </a:p>
        </p:txBody>
      </p:sp>
    </p:spTree>
    <p:extLst>
      <p:ext uri="{BB962C8B-B14F-4D97-AF65-F5344CB8AC3E}">
        <p14:creationId xmlns:p14="http://schemas.microsoft.com/office/powerpoint/2010/main" val="32242136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244B2-B49E-6EA0-1058-6845A18DA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26793-BFA5-297A-9C32-A7645460AA18}"/>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03655DA1-6056-C884-342F-8CFCE8B3BDA1}"/>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32C80AC4-36BB-558D-848B-F50A27114F3C}"/>
              </a:ext>
            </a:extLst>
          </p:cNvPr>
          <p:cNvSpPr>
            <a:spLocks noGrp="1"/>
          </p:cNvSpPr>
          <p:nvPr>
            <p:ph type="sldNum" sz="quarter" idx="10"/>
          </p:nvPr>
        </p:nvSpPr>
        <p:spPr/>
        <p:txBody>
          <a:bodyPr/>
          <a:lstStyle/>
          <a:p>
            <a:fld id="{2B891980-0BF3-461C-95D4-87E094E9751C}" type="slidenum">
              <a:rPr kumimoji="1" lang="en-US" altLang="ja-JP" smtClean="0"/>
              <a:pPr/>
              <a:t>38</a:t>
            </a:fld>
            <a:endParaRPr kumimoji="1" lang="ja-JP" dirty="0"/>
          </a:p>
        </p:txBody>
      </p:sp>
    </p:spTree>
    <p:extLst>
      <p:ext uri="{BB962C8B-B14F-4D97-AF65-F5344CB8AC3E}">
        <p14:creationId xmlns:p14="http://schemas.microsoft.com/office/powerpoint/2010/main" val="28183850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A22E-8707-24E5-15A7-1D652CDE2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ED2F7-F879-EA97-B910-8DA42B9B4D2D}"/>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7D5C9CAC-1974-DB91-284D-8115EB859A9F}"/>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95FB44CB-C3F0-0426-5634-AF8BE06E8D56}"/>
              </a:ext>
            </a:extLst>
          </p:cNvPr>
          <p:cNvSpPr>
            <a:spLocks noGrp="1"/>
          </p:cNvSpPr>
          <p:nvPr>
            <p:ph type="sldNum" sz="quarter" idx="10"/>
          </p:nvPr>
        </p:nvSpPr>
        <p:spPr/>
        <p:txBody>
          <a:bodyPr/>
          <a:lstStyle/>
          <a:p>
            <a:fld id="{2B891980-0BF3-461C-95D4-87E094E9751C}" type="slidenum">
              <a:rPr kumimoji="1" lang="en-US" altLang="ja-JP" smtClean="0"/>
              <a:pPr/>
              <a:t>39</a:t>
            </a:fld>
            <a:endParaRPr kumimoji="1" lang="ja-JP" dirty="0"/>
          </a:p>
        </p:txBody>
      </p:sp>
    </p:spTree>
    <p:extLst>
      <p:ext uri="{BB962C8B-B14F-4D97-AF65-F5344CB8AC3E}">
        <p14:creationId xmlns:p14="http://schemas.microsoft.com/office/powerpoint/2010/main" val="37142073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2C00D-08A0-8D79-4ED4-C58504C74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DBB38-AA78-0389-9E6C-253058989EF2}"/>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64FAE5AA-0E69-5BA5-A148-B5FFA7DAAA43}"/>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B5257252-F9EF-3FB9-DAFE-9EAEBBD0379A}"/>
              </a:ext>
            </a:extLst>
          </p:cNvPr>
          <p:cNvSpPr>
            <a:spLocks noGrp="1"/>
          </p:cNvSpPr>
          <p:nvPr>
            <p:ph type="sldNum" sz="quarter" idx="10"/>
          </p:nvPr>
        </p:nvSpPr>
        <p:spPr/>
        <p:txBody>
          <a:bodyPr/>
          <a:lstStyle/>
          <a:p>
            <a:fld id="{2B891980-0BF3-461C-95D4-87E094E9751C}" type="slidenum">
              <a:rPr kumimoji="1" lang="en-US" altLang="ja-JP" smtClean="0"/>
              <a:pPr/>
              <a:t>40</a:t>
            </a:fld>
            <a:endParaRPr kumimoji="1" lang="ja-JP" dirty="0"/>
          </a:p>
        </p:txBody>
      </p:sp>
    </p:spTree>
    <p:extLst>
      <p:ext uri="{BB962C8B-B14F-4D97-AF65-F5344CB8AC3E}">
        <p14:creationId xmlns:p14="http://schemas.microsoft.com/office/powerpoint/2010/main" val="7950308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A997-3A92-BB57-D333-55530AB70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335B4-ED91-3D4D-508E-D03DDE696BD6}"/>
              </a:ext>
            </a:extLst>
          </p:cNvPr>
          <p:cNvSpPr>
            <a:spLocks noGrp="1" noRot="1" noChangeAspect="1"/>
          </p:cNvSpPr>
          <p:nvPr>
            <p:ph type="sldImg"/>
          </p:nvPr>
        </p:nvSpPr>
        <p:spPr>
          <a:xfrm>
            <a:off x="142875" y="768350"/>
            <a:ext cx="6819900" cy="3836988"/>
          </a:xfrm>
        </p:spPr>
      </p:sp>
      <p:sp>
        <p:nvSpPr>
          <p:cNvPr id="3" name="Notes Placeholder 2">
            <a:extLst>
              <a:ext uri="{FF2B5EF4-FFF2-40B4-BE49-F238E27FC236}">
                <a16:creationId xmlns:a16="http://schemas.microsoft.com/office/drawing/2014/main" id="{1DE90729-0FE6-ED5B-91A2-1D87B79B7EEA}"/>
              </a:ext>
            </a:extLst>
          </p:cNvPr>
          <p:cNvSpPr>
            <a:spLocks noGrp="1"/>
          </p:cNvSpPr>
          <p:nvPr>
            <p:ph type="body" idx="1"/>
          </p:nvPr>
        </p:nvSpPr>
        <p:spPr/>
        <p:txBody>
          <a:bodyPr>
            <a:normAutofit/>
          </a:bodyPr>
          <a:lstStyle/>
          <a:p>
            <a:endParaRPr kumimoji="1" lang="ja-JP" dirty="0"/>
          </a:p>
        </p:txBody>
      </p:sp>
      <p:sp>
        <p:nvSpPr>
          <p:cNvPr id="4" name="Slide Number Placeholder 3">
            <a:extLst>
              <a:ext uri="{FF2B5EF4-FFF2-40B4-BE49-F238E27FC236}">
                <a16:creationId xmlns:a16="http://schemas.microsoft.com/office/drawing/2014/main" id="{9752CA8C-C0D7-C8F1-6470-00002AC70A77}"/>
              </a:ext>
            </a:extLst>
          </p:cNvPr>
          <p:cNvSpPr>
            <a:spLocks noGrp="1"/>
          </p:cNvSpPr>
          <p:nvPr>
            <p:ph type="sldNum" sz="quarter" idx="10"/>
          </p:nvPr>
        </p:nvSpPr>
        <p:spPr/>
        <p:txBody>
          <a:bodyPr/>
          <a:lstStyle/>
          <a:p>
            <a:fld id="{2B891980-0BF3-461C-95D4-87E094E9751C}" type="slidenum">
              <a:rPr kumimoji="1" lang="en-US" altLang="ja-JP" smtClean="0"/>
              <a:pPr/>
              <a:t>41</a:t>
            </a:fld>
            <a:endParaRPr kumimoji="1" lang="ja-JP" dirty="0"/>
          </a:p>
        </p:txBody>
      </p:sp>
    </p:spTree>
    <p:extLst>
      <p:ext uri="{BB962C8B-B14F-4D97-AF65-F5344CB8AC3E}">
        <p14:creationId xmlns:p14="http://schemas.microsoft.com/office/powerpoint/2010/main" val="1709040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ノンブルなし">
    <p:spTree>
      <p:nvGrpSpPr>
        <p:cNvPr id="1" name=""/>
        <p:cNvGrpSpPr/>
        <p:nvPr/>
      </p:nvGrpSpPr>
      <p:grpSpPr>
        <a:xfrm>
          <a:off x="0" y="0"/>
          <a:ext cx="0" cy="0"/>
          <a:chOff x="0" y="0"/>
          <a:chExt cx="0" cy="0"/>
        </a:xfrm>
      </p:grpSpPr>
      <p:sp>
        <p:nvSpPr>
          <p:cNvPr id="13" name="Footer Placeholder 4"/>
          <p:cNvSpPr txBox="1">
            <a:spLocks/>
          </p:cNvSpPr>
          <p:nvPr userDrawn="1"/>
        </p:nvSpPr>
        <p:spPr>
          <a:xfrm>
            <a:off x="-9197" y="6492876"/>
            <a:ext cx="12201197" cy="365125"/>
          </a:xfrm>
          <a:prstGeom prst="rect">
            <a:avLst/>
          </a:prstGeom>
          <a:solidFill>
            <a:schemeClr val="bg1">
              <a:lumMod val="95000"/>
            </a:schemeClr>
          </a:solidFill>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cxnSp>
        <p:nvCxnSpPr>
          <p:cNvPr id="17" name="直線コネクタ 16"/>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41598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ノンブルあり">
    <p:spTree>
      <p:nvGrpSpPr>
        <p:cNvPr id="1" name=""/>
        <p:cNvGrpSpPr/>
        <p:nvPr/>
      </p:nvGrpSpPr>
      <p:grpSpPr>
        <a:xfrm>
          <a:off x="0" y="0"/>
          <a:ext cx="0" cy="0"/>
          <a:chOff x="0" y="0"/>
          <a:chExt cx="0" cy="0"/>
        </a:xfrm>
      </p:grpSpPr>
      <p:sp>
        <p:nvSpPr>
          <p:cNvPr id="13" name="Footer Placeholder 4"/>
          <p:cNvSpPr txBox="1">
            <a:spLocks/>
          </p:cNvSpPr>
          <p:nvPr userDrawn="1"/>
        </p:nvSpPr>
        <p:spPr>
          <a:xfrm>
            <a:off x="-9197" y="6492876"/>
            <a:ext cx="12201197" cy="365125"/>
          </a:xfrm>
          <a:prstGeom prst="rect">
            <a:avLst/>
          </a:prstGeom>
          <a:solidFill>
            <a:schemeClr val="bg1">
              <a:lumMod val="95000"/>
            </a:schemeClr>
          </a:solidFill>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cxnSp>
        <p:nvCxnSpPr>
          <p:cNvPr id="17" name="直線コネクタ 16"/>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4" name="テキスト ボックス 3">
            <a:extLst>
              <a:ext uri="{FF2B5EF4-FFF2-40B4-BE49-F238E27FC236}">
                <a16:creationId xmlns:a16="http://schemas.microsoft.com/office/drawing/2014/main" id="{7C0E1241-FF73-43E8-954B-3F3CACF2BC29}"/>
              </a:ext>
            </a:extLst>
          </p:cNvPr>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dirty="0">
              <a:solidFill>
                <a:schemeClr val="tx1">
                  <a:lumMod val="75000"/>
                  <a:lumOff val="25000"/>
                </a:schemeClr>
              </a:solidFill>
              <a:latin typeface="Myriad Pro" pitchFamily="34" charset="0"/>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標準">
    <p:spTree>
      <p:nvGrpSpPr>
        <p:cNvPr id="1" name=""/>
        <p:cNvGrpSpPr/>
        <p:nvPr/>
      </p:nvGrpSpPr>
      <p:grpSpPr>
        <a:xfrm>
          <a:off x="0" y="0"/>
          <a:ext cx="0" cy="0"/>
          <a:chOff x="0" y="0"/>
          <a:chExt cx="0" cy="0"/>
        </a:xfrm>
      </p:grpSpPr>
      <p:sp>
        <p:nvSpPr>
          <p:cNvPr id="5" name="Footer Placeholder 4"/>
          <p:cNvSpPr txBox="1">
            <a:spLocks/>
          </p:cNvSpPr>
          <p:nvPr userDrawn="1"/>
        </p:nvSpPr>
        <p:spPr>
          <a:xfrm>
            <a:off x="-9197" y="6492876"/>
            <a:ext cx="12201197" cy="365125"/>
          </a:xfrm>
          <a:prstGeom prst="rect">
            <a:avLst/>
          </a:prstGeom>
          <a:solidFill>
            <a:schemeClr val="bg1">
              <a:lumMod val="95000"/>
            </a:schemeClr>
          </a:solidFill>
          <a:ln>
            <a:noFill/>
          </a:ln>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sp>
        <p:nvSpPr>
          <p:cNvPr id="6" name="テキスト ボックス 5"/>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dirty="0">
              <a:solidFill>
                <a:schemeClr val="tx1">
                  <a:lumMod val="75000"/>
                  <a:lumOff val="25000"/>
                </a:schemeClr>
              </a:solidFill>
              <a:latin typeface="Myriad Pro" pitchFamily="34" charset="0"/>
            </a:endParaRPr>
          </a:p>
        </p:txBody>
      </p:sp>
      <p:cxnSp>
        <p:nvCxnSpPr>
          <p:cNvPr id="10" name="直線コネクタ 9"/>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7" name="テキスト ボックス 6"/>
          <p:cNvSpPr txBox="1"/>
          <p:nvPr userDrawn="1"/>
        </p:nvSpPr>
        <p:spPr>
          <a:xfrm>
            <a:off x="0" y="0"/>
            <a:ext cx="12192000" cy="620688"/>
          </a:xfrm>
          <a:prstGeom prst="rect">
            <a:avLst/>
          </a:prstGeom>
          <a:solidFill>
            <a:srgbClr val="333399"/>
          </a:solidFill>
          <a:ln>
            <a:solidFill>
              <a:srgbClr val="333399"/>
            </a:solidFill>
          </a:ln>
        </p:spPr>
        <p:txBody>
          <a:bodyPr wrap="square" tIns="72000" bIns="0" rtlCol="0" anchor="ctr">
            <a:noAutofit/>
          </a:bodyPr>
          <a:lstStyle/>
          <a:p>
            <a:pPr marL="177800"/>
            <a:endParaRPr lang="ja-JP" altLang="en-US" sz="2400" b="1" dirty="0">
              <a:solidFill>
                <a:schemeClr val="bg1"/>
              </a:solidFill>
              <a:latin typeface="メイリオ" pitchFamily="50" charset="-128"/>
              <a:ea typeface="メイリオ" pitchFamily="50" charset="-128"/>
              <a:cs typeface="メイリオ" pitchFamily="50" charset="-128"/>
            </a:endParaRPr>
          </a:p>
        </p:txBody>
      </p:sp>
    </p:spTree>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タイトル スライド">
    <p:spTree>
      <p:nvGrpSpPr>
        <p:cNvPr id="1" name=""/>
        <p:cNvGrpSpPr/>
        <p:nvPr/>
      </p:nvGrpSpPr>
      <p:grpSpPr>
        <a:xfrm>
          <a:off x="0" y="0"/>
          <a:ext cx="0" cy="0"/>
          <a:chOff x="0" y="0"/>
          <a:chExt cx="0" cy="0"/>
        </a:xfrm>
      </p:grpSpPr>
      <p:sp>
        <p:nvSpPr>
          <p:cNvPr id="13" name="Footer Placeholder 4"/>
          <p:cNvSpPr txBox="1">
            <a:spLocks/>
          </p:cNvSpPr>
          <p:nvPr userDrawn="1"/>
        </p:nvSpPr>
        <p:spPr>
          <a:xfrm>
            <a:off x="-9197" y="6492876"/>
            <a:ext cx="12201197" cy="365125"/>
          </a:xfrm>
          <a:prstGeom prst="rect">
            <a:avLst/>
          </a:prstGeom>
          <a:solidFill>
            <a:schemeClr val="bg1">
              <a:lumMod val="95000"/>
            </a:schemeClr>
          </a:solidFill>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b="0" dirty="0">
                <a:solidFill>
                  <a:schemeClr val="tx1">
                    <a:lumMod val="75000"/>
                    <a:lumOff val="25000"/>
                  </a:schemeClr>
                </a:solidFill>
                <a:latin typeface="Myriad Pro" pitchFamily="34" charset="0"/>
              </a:rPr>
              <a:t>©CIMTOPS Corporation</a:t>
            </a:r>
          </a:p>
          <a:p>
            <a:endParaRPr lang="en-US" altLang="ja-JP" sz="1000" b="0" dirty="0">
              <a:solidFill>
                <a:schemeClr val="tx1">
                  <a:lumMod val="75000"/>
                  <a:lumOff val="25000"/>
                </a:schemeClr>
              </a:solidFill>
              <a:latin typeface="Myriad Pro" pitchFamily="34" charset="0"/>
            </a:endParaRPr>
          </a:p>
        </p:txBody>
      </p:sp>
      <p:cxnSp>
        <p:nvCxnSpPr>
          <p:cNvPr id="17" name="直線コネクタ 16"/>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8393138"/>
      </p:ext>
    </p:extLst>
  </p:cSld>
  <p:clrMapOvr>
    <a:masterClrMapping/>
  </p:clrMapOvr>
  <p:transition advClick="0" advTm="4000">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白紙">
    <p:spTree>
      <p:nvGrpSpPr>
        <p:cNvPr id="1" name=""/>
        <p:cNvGrpSpPr/>
        <p:nvPr/>
      </p:nvGrpSpPr>
      <p:grpSpPr>
        <a:xfrm>
          <a:off x="0" y="0"/>
          <a:ext cx="0" cy="0"/>
          <a:chOff x="0" y="0"/>
          <a:chExt cx="0" cy="0"/>
        </a:xfrm>
      </p:grpSpPr>
      <p:sp>
        <p:nvSpPr>
          <p:cNvPr id="5" name="Footer Placeholder 4"/>
          <p:cNvSpPr txBox="1">
            <a:spLocks/>
          </p:cNvSpPr>
          <p:nvPr userDrawn="1"/>
        </p:nvSpPr>
        <p:spPr>
          <a:xfrm>
            <a:off x="-9197" y="6492876"/>
            <a:ext cx="12201197" cy="365125"/>
          </a:xfrm>
          <a:prstGeom prst="rect">
            <a:avLst/>
          </a:prstGeom>
          <a:solidFill>
            <a:schemeClr val="bg1">
              <a:lumMod val="95000"/>
            </a:schemeClr>
          </a:solidFill>
          <a:ln>
            <a:noFill/>
          </a:ln>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sp>
        <p:nvSpPr>
          <p:cNvPr id="6" name="テキスト ボックス 5"/>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dirty="0">
              <a:solidFill>
                <a:schemeClr val="tx1">
                  <a:lumMod val="75000"/>
                  <a:lumOff val="25000"/>
                </a:schemeClr>
              </a:solidFill>
              <a:latin typeface="Myriad Pro" pitchFamily="34" charset="0"/>
            </a:endParaRPr>
          </a:p>
        </p:txBody>
      </p:sp>
      <p:cxnSp>
        <p:nvCxnSpPr>
          <p:cNvPr id="10" name="直線コネクタ 9"/>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7" name="テキスト ボックス 6"/>
          <p:cNvSpPr txBox="1"/>
          <p:nvPr userDrawn="1"/>
        </p:nvSpPr>
        <p:spPr>
          <a:xfrm>
            <a:off x="0" y="0"/>
            <a:ext cx="12192000" cy="620688"/>
          </a:xfrm>
          <a:prstGeom prst="rect">
            <a:avLst/>
          </a:prstGeom>
          <a:solidFill>
            <a:schemeClr val="accent5">
              <a:lumMod val="75000"/>
            </a:schemeClr>
          </a:solidFill>
          <a:ln>
            <a:solidFill>
              <a:schemeClr val="accent5">
                <a:lumMod val="50000"/>
              </a:schemeClr>
            </a:solidFill>
          </a:ln>
        </p:spPr>
        <p:txBody>
          <a:bodyPr wrap="square" tIns="72000" bIns="0" rtlCol="0" anchor="ctr">
            <a:noAutofit/>
          </a:bodyPr>
          <a:lstStyle/>
          <a:p>
            <a:pPr marL="177800"/>
            <a:endParaRPr lang="ja-JP" altLang="en-US" sz="2400" b="1" dirty="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559444059"/>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pPr eaLnBrk="1" latinLnBrk="0" hangingPunct="1"/>
            <a:r>
              <a:rPr kumimoji="0" lang="ja-JP" altLang="en-US"/>
              <a:t>マスター タイトルの書式設定</a:t>
            </a:r>
            <a:endParaRPr kumimoji="0"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latinLnBrk="0" hangingPunct="1">
              <a:defRPr kumimoji="0" lang="ja-JP" sz="1200">
                <a:solidFill>
                  <a:schemeClr val="tx1">
                    <a:tint val="75000"/>
                  </a:schemeClr>
                </a:solidFill>
              </a:defRPr>
            </a:lvl1pPr>
          </a:lstStyle>
          <a:p>
            <a:fld id="{A258050E-B668-4FA7-85AD-C750C80A6E9B}" type="datetimeFigureOut">
              <a:pPr/>
              <a:t>2026/1/27</a:t>
            </a:fld>
            <a:endParaRPr kumimoji="0" lang="ja-JP"/>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latinLnBrk="0" hangingPunct="1">
              <a:defRPr kumimoji="0" lang="ja-JP" sz="1200">
                <a:solidFill>
                  <a:schemeClr val="tx1">
                    <a:tint val="75000"/>
                  </a:schemeClr>
                </a:solidFill>
              </a:defRPr>
            </a:lvl1pPr>
          </a:lstStyle>
          <a:p>
            <a:endParaRPr kumimoji="0" lang="ja-JP"/>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1" latinLnBrk="0" hangingPunct="1">
              <a:defRPr kumimoji="0" lang="ja-JP" sz="1200">
                <a:solidFill>
                  <a:schemeClr val="tx1">
                    <a:tint val="75000"/>
                  </a:schemeClr>
                </a:solidFill>
              </a:defRPr>
            </a:lvl1pPr>
          </a:lstStyle>
          <a:p>
            <a:fld id="{240D5ECE-8B49-45CD-BE81-EF81920D1969}" type="slidenum">
              <a:pPr/>
              <a:t>‹#›</a:t>
            </a:fld>
            <a:endParaRPr kumimoji="0" lang="ja-JP"/>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eaLnBrk="1" latinLnBrk="0" hangingPunct="1"/>
            <a:r>
              <a:rPr kumimoji="0" lang="ja-JP" altLang="en-US"/>
              <a:t>マスター テキストの書式設定</a:t>
            </a:r>
          </a:p>
          <a:p>
            <a:pPr lvl="1" eaLnBrk="1" latinLnBrk="0" hangingPunct="1"/>
            <a:r>
              <a:rPr kumimoji="0" lang="ja-JP" altLang="en-US"/>
              <a:t>第 </a:t>
            </a:r>
            <a:r>
              <a:rPr kumimoji="0" lang="en-US" altLang="ja-JP"/>
              <a:t>2 </a:t>
            </a:r>
            <a:r>
              <a:rPr kumimoji="0" lang="ja-JP" altLang="en-US"/>
              <a:t>レベル</a:t>
            </a:r>
          </a:p>
          <a:p>
            <a:pPr lvl="2" eaLnBrk="1" latinLnBrk="0" hangingPunct="1"/>
            <a:r>
              <a:rPr kumimoji="0" lang="ja-JP" altLang="en-US"/>
              <a:t>第 </a:t>
            </a:r>
            <a:r>
              <a:rPr kumimoji="0" lang="en-US" altLang="ja-JP"/>
              <a:t>3 </a:t>
            </a:r>
            <a:r>
              <a:rPr kumimoji="0" lang="ja-JP" altLang="en-US"/>
              <a:t>レベル</a:t>
            </a:r>
          </a:p>
          <a:p>
            <a:pPr lvl="3" eaLnBrk="1" latinLnBrk="0" hangingPunct="1"/>
            <a:r>
              <a:rPr kumimoji="0" lang="ja-JP" altLang="en-US"/>
              <a:t>第 </a:t>
            </a:r>
            <a:r>
              <a:rPr kumimoji="0" lang="en-US" altLang="ja-JP"/>
              <a:t>4 </a:t>
            </a:r>
            <a:r>
              <a:rPr kumimoji="0" lang="ja-JP" altLang="en-US"/>
              <a:t>レベル</a:t>
            </a:r>
          </a:p>
          <a:p>
            <a:pPr lvl="4" eaLnBrk="1" latinLnBrk="0" hangingPunct="1"/>
            <a:r>
              <a:rPr kumimoji="0" lang="ja-JP" altLang="en-US"/>
              <a:t>第 </a:t>
            </a:r>
            <a:r>
              <a:rPr kumimoji="0" lang="en-US" altLang="ja-JP"/>
              <a:t>5 </a:t>
            </a:r>
            <a:r>
              <a:rPr kumimoji="0" lang="ja-JP" altLang="en-US"/>
              <a:t>レベル</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49" r:id="rId2"/>
    <p:sldLayoutId id="2147483663" r:id="rId3"/>
    <p:sldLayoutId id="2147483665" r:id="rId4"/>
    <p:sldLayoutId id="2147483666" r:id="rId5"/>
  </p:sldLayoutIdLst>
  <p:txStyles>
    <p:titleStyle>
      <a:lvl1pPr algn="ctr" defTabSz="914400" rtl="0" eaLnBrk="1" latinLnBrk="0" hangingPunct="1">
        <a:spcBef>
          <a:spcPct val="0"/>
        </a:spcBef>
        <a:buNone/>
        <a:defRPr kumimoji="1" lang="ja-JP"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lang="ja-JP"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lang="ja-JP"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lang="ja-JP"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9pPr>
    </p:bodyStyle>
    <p:otherStyle>
      <a:defPPr>
        <a:defRPr kumimoji="0" lang="ja-JP"/>
      </a:defPPr>
      <a:lvl1pPr marL="0" algn="l" defTabSz="914400" rtl="0" eaLnBrk="1" latinLnBrk="0" hangingPunct="1">
        <a:defRPr kumimoji="1" lang="ja-JP" sz="1800" kern="1200">
          <a:solidFill>
            <a:schemeClr val="tx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7.xml"/><Relationship Id="rId5"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21.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5.JPG"/><Relationship Id="rId2" Type="http://schemas.openxmlformats.org/officeDocument/2006/relationships/slideLayout" Target="../slideLayouts/slideLayout3.xml"/><Relationship Id="rId1" Type="http://schemas.openxmlformats.org/officeDocument/2006/relationships/tags" Target="../tags/tag13.xml"/><Relationship Id="rId6" Type="http://schemas.openxmlformats.org/officeDocument/2006/relationships/image" Target="../media/image13.png"/><Relationship Id="rId5" Type="http://schemas.openxmlformats.org/officeDocument/2006/relationships/image" Target="../media/image24.png"/><Relationship Id="rId4" Type="http://schemas.openxmlformats.org/officeDocument/2006/relationships/image" Target="../media/image23.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18.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20.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22.xml"/><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23.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26.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28.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2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30.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32.xml"/><Relationship Id="rId5" Type="http://schemas.openxmlformats.org/officeDocument/2006/relationships/image" Target="../media/image58.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3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descr="ロゴ&#10;&#10;AI によって生成されたコンテンツは間違っている可能性があります。">
            <a:extLst>
              <a:ext uri="{FF2B5EF4-FFF2-40B4-BE49-F238E27FC236}">
                <a16:creationId xmlns:a16="http://schemas.microsoft.com/office/drawing/2014/main" id="{6A984216-A1C6-5704-7987-CA7641204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56" y="2187112"/>
            <a:ext cx="3480456" cy="1199915"/>
          </a:xfrm>
          <a:prstGeom prst="rect">
            <a:avLst/>
          </a:prstGeom>
        </p:spPr>
      </p:pic>
      <p:cxnSp>
        <p:nvCxnSpPr>
          <p:cNvPr id="7" name="直線コネクタ 6"/>
          <p:cNvCxnSpPr/>
          <p:nvPr/>
        </p:nvCxnSpPr>
        <p:spPr>
          <a:xfrm>
            <a:off x="335360" y="3158110"/>
            <a:ext cx="11521280" cy="0"/>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3863752" y="6237312"/>
            <a:ext cx="4464496" cy="202842"/>
          </a:xfrm>
          <a:prstGeom prst="rect">
            <a:avLst/>
          </a:prstGeom>
          <a:noFill/>
          <a:ln>
            <a:noFill/>
          </a:ln>
        </p:spPr>
        <p:txBody>
          <a:bodyPr wrap="square" tIns="0" bIns="18000" rtlCol="0">
            <a:spAutoFit/>
          </a:bodyPr>
          <a:lstStyle/>
          <a:p>
            <a:pPr algn="ct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cs typeface="Meiryo UI" pitchFamily="50" charset="-128"/>
              </a:rPr>
              <a:t>Rev.1.1.3</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cs typeface="Meiryo UI" pitchFamily="50" charset="-128"/>
              </a:rPr>
              <a:t>  </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cs typeface="Meiryo UI" pitchFamily="50" charset="-128"/>
              </a:rPr>
              <a:t>2026.02.16</a:t>
            </a:r>
            <a:endPar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cs typeface="Meiryo UI" pitchFamily="50" charset="-128"/>
            </a:endParaRPr>
          </a:p>
        </p:txBody>
      </p:sp>
      <p:sp>
        <p:nvSpPr>
          <p:cNvPr id="6" name="タイトル 1"/>
          <p:cNvSpPr txBox="1">
            <a:spLocks/>
          </p:cNvSpPr>
          <p:nvPr/>
        </p:nvSpPr>
        <p:spPr>
          <a:xfrm>
            <a:off x="3503712" y="3243171"/>
            <a:ext cx="8424936" cy="761893"/>
          </a:xfrm>
          <a:prstGeom prst="rect">
            <a:avLst/>
          </a:prstGeom>
        </p:spPr>
        <p:txBody>
          <a:bodyPr/>
          <a:lstStyle>
            <a:lvl1pPr algn="l" defTabSz="914400" rtl="0" eaLnBrk="1" latinLnBrk="0" hangingPunct="1">
              <a:spcBef>
                <a:spcPct val="0"/>
              </a:spcBef>
              <a:buNone/>
              <a:defRPr kumimoji="1" sz="3600" kern="1200">
                <a:solidFill>
                  <a:schemeClr val="tx1"/>
                </a:solidFill>
                <a:latin typeface="メイリオ" pitchFamily="50" charset="-128"/>
                <a:ea typeface="メイリオ" pitchFamily="50" charset="-128"/>
                <a:cs typeface="メイリオ" pitchFamily="50" charset="-128"/>
              </a:defRPr>
            </a:lvl1pPr>
          </a:lstStyle>
          <a:p>
            <a:pPr algn="r">
              <a:lnSpc>
                <a:spcPct val="95000"/>
              </a:lnSpc>
            </a:pPr>
            <a:r>
              <a:rPr lang="ja-JP" altLang="en-US" sz="2800" b="1" dirty="0">
                <a:solidFill>
                  <a:srgbClr val="C00000"/>
                </a:solidFill>
              </a:rPr>
              <a:t>リビジョンの更新</a:t>
            </a:r>
          </a:p>
          <a:p>
            <a:pPr algn="r">
              <a:lnSpc>
                <a:spcPct val="95000"/>
              </a:lnSpc>
            </a:pPr>
            <a:r>
              <a:rPr lang="ja-JP" altLang="en-US" sz="1400" b="1" dirty="0">
                <a:solidFill>
                  <a:srgbClr val="C00000"/>
                </a:solidFill>
              </a:rPr>
              <a:t>帳票定義の改訂・定義の修正方法について</a:t>
            </a:r>
          </a:p>
        </p:txBody>
      </p:sp>
      <p:sp>
        <p:nvSpPr>
          <p:cNvPr id="10" name="タイトル 1"/>
          <p:cNvSpPr txBox="1">
            <a:spLocks/>
          </p:cNvSpPr>
          <p:nvPr/>
        </p:nvSpPr>
        <p:spPr>
          <a:xfrm>
            <a:off x="3503712" y="2602628"/>
            <a:ext cx="8424936" cy="466332"/>
          </a:xfrm>
          <a:prstGeom prst="rect">
            <a:avLst/>
          </a:prstGeom>
        </p:spPr>
        <p:txBody>
          <a:bodyPr>
            <a:noAutofit/>
          </a:bodyPr>
          <a:lstStyle>
            <a:lvl1pPr algn="l" defTabSz="914400" rtl="0" eaLnBrk="1" latinLnBrk="0" hangingPunct="1">
              <a:spcBef>
                <a:spcPct val="0"/>
              </a:spcBef>
              <a:buNone/>
              <a:defRPr kumimoji="1" sz="3600" kern="1200">
                <a:solidFill>
                  <a:schemeClr val="tx1"/>
                </a:solidFill>
                <a:latin typeface="メイリオ" pitchFamily="50" charset="-128"/>
                <a:ea typeface="メイリオ" pitchFamily="50" charset="-128"/>
                <a:cs typeface="メイリオ" pitchFamily="50" charset="-128"/>
              </a:defRPr>
            </a:lvl1pPr>
          </a:lstStyle>
          <a:p>
            <a:pPr algn="r">
              <a:lnSpc>
                <a:spcPct val="95000"/>
              </a:lnSpc>
            </a:pPr>
            <a:r>
              <a:rPr lang="en-US" altLang="ja-JP" sz="2000" b="1" dirty="0" err="1">
                <a:solidFill>
                  <a:srgbClr val="C00000"/>
                </a:solidFill>
              </a:rPr>
              <a:t>i</a:t>
            </a:r>
            <a:r>
              <a:rPr lang="en-US" altLang="ja-JP" sz="2000" b="1" dirty="0">
                <a:solidFill>
                  <a:srgbClr val="C00000"/>
                </a:solidFill>
              </a:rPr>
              <a:t>-Reporter</a:t>
            </a:r>
            <a:r>
              <a:rPr lang="ja-JP" altLang="en-US" sz="2000" b="1" dirty="0">
                <a:solidFill>
                  <a:srgbClr val="C00000"/>
                </a:solidFill>
              </a:rPr>
              <a:t>講習会　</a:t>
            </a:r>
            <a:r>
              <a:rPr lang="ja-JP" altLang="en-US" b="1" dirty="0">
                <a:solidFill>
                  <a:srgbClr val="C00000"/>
                </a:solidFill>
              </a:rPr>
              <a:t>帳票定義作成編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18"/>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目次</a:t>
            </a:r>
          </a:p>
        </p:txBody>
      </p:sp>
      <p:sp>
        <p:nvSpPr>
          <p:cNvPr id="3" name="テキスト ボックス 2"/>
          <p:cNvSpPr txBox="1"/>
          <p:nvPr/>
        </p:nvSpPr>
        <p:spPr>
          <a:xfrm>
            <a:off x="2135560" y="1268760"/>
            <a:ext cx="7920880" cy="3385542"/>
          </a:xfrm>
          <a:prstGeom prst="rect">
            <a:avLst/>
          </a:prstGeom>
          <a:noFill/>
        </p:spPr>
        <p:txBody>
          <a:bodyPr wrap="square" rtlCol="0">
            <a:spAutoFit/>
          </a:bodyPr>
          <a:lstStyle/>
          <a:p>
            <a:pPr defTabSz="8428038">
              <a:lnSpc>
                <a:spcPct val="150000"/>
              </a:lnSpc>
              <a:buClr>
                <a:schemeClr val="accent5">
                  <a:lumMod val="75000"/>
                </a:schemeClr>
              </a:buClr>
              <a:tabLst>
                <a:tab pos="628650" algn="l"/>
                <a:tab pos="898525" algn="l"/>
                <a:tab pos="1162050" algn="l"/>
                <a:tab pos="7175500" algn="ctr"/>
              </a:tabLst>
            </a:pP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はじめに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3</a:t>
            </a:r>
          </a:p>
          <a:p>
            <a:pPr defTabSz="8428038">
              <a:lnSpc>
                <a:spcPct val="150000"/>
              </a:lnSpc>
              <a:buClr>
                <a:schemeClr val="accent5">
                  <a:lumMod val="75000"/>
                </a:schemeClr>
              </a:buClr>
              <a:tabLst>
                <a:tab pos="628650" algn="l"/>
                <a:tab pos="898525" algn="l"/>
                <a:tab pos="1162050" algn="l"/>
                <a:tab pos="7175500" algn="ctr"/>
              </a:tabLst>
            </a:pP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帳票定義の改訂</a:t>
            </a:r>
          </a:p>
          <a:p>
            <a:pPr defTabSz="8428038">
              <a:lnSpc>
                <a:spcPct val="150000"/>
              </a:lnSpc>
              <a:buClr>
                <a:schemeClr val="accent5">
                  <a:lumMod val="75000"/>
                </a:schemeClr>
              </a:buClr>
              <a:tabLst>
                <a:tab pos="628650" algn="l"/>
                <a:tab pos="898525" algn="l"/>
                <a:tab pos="1162050" algn="l"/>
                <a:tab pos="7175500" algn="ctr"/>
              </a:tabLst>
            </a:pP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①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帳票定義の出力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7</a:t>
            </a:r>
          </a:p>
          <a:p>
            <a:pPr defTabSz="8428038">
              <a:lnSpc>
                <a:spcPct val="150000"/>
              </a:lnSpc>
              <a:buClr>
                <a:schemeClr val="accent5">
                  <a:lumMod val="75000"/>
                </a:schemeClr>
              </a:buClr>
              <a:tabLst>
                <a:tab pos="628650" algn="l"/>
                <a:tab pos="898525" algn="l"/>
                <a:tab pos="1162050" algn="l"/>
                <a:tab pos="7175500" algn="ctr"/>
              </a:tabLst>
            </a:pP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②	Excel</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帳票定義の編集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12</a:t>
            </a:r>
          </a:p>
          <a:p>
            <a:pPr defTabSz="8428038">
              <a:lnSpc>
                <a:spcPct val="150000"/>
              </a:lnSpc>
              <a:buClr>
                <a:schemeClr val="accent5">
                  <a:lumMod val="75000"/>
                </a:schemeClr>
              </a:buClr>
              <a:tabLst>
                <a:tab pos="628650" algn="l"/>
                <a:tab pos="898525" algn="l"/>
                <a:tab pos="1162050" algn="l"/>
                <a:tab pos="7175500" algn="ctr"/>
              </a:tabLst>
            </a:pP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③	</a:t>
            </a:r>
            <a:r>
              <a:rPr lang="en-US" altLang="ja-JP" sz="1600" dirty="0" err="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Designer</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への取り込み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18</a:t>
            </a:r>
          </a:p>
          <a:p>
            <a:pPr defTabSz="8428038">
              <a:lnSpc>
                <a:spcPct val="150000"/>
              </a:lnSpc>
              <a:buClr>
                <a:schemeClr val="accent5">
                  <a:lumMod val="75000"/>
                </a:schemeClr>
              </a:buClr>
              <a:tabLst>
                <a:tab pos="628650" algn="l"/>
                <a:tab pos="898525" algn="l"/>
                <a:tab pos="1162050" algn="l"/>
                <a:tab pos="7175500" algn="ctr"/>
              </a:tabLst>
            </a:pP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④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パラメーター設定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22</a:t>
            </a:r>
          </a:p>
          <a:p>
            <a:pPr defTabSz="8428038">
              <a:lnSpc>
                <a:spcPct val="150000"/>
              </a:lnSpc>
              <a:buClr>
                <a:schemeClr val="accent5">
                  <a:lumMod val="75000"/>
                </a:schemeClr>
              </a:buClr>
              <a:tabLst>
                <a:tab pos="628650" algn="l"/>
                <a:tab pos="898525" algn="l"/>
                <a:tab pos="1162050" algn="l"/>
                <a:tab pos="7175500" algn="ctr"/>
              </a:tabLst>
            </a:pP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⑤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カーボンコピー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26</a:t>
            </a:r>
          </a:p>
          <a:p>
            <a:pPr defTabSz="8428038">
              <a:lnSpc>
                <a:spcPct val="150000"/>
              </a:lnSpc>
              <a:buClr>
                <a:schemeClr val="accent5">
                  <a:lumMod val="75000"/>
                </a:schemeClr>
              </a:buClr>
              <a:tabLst>
                <a:tab pos="628650" algn="l"/>
                <a:tab pos="898525" algn="l"/>
                <a:tab pos="1162050" algn="l"/>
                <a:tab pos="7175500" algn="ctr"/>
              </a:tabLst>
            </a:pP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⑥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帳票名称自動作成	</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30</a:t>
            </a:r>
          </a:p>
          <a:p>
            <a:pPr defTabSz="8428038">
              <a:lnSpc>
                <a:spcPct val="150000"/>
              </a:lnSpc>
              <a:buClr>
                <a:schemeClr val="accent5">
                  <a:lumMod val="75000"/>
                </a:schemeClr>
              </a:buClr>
              <a:tabLst>
                <a:tab pos="628650" algn="l"/>
                <a:tab pos="898525" algn="l"/>
                <a:tab pos="1162050" algn="l"/>
                <a:tab pos="7175500" algn="ctr"/>
              </a:tabLst>
            </a:pP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⑦入力帳票の作成</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38</a:t>
            </a:r>
            <a:endParaRPr lang="en-US" altLang="ja-JP" sz="16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4223609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18"/>
          <p:cNvSpPr txBox="1"/>
          <p:nvPr/>
        </p:nvSpPr>
        <p:spPr>
          <a:xfrm>
            <a:off x="0" y="0"/>
            <a:ext cx="12191999" cy="620688"/>
          </a:xfrm>
          <a:prstGeom prst="rect">
            <a:avLst/>
          </a:prstGeom>
          <a:noFill/>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はじめに</a:t>
            </a:r>
          </a:p>
        </p:txBody>
      </p:sp>
      <p:sp>
        <p:nvSpPr>
          <p:cNvPr id="6" name="テキスト ボックス 5"/>
          <p:cNvSpPr txBox="1"/>
          <p:nvPr/>
        </p:nvSpPr>
        <p:spPr>
          <a:xfrm>
            <a:off x="767408" y="1277107"/>
            <a:ext cx="10657184" cy="1681229"/>
          </a:xfrm>
          <a:prstGeom prst="rect">
            <a:avLst/>
          </a:prstGeom>
          <a:noFill/>
        </p:spPr>
        <p:txBody>
          <a:bodyPr wrap="square" rtlCol="0">
            <a:spAutoFit/>
          </a:bodyPr>
          <a:lstStyle/>
          <a:p>
            <a:pPr marL="271463" indent="-271463" defTabSz="8434388">
              <a:lnSpc>
                <a:spcPct val="150000"/>
              </a:lnSpc>
              <a:buClr>
                <a:schemeClr val="accent5">
                  <a:lumMod val="75000"/>
                </a:schemeClr>
              </a:buClr>
              <a:tabLst>
                <a:tab pos="271463" algn="l"/>
                <a:tab pos="534988"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この資料は</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Designer</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からサーバーへ一度公開し、動作確認を行った帳票定義に対し</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71463" indent="-271463" defTabSz="8434388">
              <a:lnSpc>
                <a:spcPct val="150000"/>
              </a:lnSpc>
              <a:buClr>
                <a:schemeClr val="accent5">
                  <a:lumMod val="75000"/>
                </a:schemeClr>
              </a:buClr>
              <a:tabLst>
                <a:tab pos="271463" algn="l"/>
                <a:tab pos="534988"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新たな設定の追加、及び修正</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更新を行うための操作を習得します。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71463" indent="-271463" defTabSz="8434388">
              <a:lnSpc>
                <a:spcPct val="150000"/>
              </a:lnSpc>
              <a:buClr>
                <a:schemeClr val="accent5">
                  <a:lumMod val="75000"/>
                </a:schemeClr>
              </a:buClr>
              <a:tabLst>
                <a:tab pos="271463" algn="l"/>
                <a:tab pos="534988" algn="l"/>
              </a:tabLst>
            </a:pP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71463" indent="-271463" defTabSz="8434388">
              <a:lnSpc>
                <a:spcPct val="150000"/>
              </a:lnSpc>
              <a:buClr>
                <a:schemeClr val="accent5">
                  <a:lumMod val="75000"/>
                </a:schemeClr>
              </a:buClr>
              <a:tabLst>
                <a:tab pos="271463" algn="l"/>
                <a:tab pos="534988"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講習会用資料「さっそく使ってみよう」をベースにこの資料を使用します。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71463" indent="-271463" defTabSz="8434388">
              <a:lnSpc>
                <a:spcPct val="150000"/>
              </a:lnSpc>
              <a:buClr>
                <a:schemeClr val="accent5">
                  <a:lumMod val="75000"/>
                </a:schemeClr>
              </a:buClr>
              <a:tabLst>
                <a:tab pos="271463" algn="l"/>
                <a:tab pos="534988"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事前に帳票定義をサーバーへ公開した状態でこの資料をご利用ください。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2154838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四角形: 角を丸くする 196">
            <a:extLst>
              <a:ext uri="{FF2B5EF4-FFF2-40B4-BE49-F238E27FC236}">
                <a16:creationId xmlns:a16="http://schemas.microsoft.com/office/drawing/2014/main" id="{D0843F50-1F99-AB78-7084-B24B2D990DB7}"/>
              </a:ext>
            </a:extLst>
          </p:cNvPr>
          <p:cNvSpPr/>
          <p:nvPr/>
        </p:nvSpPr>
        <p:spPr>
          <a:xfrm>
            <a:off x="1127448" y="2319274"/>
            <a:ext cx="9480316" cy="3258580"/>
          </a:xfrm>
          <a:prstGeom prst="roundRect">
            <a:avLst>
              <a:gd name="adj" fmla="val 3147"/>
            </a:avLst>
          </a:prstGeom>
          <a:solidFill>
            <a:schemeClr val="accent5">
              <a:lumMod val="20000"/>
              <a:lumOff val="8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45D041BE-2751-0E1B-AC61-6771430BF51F}"/>
              </a:ext>
            </a:extLst>
          </p:cNvPr>
          <p:cNvSpPr txBox="1"/>
          <p:nvPr/>
        </p:nvSpPr>
        <p:spPr>
          <a:xfrm>
            <a:off x="0" y="0"/>
            <a:ext cx="12192000" cy="620688"/>
          </a:xfrm>
          <a:prstGeom prst="rect">
            <a:avLst/>
          </a:prstGeom>
          <a:noFill/>
          <a:ln>
            <a:noFill/>
          </a:ln>
        </p:spPr>
        <p:txBody>
          <a:bodyPr wrap="square" tIns="72000" bIns="0" rtlCol="0" anchor="ctr">
            <a:noAutofit/>
          </a:bodyPr>
          <a:lstStyle>
            <a:defPPr>
              <a:defRPr kumimoji="1" lang="ja-JP"/>
            </a:defPPr>
            <a:lvl1pPr marL="177800">
              <a:defRPr sz="2400" b="1">
                <a:solidFill>
                  <a:schemeClr val="bg1"/>
                </a:solidFill>
                <a:latin typeface="メイリオ" pitchFamily="50" charset="-128"/>
                <a:ea typeface="メイリオ" pitchFamily="50" charset="-128"/>
                <a:cs typeface="メイリオ" pitchFamily="50" charset="-128"/>
              </a:defRPr>
            </a:lvl1pPr>
          </a:lstStyle>
          <a:p>
            <a:r>
              <a:rPr lang="ja-JP" altLang="en-US" dirty="0"/>
              <a:t>これまでの流れ</a:t>
            </a:r>
          </a:p>
        </p:txBody>
      </p:sp>
      <p:pic>
        <p:nvPicPr>
          <p:cNvPr id="10" name="図 9">
            <a:extLst>
              <a:ext uri="{FF2B5EF4-FFF2-40B4-BE49-F238E27FC236}">
                <a16:creationId xmlns:a16="http://schemas.microsoft.com/office/drawing/2014/main" id="{7C05EE83-2567-156E-7B05-12155EE274F1}"/>
              </a:ext>
            </a:extLst>
          </p:cNvPr>
          <p:cNvPicPr>
            <a:picLocks noChangeAspect="1"/>
          </p:cNvPicPr>
          <p:nvPr/>
        </p:nvPicPr>
        <p:blipFill>
          <a:blip r:embed="rId2"/>
          <a:stretch>
            <a:fillRect/>
          </a:stretch>
        </p:blipFill>
        <p:spPr>
          <a:xfrm>
            <a:off x="4263399" y="2991864"/>
            <a:ext cx="978541" cy="584775"/>
          </a:xfrm>
          <a:prstGeom prst="rect">
            <a:avLst/>
          </a:prstGeom>
          <a:ln>
            <a:solidFill>
              <a:schemeClr val="tx1">
                <a:lumMod val="50000"/>
                <a:lumOff val="50000"/>
              </a:schemeClr>
            </a:solidFill>
          </a:ln>
        </p:spPr>
      </p:pic>
      <p:sp>
        <p:nvSpPr>
          <p:cNvPr id="6" name="テキスト ボックス 5">
            <a:extLst>
              <a:ext uri="{FF2B5EF4-FFF2-40B4-BE49-F238E27FC236}">
                <a16:creationId xmlns:a16="http://schemas.microsoft.com/office/drawing/2014/main" id="{E598A0D8-28A0-706C-653A-1F4F90684EA8}"/>
              </a:ext>
            </a:extLst>
          </p:cNvPr>
          <p:cNvSpPr txBox="1"/>
          <p:nvPr/>
        </p:nvSpPr>
        <p:spPr>
          <a:xfrm>
            <a:off x="491089" y="938646"/>
            <a:ext cx="10801200" cy="584775"/>
          </a:xfrm>
          <a:prstGeom prst="rect">
            <a:avLst/>
          </a:prstGeom>
          <a:noFill/>
        </p:spPr>
        <p:txBody>
          <a:bodyPr wrap="square" rtlCol="0">
            <a:spAutoFit/>
          </a:bodyPr>
          <a:lstStyle/>
          <a:p>
            <a:r>
              <a:rPr kumimoji="1" lang="ja-JP" altLang="en-US" sz="1600" b="1" dirty="0">
                <a:solidFill>
                  <a:schemeClr val="accent5">
                    <a:lumMod val="50000"/>
                  </a:schemeClr>
                </a:solidFill>
                <a:latin typeface="メイリオ" panose="020B0604030504040204" pitchFamily="50" charset="-128"/>
                <a:ea typeface="メイリオ" panose="020B0604030504040204" pitchFamily="50" charset="-128"/>
              </a:rPr>
              <a:t>さっそく使ってみようの内容では、帳票定義を新規作成し動作確認まで行いました。</a:t>
            </a:r>
            <a:endParaRPr kumimoji="1" lang="en-US" altLang="ja-JP" sz="16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600" b="1" dirty="0">
                <a:solidFill>
                  <a:schemeClr val="accent5">
                    <a:lumMod val="50000"/>
                  </a:schemeClr>
                </a:solidFill>
                <a:latin typeface="メイリオ" panose="020B0604030504040204" pitchFamily="50" charset="-128"/>
                <a:ea typeface="メイリオ" panose="020B0604030504040204" pitchFamily="50" charset="-128"/>
              </a:rPr>
              <a:t>紙の帳票からまず電子化、現場での入力操作が行えることを確認しました。</a:t>
            </a:r>
            <a:endParaRPr kumimoji="1" lang="en-US" altLang="ja-JP" sz="16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0" name="角丸四角形 37">
            <a:extLst>
              <a:ext uri="{FF2B5EF4-FFF2-40B4-BE49-F238E27FC236}">
                <a16:creationId xmlns:a16="http://schemas.microsoft.com/office/drawing/2014/main" id="{84FD5758-5EB4-F2A2-C138-2FED3304FA6E}"/>
              </a:ext>
            </a:extLst>
          </p:cNvPr>
          <p:cNvSpPr/>
          <p:nvPr/>
        </p:nvSpPr>
        <p:spPr>
          <a:xfrm>
            <a:off x="4585313" y="2036610"/>
            <a:ext cx="2612751" cy="565328"/>
          </a:xfrm>
          <a:prstGeom prst="roundRect">
            <a:avLst>
              <a:gd name="adj" fmla="val 283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34" charset="-128"/>
                <a:ea typeface="Meiryo UI" panose="020B0604030504040204" pitchFamily="34" charset="-128"/>
              </a:rPr>
              <a:t>これまでの流れ</a:t>
            </a:r>
          </a:p>
        </p:txBody>
      </p:sp>
      <p:sp>
        <p:nvSpPr>
          <p:cNvPr id="33" name="矢印: 右 32">
            <a:extLst>
              <a:ext uri="{FF2B5EF4-FFF2-40B4-BE49-F238E27FC236}">
                <a16:creationId xmlns:a16="http://schemas.microsoft.com/office/drawing/2014/main" id="{035D75E3-64DD-C536-BF6E-18D66561FA89}"/>
              </a:ext>
            </a:extLst>
          </p:cNvPr>
          <p:cNvSpPr/>
          <p:nvPr/>
        </p:nvSpPr>
        <p:spPr>
          <a:xfrm>
            <a:off x="5611055" y="3086567"/>
            <a:ext cx="665592" cy="48821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2" name="矢印: 右 41">
            <a:extLst>
              <a:ext uri="{FF2B5EF4-FFF2-40B4-BE49-F238E27FC236}">
                <a16:creationId xmlns:a16="http://schemas.microsoft.com/office/drawing/2014/main" id="{1D99BC5A-2C5D-F755-33AF-C1085E156CA5}"/>
              </a:ext>
            </a:extLst>
          </p:cNvPr>
          <p:cNvSpPr/>
          <p:nvPr/>
        </p:nvSpPr>
        <p:spPr>
          <a:xfrm>
            <a:off x="7828113" y="3087391"/>
            <a:ext cx="665592" cy="48821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右 42">
            <a:extLst>
              <a:ext uri="{FF2B5EF4-FFF2-40B4-BE49-F238E27FC236}">
                <a16:creationId xmlns:a16="http://schemas.microsoft.com/office/drawing/2014/main" id="{6C18BFC0-9018-1BD4-A5AD-07DFB24F6944}"/>
              </a:ext>
            </a:extLst>
          </p:cNvPr>
          <p:cNvSpPr/>
          <p:nvPr/>
        </p:nvSpPr>
        <p:spPr>
          <a:xfrm>
            <a:off x="3228692" y="3040142"/>
            <a:ext cx="665592" cy="48821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4" name="テキスト ボックス 43">
            <a:extLst>
              <a:ext uri="{FF2B5EF4-FFF2-40B4-BE49-F238E27FC236}">
                <a16:creationId xmlns:a16="http://schemas.microsoft.com/office/drawing/2014/main" id="{603C2331-0839-4A98-40ED-41BDDE428528}"/>
              </a:ext>
            </a:extLst>
          </p:cNvPr>
          <p:cNvSpPr txBox="1"/>
          <p:nvPr/>
        </p:nvSpPr>
        <p:spPr>
          <a:xfrm>
            <a:off x="1584236" y="4116547"/>
            <a:ext cx="1914129" cy="646331"/>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a:t>
            </a:r>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Excel</a:t>
            </a: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ファイルの準備</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・レイアウトの設定</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・クラスターの設定方法</a:t>
            </a:r>
            <a:endParaRPr lang="en-US" altLang="ja-JP" sz="16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94" name="テキスト ボックス 193">
            <a:extLst>
              <a:ext uri="{FF2B5EF4-FFF2-40B4-BE49-F238E27FC236}">
                <a16:creationId xmlns:a16="http://schemas.microsoft.com/office/drawing/2014/main" id="{A78D75BC-4A1E-0051-85BD-B6F8EE8E60AB}"/>
              </a:ext>
            </a:extLst>
          </p:cNvPr>
          <p:cNvSpPr txBox="1"/>
          <p:nvPr/>
        </p:nvSpPr>
        <p:spPr>
          <a:xfrm>
            <a:off x="4005338" y="4116547"/>
            <a:ext cx="1503854" cy="1200329"/>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■帳票定義の作成</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　　</a:t>
            </a:r>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a:t>
            </a: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例</a:t>
            </a:r>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a:t>
            </a: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・選択項目の作成</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・入力順の設定</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・入力制限の設定</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・表示方法の変更</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95" name="テキスト ボックス 194">
            <a:extLst>
              <a:ext uri="{FF2B5EF4-FFF2-40B4-BE49-F238E27FC236}">
                <a16:creationId xmlns:a16="http://schemas.microsoft.com/office/drawing/2014/main" id="{B0D36001-9CFE-AF55-55B8-565645AE0E19}"/>
              </a:ext>
            </a:extLst>
          </p:cNvPr>
          <p:cNvSpPr txBox="1"/>
          <p:nvPr/>
        </p:nvSpPr>
        <p:spPr>
          <a:xfrm>
            <a:off x="6324259" y="4116547"/>
            <a:ext cx="1503854" cy="276999"/>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■帳票定義の公開</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96" name="テキスト ボックス 195">
            <a:extLst>
              <a:ext uri="{FF2B5EF4-FFF2-40B4-BE49-F238E27FC236}">
                <a16:creationId xmlns:a16="http://schemas.microsoft.com/office/drawing/2014/main" id="{AFAA353A-E3A0-A191-271D-CA2010073D85}"/>
              </a:ext>
            </a:extLst>
          </p:cNvPr>
          <p:cNvSpPr txBox="1"/>
          <p:nvPr/>
        </p:nvSpPr>
        <p:spPr>
          <a:xfrm>
            <a:off x="8170173" y="4024213"/>
            <a:ext cx="2088231" cy="461665"/>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a:t>
            </a:r>
            <a:r>
              <a:rPr lang="en-US" altLang="ja-JP" sz="1200" b="1" dirty="0" err="1">
                <a:solidFill>
                  <a:schemeClr val="accent5">
                    <a:lumMod val="50000"/>
                  </a:schemeClr>
                </a:solidFill>
                <a:latin typeface="メイリオ" panose="020B0604030504040204" pitchFamily="50" charset="-128"/>
                <a:ea typeface="メイリオ" panose="020B0604030504040204" pitchFamily="50" charset="-128"/>
              </a:rPr>
              <a:t>i</a:t>
            </a:r>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-Reporter</a:t>
            </a: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アプリの操作</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・入力帳票の作成・確認</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pic>
        <p:nvPicPr>
          <p:cNvPr id="3" name="図 2" descr="ロゴ&#10;&#10;AI によって生成されたコンテンツは間違っている可能性があります。">
            <a:extLst>
              <a:ext uri="{FF2B5EF4-FFF2-40B4-BE49-F238E27FC236}">
                <a16:creationId xmlns:a16="http://schemas.microsoft.com/office/drawing/2014/main" id="{EF662478-7029-CE1E-048F-83F79199D128}"/>
              </a:ext>
            </a:extLst>
          </p:cNvPr>
          <p:cNvPicPr>
            <a:picLocks noChangeAspect="1"/>
          </p:cNvPicPr>
          <p:nvPr/>
        </p:nvPicPr>
        <p:blipFill>
          <a:blip r:embed="rId3"/>
          <a:stretch>
            <a:fillRect/>
          </a:stretch>
        </p:blipFill>
        <p:spPr>
          <a:xfrm>
            <a:off x="6639181" y="2805659"/>
            <a:ext cx="875400" cy="1010308"/>
          </a:xfrm>
          <a:prstGeom prst="rect">
            <a:avLst/>
          </a:prstGeom>
        </p:spPr>
      </p:pic>
      <p:pic>
        <p:nvPicPr>
          <p:cNvPr id="7" name="図 6" descr="黒い背景に白い文字がある&#10;&#10;AI によって生成されたコンテンツは間違っている可能性があります。">
            <a:extLst>
              <a:ext uri="{FF2B5EF4-FFF2-40B4-BE49-F238E27FC236}">
                <a16:creationId xmlns:a16="http://schemas.microsoft.com/office/drawing/2014/main" id="{CED5D589-52F6-54B8-1A21-5D87B9200820}"/>
              </a:ext>
            </a:extLst>
          </p:cNvPr>
          <p:cNvPicPr>
            <a:picLocks noChangeAspect="1"/>
          </p:cNvPicPr>
          <p:nvPr/>
        </p:nvPicPr>
        <p:blipFill>
          <a:blip r:embed="rId4"/>
          <a:stretch>
            <a:fillRect/>
          </a:stretch>
        </p:blipFill>
        <p:spPr>
          <a:xfrm>
            <a:off x="2026902" y="2830363"/>
            <a:ext cx="888258" cy="888258"/>
          </a:xfrm>
          <a:prstGeom prst="rect">
            <a:avLst/>
          </a:prstGeom>
        </p:spPr>
      </p:pic>
      <p:pic>
        <p:nvPicPr>
          <p:cNvPr id="9" name="図 8" descr="グラフィカル ユーザー インターフェイス, ダイアグラム&#10;&#10;AI によって生成されたコンテンツは間違っている可能性があります。">
            <a:extLst>
              <a:ext uri="{FF2B5EF4-FFF2-40B4-BE49-F238E27FC236}">
                <a16:creationId xmlns:a16="http://schemas.microsoft.com/office/drawing/2014/main" id="{5C0DB27F-7900-9353-AAE5-6DECC7E9DCF5}"/>
              </a:ext>
            </a:extLst>
          </p:cNvPr>
          <p:cNvPicPr>
            <a:picLocks noChangeAspect="1"/>
          </p:cNvPicPr>
          <p:nvPr/>
        </p:nvPicPr>
        <p:blipFill>
          <a:blip r:embed="rId5"/>
          <a:stretch>
            <a:fillRect/>
          </a:stretch>
        </p:blipFill>
        <p:spPr>
          <a:xfrm>
            <a:off x="8862195" y="2763945"/>
            <a:ext cx="875400" cy="1157787"/>
          </a:xfrm>
          <a:prstGeom prst="rect">
            <a:avLst/>
          </a:prstGeom>
        </p:spPr>
      </p:pic>
    </p:spTree>
    <p:extLst>
      <p:ext uri="{BB962C8B-B14F-4D97-AF65-F5344CB8AC3E}">
        <p14:creationId xmlns:p14="http://schemas.microsoft.com/office/powerpoint/2010/main" val="1571552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四角形: 角を丸くする 196">
            <a:extLst>
              <a:ext uri="{FF2B5EF4-FFF2-40B4-BE49-F238E27FC236}">
                <a16:creationId xmlns:a16="http://schemas.microsoft.com/office/drawing/2014/main" id="{D0843F50-1F99-AB78-7084-B24B2D990DB7}"/>
              </a:ext>
            </a:extLst>
          </p:cNvPr>
          <p:cNvSpPr/>
          <p:nvPr/>
        </p:nvSpPr>
        <p:spPr>
          <a:xfrm>
            <a:off x="1127448" y="2319274"/>
            <a:ext cx="9480316" cy="3258580"/>
          </a:xfrm>
          <a:prstGeom prst="roundRect">
            <a:avLst>
              <a:gd name="adj" fmla="val 3147"/>
            </a:avLst>
          </a:prstGeom>
          <a:solidFill>
            <a:schemeClr val="accent2">
              <a:lumMod val="20000"/>
              <a:lumOff val="8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45D041BE-2751-0E1B-AC61-6771430BF51F}"/>
              </a:ext>
            </a:extLst>
          </p:cNvPr>
          <p:cNvSpPr txBox="1"/>
          <p:nvPr/>
        </p:nvSpPr>
        <p:spPr>
          <a:xfrm>
            <a:off x="0" y="0"/>
            <a:ext cx="12192000" cy="620688"/>
          </a:xfrm>
          <a:prstGeom prst="rect">
            <a:avLst/>
          </a:prstGeom>
          <a:noFill/>
          <a:ln>
            <a:noFill/>
          </a:ln>
        </p:spPr>
        <p:txBody>
          <a:bodyPr wrap="square" tIns="72000" bIns="0" rtlCol="0" anchor="ctr">
            <a:noAutofit/>
          </a:bodyPr>
          <a:lstStyle>
            <a:defPPr>
              <a:defRPr kumimoji="1" lang="ja-JP"/>
            </a:defPPr>
            <a:lvl1pPr marL="177800">
              <a:defRPr sz="2400" b="1">
                <a:solidFill>
                  <a:schemeClr val="bg1"/>
                </a:solidFill>
                <a:latin typeface="メイリオ" pitchFamily="50" charset="-128"/>
                <a:ea typeface="メイリオ" pitchFamily="50" charset="-128"/>
                <a:cs typeface="メイリオ" pitchFamily="50" charset="-128"/>
              </a:defRPr>
            </a:lvl1pPr>
          </a:lstStyle>
          <a:p>
            <a:r>
              <a:rPr lang="ja-JP" altLang="en-US" dirty="0"/>
              <a:t>帳票定義の改訂</a:t>
            </a:r>
          </a:p>
        </p:txBody>
      </p:sp>
      <p:sp>
        <p:nvSpPr>
          <p:cNvPr id="179" name="正方形/長方形 178">
            <a:extLst>
              <a:ext uri="{FF2B5EF4-FFF2-40B4-BE49-F238E27FC236}">
                <a16:creationId xmlns:a16="http://schemas.microsoft.com/office/drawing/2014/main" id="{BC63C0AC-CFCC-2AE6-E179-21EEA51EBD57}"/>
              </a:ext>
            </a:extLst>
          </p:cNvPr>
          <p:cNvSpPr/>
          <p:nvPr/>
        </p:nvSpPr>
        <p:spPr>
          <a:xfrm>
            <a:off x="9990106" y="1481735"/>
            <a:ext cx="902029" cy="274387"/>
          </a:xfrm>
          <a:prstGeom prst="rect">
            <a:avLst/>
          </a:prstGeom>
        </p:spPr>
        <p:txBody>
          <a:bodyPr wrap="square">
            <a:spAutoFit/>
          </a:bodyPr>
          <a:lstStyle/>
          <a:p>
            <a:pPr algn="ctr"/>
            <a:r>
              <a:rPr lang="en-US" altLang="ja-JP" sz="1200" b="1" dirty="0">
                <a:solidFill>
                  <a:schemeClr val="bg1"/>
                </a:solidFill>
                <a:latin typeface="Arial" panose="020B0604020202020204" pitchFamily="34" charset="0"/>
                <a:cs typeface="Arial" panose="020B0604020202020204" pitchFamily="34" charset="0"/>
              </a:rPr>
              <a:t>Windows</a:t>
            </a:r>
          </a:p>
        </p:txBody>
      </p:sp>
      <p:pic>
        <p:nvPicPr>
          <p:cNvPr id="10" name="図 9">
            <a:extLst>
              <a:ext uri="{FF2B5EF4-FFF2-40B4-BE49-F238E27FC236}">
                <a16:creationId xmlns:a16="http://schemas.microsoft.com/office/drawing/2014/main" id="{7C05EE83-2567-156E-7B05-12155EE274F1}"/>
              </a:ext>
            </a:extLst>
          </p:cNvPr>
          <p:cNvPicPr>
            <a:picLocks noChangeAspect="1"/>
          </p:cNvPicPr>
          <p:nvPr/>
        </p:nvPicPr>
        <p:blipFill>
          <a:blip r:embed="rId2"/>
          <a:stretch>
            <a:fillRect/>
          </a:stretch>
        </p:blipFill>
        <p:spPr>
          <a:xfrm>
            <a:off x="1931154" y="2996846"/>
            <a:ext cx="978541" cy="584775"/>
          </a:xfrm>
          <a:prstGeom prst="rect">
            <a:avLst/>
          </a:prstGeom>
          <a:ln>
            <a:solidFill>
              <a:schemeClr val="tx1">
                <a:lumMod val="50000"/>
                <a:lumOff val="50000"/>
              </a:schemeClr>
            </a:solidFill>
          </a:ln>
        </p:spPr>
      </p:pic>
      <p:sp>
        <p:nvSpPr>
          <p:cNvPr id="6" name="テキスト ボックス 5">
            <a:extLst>
              <a:ext uri="{FF2B5EF4-FFF2-40B4-BE49-F238E27FC236}">
                <a16:creationId xmlns:a16="http://schemas.microsoft.com/office/drawing/2014/main" id="{E598A0D8-28A0-706C-653A-1F4F90684EA8}"/>
              </a:ext>
            </a:extLst>
          </p:cNvPr>
          <p:cNvSpPr txBox="1"/>
          <p:nvPr/>
        </p:nvSpPr>
        <p:spPr>
          <a:xfrm>
            <a:off x="491089" y="938646"/>
            <a:ext cx="10801200" cy="769441"/>
          </a:xfrm>
          <a:prstGeom prst="rect">
            <a:avLst/>
          </a:prstGeom>
          <a:noFill/>
        </p:spPr>
        <p:txBody>
          <a:bodyPr wrap="square" rtlCol="0">
            <a:spAutoFit/>
          </a:bodyPr>
          <a:lstStyle/>
          <a:p>
            <a:r>
              <a:rPr lang="ja-JP" altLang="en-US" sz="1600" b="1" dirty="0">
                <a:solidFill>
                  <a:schemeClr val="accent5">
                    <a:lumMod val="50000"/>
                  </a:schemeClr>
                </a:solidFill>
                <a:latin typeface="メイリオ" panose="020B0604030504040204" pitchFamily="50" charset="-128"/>
                <a:ea typeface="メイリオ" panose="020B0604030504040204" pitchFamily="50" charset="-128"/>
              </a:rPr>
              <a:t>帳票定義の改訂（リビジョンアップ）は、公開済みの帳票定義に「履歴を重ねて」いきます。</a:t>
            </a:r>
            <a:endParaRPr kumimoji="1" lang="en-US" altLang="ja-JP" sz="16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公開済み定義を</a:t>
            </a:r>
            <a:r>
              <a:rPr lang="en-US" altLang="ja-JP" sz="1400" dirty="0">
                <a:latin typeface="メイリオ" panose="020B0604030504040204" pitchFamily="50" charset="-128"/>
                <a:ea typeface="メイリオ" panose="020B0604030504040204" pitchFamily="50" charset="-128"/>
              </a:rPr>
              <a:t>Excel</a:t>
            </a:r>
            <a:r>
              <a:rPr lang="ja-JP" altLang="en-US" sz="1400" dirty="0">
                <a:latin typeface="メイリオ" panose="020B0604030504040204" pitchFamily="50" charset="-128"/>
                <a:ea typeface="メイリオ" panose="020B0604030504040204" pitchFamily="50" charset="-128"/>
              </a:rPr>
              <a:t>へ出力、内容を修正し再度</a:t>
            </a:r>
            <a:r>
              <a:rPr lang="en-US" altLang="ja-JP" sz="1400" dirty="0">
                <a:latin typeface="メイリオ" panose="020B0604030504040204" pitchFamily="50" charset="-128"/>
                <a:ea typeface="メイリオ" panose="020B0604030504040204" pitchFamily="50" charset="-128"/>
              </a:rPr>
              <a:t>Designer</a:t>
            </a:r>
            <a:r>
              <a:rPr lang="ja-JP" altLang="en-US" sz="1400" dirty="0">
                <a:latin typeface="メイリオ" panose="020B0604030504040204" pitchFamily="50" charset="-128"/>
                <a:ea typeface="メイリオ" panose="020B0604030504040204" pitchFamily="50" charset="-128"/>
              </a:rPr>
              <a:t>へ取り込むことで更新操作を行うことができます。</a:t>
            </a:r>
            <a:endParaRPr lang="en-US" altLang="ja-JP" sz="1400" dirty="0">
              <a:latin typeface="メイリオ" panose="020B0604030504040204" pitchFamily="50" charset="-128"/>
              <a:ea typeface="メイリオ" panose="020B0604030504040204" pitchFamily="50" charset="-128"/>
            </a:endParaRPr>
          </a:p>
          <a:p>
            <a:r>
              <a:rPr kumimoji="1" lang="en-US" altLang="ja-JP" sz="1400" dirty="0" err="1">
                <a:latin typeface="メイリオ" panose="020B0604030504040204" pitchFamily="50" charset="-128"/>
                <a:ea typeface="メイリオ" panose="020B0604030504040204" pitchFamily="50" charset="-128"/>
              </a:rPr>
              <a:t>i</a:t>
            </a:r>
            <a:r>
              <a:rPr kumimoji="1" lang="en-US" altLang="ja-JP" sz="1400" dirty="0">
                <a:latin typeface="メイリオ" panose="020B0604030504040204" pitchFamily="50" charset="-128"/>
                <a:ea typeface="メイリオ" panose="020B0604030504040204" pitchFamily="50" charset="-128"/>
              </a:rPr>
              <a:t>-Reporter</a:t>
            </a:r>
            <a:r>
              <a:rPr kumimoji="1" lang="ja-JP" altLang="en-US" sz="1400" dirty="0">
                <a:latin typeface="メイリオ" panose="020B0604030504040204" pitchFamily="50" charset="-128"/>
                <a:ea typeface="メイリオ" panose="020B0604030504040204" pitchFamily="50" charset="-128"/>
              </a:rPr>
              <a:t>では過去に作成した内容を履歴（</a:t>
            </a:r>
            <a:r>
              <a:rPr kumimoji="1" lang="en-US" altLang="ja-JP" sz="1400" dirty="0">
                <a:latin typeface="メイリオ" panose="020B0604030504040204" pitchFamily="50" charset="-128"/>
                <a:ea typeface="メイリオ" panose="020B0604030504040204" pitchFamily="50" charset="-128"/>
              </a:rPr>
              <a:t>Rev</a:t>
            </a:r>
            <a:r>
              <a:rPr kumimoji="1" lang="ja-JP" altLang="en-US" sz="1400" dirty="0">
                <a:latin typeface="メイリオ" panose="020B0604030504040204" pitchFamily="50" charset="-128"/>
                <a:ea typeface="メイリオ" panose="020B0604030504040204" pitchFamily="50" charset="-128"/>
              </a:rPr>
              <a:t>）として保持しつつ更新を行います。</a:t>
            </a:r>
            <a:endParaRPr kumimoji="1" lang="en-US" altLang="ja-JP" sz="1400" dirty="0">
              <a:latin typeface="メイリオ" panose="020B0604030504040204" pitchFamily="50" charset="-128"/>
              <a:ea typeface="メイリオ" panose="020B0604030504040204" pitchFamily="50" charset="-128"/>
            </a:endParaRPr>
          </a:p>
        </p:txBody>
      </p:sp>
      <p:sp>
        <p:nvSpPr>
          <p:cNvPr id="20" name="角丸四角形 37">
            <a:extLst>
              <a:ext uri="{FF2B5EF4-FFF2-40B4-BE49-F238E27FC236}">
                <a16:creationId xmlns:a16="http://schemas.microsoft.com/office/drawing/2014/main" id="{84FD5758-5EB4-F2A2-C138-2FED3304FA6E}"/>
              </a:ext>
            </a:extLst>
          </p:cNvPr>
          <p:cNvSpPr/>
          <p:nvPr/>
        </p:nvSpPr>
        <p:spPr>
          <a:xfrm>
            <a:off x="4585313" y="2036610"/>
            <a:ext cx="2612751" cy="565328"/>
          </a:xfrm>
          <a:prstGeom prst="roundRect">
            <a:avLst>
              <a:gd name="adj" fmla="val 2832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34" charset="-128"/>
                <a:ea typeface="Meiryo UI" panose="020B0604030504040204" pitchFamily="34" charset="-128"/>
              </a:rPr>
              <a:t>帳票定義改定までの流れ</a:t>
            </a:r>
            <a:endParaRPr kumimoji="1" lang="ja-JP" altLang="en-US" sz="1400" b="1" dirty="0">
              <a:solidFill>
                <a:schemeClr val="bg1"/>
              </a:solidFill>
              <a:latin typeface="Meiryo UI" panose="020B0604030504040204" pitchFamily="34" charset="-128"/>
              <a:ea typeface="Meiryo UI" panose="020B0604030504040204" pitchFamily="34" charset="-128"/>
            </a:endParaRPr>
          </a:p>
        </p:txBody>
      </p:sp>
      <p:sp>
        <p:nvSpPr>
          <p:cNvPr id="33" name="矢印: 右 32">
            <a:extLst>
              <a:ext uri="{FF2B5EF4-FFF2-40B4-BE49-F238E27FC236}">
                <a16:creationId xmlns:a16="http://schemas.microsoft.com/office/drawing/2014/main" id="{035D75E3-64DD-C536-BF6E-18D66561FA89}"/>
              </a:ext>
            </a:extLst>
          </p:cNvPr>
          <p:cNvSpPr/>
          <p:nvPr/>
        </p:nvSpPr>
        <p:spPr>
          <a:xfrm>
            <a:off x="5611055" y="3086567"/>
            <a:ext cx="665592" cy="48821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2" name="矢印: 右 41">
            <a:extLst>
              <a:ext uri="{FF2B5EF4-FFF2-40B4-BE49-F238E27FC236}">
                <a16:creationId xmlns:a16="http://schemas.microsoft.com/office/drawing/2014/main" id="{1D99BC5A-2C5D-F755-33AF-C1085E156CA5}"/>
              </a:ext>
            </a:extLst>
          </p:cNvPr>
          <p:cNvSpPr/>
          <p:nvPr/>
        </p:nvSpPr>
        <p:spPr>
          <a:xfrm>
            <a:off x="7828113" y="3087391"/>
            <a:ext cx="665592" cy="48821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右 42">
            <a:extLst>
              <a:ext uri="{FF2B5EF4-FFF2-40B4-BE49-F238E27FC236}">
                <a16:creationId xmlns:a16="http://schemas.microsoft.com/office/drawing/2014/main" id="{6C18BFC0-9018-1BD4-A5AD-07DFB24F6944}"/>
              </a:ext>
            </a:extLst>
          </p:cNvPr>
          <p:cNvSpPr/>
          <p:nvPr/>
        </p:nvSpPr>
        <p:spPr>
          <a:xfrm>
            <a:off x="3357133" y="3061163"/>
            <a:ext cx="665592" cy="48821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4" name="テキスト ボックス 43">
            <a:extLst>
              <a:ext uri="{FF2B5EF4-FFF2-40B4-BE49-F238E27FC236}">
                <a16:creationId xmlns:a16="http://schemas.microsoft.com/office/drawing/2014/main" id="{603C2331-0839-4A98-40ED-41BDDE428528}"/>
              </a:ext>
            </a:extLst>
          </p:cNvPr>
          <p:cNvSpPr txBox="1"/>
          <p:nvPr/>
        </p:nvSpPr>
        <p:spPr>
          <a:xfrm>
            <a:off x="1584236" y="4116547"/>
            <a:ext cx="1914129" cy="461665"/>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■公開済み定義</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　　</a:t>
            </a:r>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Excel</a:t>
            </a: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定義出力</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94" name="テキスト ボックス 193">
            <a:extLst>
              <a:ext uri="{FF2B5EF4-FFF2-40B4-BE49-F238E27FC236}">
                <a16:creationId xmlns:a16="http://schemas.microsoft.com/office/drawing/2014/main" id="{A78D75BC-4A1E-0051-85BD-B6F8EE8E60AB}"/>
              </a:ext>
            </a:extLst>
          </p:cNvPr>
          <p:cNvSpPr txBox="1"/>
          <p:nvPr/>
        </p:nvSpPr>
        <p:spPr>
          <a:xfrm>
            <a:off x="4005338" y="4116547"/>
            <a:ext cx="1503854" cy="461665"/>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a:t>
            </a:r>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Excel</a:t>
            </a: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上で修正</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・クラスター配置</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95" name="テキスト ボックス 194">
            <a:extLst>
              <a:ext uri="{FF2B5EF4-FFF2-40B4-BE49-F238E27FC236}">
                <a16:creationId xmlns:a16="http://schemas.microsoft.com/office/drawing/2014/main" id="{B0D36001-9CFE-AF55-55B8-565645AE0E19}"/>
              </a:ext>
            </a:extLst>
          </p:cNvPr>
          <p:cNvSpPr txBox="1"/>
          <p:nvPr/>
        </p:nvSpPr>
        <p:spPr>
          <a:xfrm>
            <a:off x="6276647" y="4059413"/>
            <a:ext cx="1732113" cy="646331"/>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■帳票定義の更新</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・パラメーターの修正</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・帳票名称自動作成</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96" name="テキスト ボックス 195">
            <a:extLst>
              <a:ext uri="{FF2B5EF4-FFF2-40B4-BE49-F238E27FC236}">
                <a16:creationId xmlns:a16="http://schemas.microsoft.com/office/drawing/2014/main" id="{AFAA353A-E3A0-A191-271D-CA2010073D85}"/>
              </a:ext>
            </a:extLst>
          </p:cNvPr>
          <p:cNvSpPr txBox="1"/>
          <p:nvPr/>
        </p:nvSpPr>
        <p:spPr>
          <a:xfrm>
            <a:off x="8530819" y="4035274"/>
            <a:ext cx="1507025" cy="276999"/>
          </a:xfrm>
          <a:prstGeom prst="rect">
            <a:avLst/>
          </a:prstGeom>
          <a:noFill/>
        </p:spPr>
        <p:txBody>
          <a:bodyPr wrap="square" rtlCol="0">
            <a:spAutoFit/>
          </a:bodyPr>
          <a:lstStyle/>
          <a:p>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■サーバーへ公開</a:t>
            </a:r>
            <a:endParaRPr lang="en-US" altLang="ja-JP" sz="1200" b="1" dirty="0">
              <a:solidFill>
                <a:schemeClr val="accent5">
                  <a:lumMod val="50000"/>
                </a:schemeClr>
              </a:solidFill>
              <a:latin typeface="メイリオ" panose="020B0604030504040204" pitchFamily="50" charset="-128"/>
              <a:ea typeface="メイリオ" panose="020B0604030504040204" pitchFamily="50" charset="-128"/>
            </a:endParaRPr>
          </a:p>
        </p:txBody>
      </p:sp>
      <p:pic>
        <p:nvPicPr>
          <p:cNvPr id="2" name="図 1">
            <a:extLst>
              <a:ext uri="{FF2B5EF4-FFF2-40B4-BE49-F238E27FC236}">
                <a16:creationId xmlns:a16="http://schemas.microsoft.com/office/drawing/2014/main" id="{F290CDAF-3BAA-9417-DD0F-3D67757CD6B4}"/>
              </a:ext>
            </a:extLst>
          </p:cNvPr>
          <p:cNvPicPr>
            <a:picLocks noChangeAspect="1"/>
          </p:cNvPicPr>
          <p:nvPr/>
        </p:nvPicPr>
        <p:blipFill>
          <a:blip r:embed="rId2"/>
          <a:stretch>
            <a:fillRect/>
          </a:stretch>
        </p:blipFill>
        <p:spPr>
          <a:xfrm>
            <a:off x="6563109" y="3007564"/>
            <a:ext cx="978541" cy="584775"/>
          </a:xfrm>
          <a:prstGeom prst="rect">
            <a:avLst/>
          </a:prstGeom>
          <a:ln>
            <a:solidFill>
              <a:schemeClr val="tx1">
                <a:lumMod val="50000"/>
                <a:lumOff val="50000"/>
              </a:schemeClr>
            </a:solidFill>
          </a:ln>
        </p:spPr>
      </p:pic>
      <p:sp>
        <p:nvSpPr>
          <p:cNvPr id="3" name="テキスト ボックス 2">
            <a:extLst>
              <a:ext uri="{FF2B5EF4-FFF2-40B4-BE49-F238E27FC236}">
                <a16:creationId xmlns:a16="http://schemas.microsoft.com/office/drawing/2014/main" id="{53DCE57B-47A1-E2CA-CD4F-ADC38C476DEF}"/>
              </a:ext>
            </a:extLst>
          </p:cNvPr>
          <p:cNvSpPr txBox="1"/>
          <p:nvPr/>
        </p:nvSpPr>
        <p:spPr>
          <a:xfrm>
            <a:off x="2064152" y="3610621"/>
            <a:ext cx="722708" cy="276999"/>
          </a:xfrm>
          <a:prstGeom prst="rect">
            <a:avLst/>
          </a:prstGeom>
          <a:noFill/>
        </p:spPr>
        <p:txBody>
          <a:bodyPr wrap="square" rtlCol="0">
            <a:spAutoFit/>
          </a:bodyPr>
          <a:lstStyle/>
          <a:p>
            <a:r>
              <a:rPr lang="en-US" altLang="ja-JP" sz="1200" b="1" dirty="0">
                <a:solidFill>
                  <a:schemeClr val="accent5">
                    <a:lumMod val="50000"/>
                  </a:schemeClr>
                </a:solidFill>
                <a:latin typeface="メイリオ" panose="020B0604030504040204" pitchFamily="50" charset="-128"/>
                <a:ea typeface="メイリオ" panose="020B0604030504040204" pitchFamily="50" charset="-128"/>
              </a:rPr>
              <a:t>Rev:1</a:t>
            </a:r>
          </a:p>
        </p:txBody>
      </p:sp>
      <p:sp>
        <p:nvSpPr>
          <p:cNvPr id="5" name="テキスト ボックス 4">
            <a:extLst>
              <a:ext uri="{FF2B5EF4-FFF2-40B4-BE49-F238E27FC236}">
                <a16:creationId xmlns:a16="http://schemas.microsoft.com/office/drawing/2014/main" id="{74F04D31-53EF-1525-7D32-FB64D6F72BDD}"/>
              </a:ext>
            </a:extLst>
          </p:cNvPr>
          <p:cNvSpPr txBox="1"/>
          <p:nvPr/>
        </p:nvSpPr>
        <p:spPr>
          <a:xfrm>
            <a:off x="6781349" y="3610621"/>
            <a:ext cx="722708" cy="276999"/>
          </a:xfrm>
          <a:prstGeom prst="rect">
            <a:avLst/>
          </a:prstGeom>
          <a:noFill/>
        </p:spPr>
        <p:txBody>
          <a:bodyPr wrap="square" rtlCol="0">
            <a:spAutoFit/>
          </a:bodyPr>
          <a:lstStyle/>
          <a:p>
            <a:r>
              <a:rPr lang="en-US" altLang="ja-JP" sz="1200" b="1" dirty="0">
                <a:solidFill>
                  <a:srgbClr val="FF0000"/>
                </a:solidFill>
                <a:latin typeface="メイリオ" panose="020B0604030504040204" pitchFamily="50" charset="-128"/>
                <a:ea typeface="メイリオ" panose="020B0604030504040204" pitchFamily="50" charset="-128"/>
              </a:rPr>
              <a:t>Rev:2</a:t>
            </a:r>
          </a:p>
        </p:txBody>
      </p:sp>
      <p:pic>
        <p:nvPicPr>
          <p:cNvPr id="7" name="図 6" descr="ロゴ&#10;&#10;AI によって生成されたコンテンツは間違っている可能性があります。">
            <a:extLst>
              <a:ext uri="{FF2B5EF4-FFF2-40B4-BE49-F238E27FC236}">
                <a16:creationId xmlns:a16="http://schemas.microsoft.com/office/drawing/2014/main" id="{27BCE197-BF92-4E27-78D5-E8220712FB72}"/>
              </a:ext>
            </a:extLst>
          </p:cNvPr>
          <p:cNvPicPr>
            <a:picLocks noChangeAspect="1"/>
          </p:cNvPicPr>
          <p:nvPr/>
        </p:nvPicPr>
        <p:blipFill>
          <a:blip r:embed="rId3"/>
          <a:stretch>
            <a:fillRect/>
          </a:stretch>
        </p:blipFill>
        <p:spPr>
          <a:xfrm>
            <a:off x="8843740" y="2829106"/>
            <a:ext cx="875400" cy="1010308"/>
          </a:xfrm>
          <a:prstGeom prst="rect">
            <a:avLst/>
          </a:prstGeom>
        </p:spPr>
      </p:pic>
      <p:pic>
        <p:nvPicPr>
          <p:cNvPr id="8" name="図 7" descr="黒い背景に白い文字がある&#10;&#10;AI によって生成されたコンテンツは間違っている可能性があります。">
            <a:extLst>
              <a:ext uri="{FF2B5EF4-FFF2-40B4-BE49-F238E27FC236}">
                <a16:creationId xmlns:a16="http://schemas.microsoft.com/office/drawing/2014/main" id="{55727067-15CA-FC95-4151-910EFFE9621B}"/>
              </a:ext>
            </a:extLst>
          </p:cNvPr>
          <p:cNvPicPr>
            <a:picLocks noChangeAspect="1"/>
          </p:cNvPicPr>
          <p:nvPr/>
        </p:nvPicPr>
        <p:blipFill>
          <a:blip r:embed="rId4"/>
          <a:stretch>
            <a:fillRect/>
          </a:stretch>
        </p:blipFill>
        <p:spPr>
          <a:xfrm>
            <a:off x="4372761" y="2857442"/>
            <a:ext cx="888258" cy="888258"/>
          </a:xfrm>
          <a:prstGeom prst="rect">
            <a:avLst/>
          </a:prstGeom>
        </p:spPr>
      </p:pic>
    </p:spTree>
    <p:extLst>
      <p:ext uri="{BB962C8B-B14F-4D97-AF65-F5344CB8AC3E}">
        <p14:creationId xmlns:p14="http://schemas.microsoft.com/office/powerpoint/2010/main" val="410438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角丸四角形 28">
            <a:extLst>
              <a:ext uri="{FF2B5EF4-FFF2-40B4-BE49-F238E27FC236}">
                <a16:creationId xmlns:a16="http://schemas.microsoft.com/office/drawing/2014/main" id="{CE7C2C4B-BCA6-2BCA-FF1C-F8B261E08AE8}"/>
              </a:ext>
            </a:extLst>
          </p:cNvPr>
          <p:cNvSpPr/>
          <p:nvPr/>
        </p:nvSpPr>
        <p:spPr>
          <a:xfrm>
            <a:off x="1066731" y="1290179"/>
            <a:ext cx="2824822" cy="3578981"/>
          </a:xfrm>
          <a:prstGeom prst="roundRect">
            <a:avLst>
              <a:gd name="adj" fmla="val 3446"/>
            </a:avLst>
          </a:prstGeom>
          <a:solidFill>
            <a:srgbClr val="66CC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45D041BE-2751-0E1B-AC61-6771430BF51F}"/>
              </a:ext>
            </a:extLst>
          </p:cNvPr>
          <p:cNvSpPr txBox="1"/>
          <p:nvPr/>
        </p:nvSpPr>
        <p:spPr>
          <a:xfrm>
            <a:off x="0" y="0"/>
            <a:ext cx="12192000" cy="620688"/>
          </a:xfrm>
          <a:prstGeom prst="rect">
            <a:avLst/>
          </a:prstGeom>
          <a:noFill/>
          <a:ln>
            <a:noFill/>
          </a:ln>
        </p:spPr>
        <p:txBody>
          <a:bodyPr wrap="square" tIns="72000" bIns="0" rtlCol="0" anchor="ctr">
            <a:noAutofit/>
          </a:bodyPr>
          <a:lstStyle>
            <a:defPPr>
              <a:defRPr kumimoji="1" lang="ja-JP"/>
            </a:defPPr>
            <a:lvl1pPr marL="177800">
              <a:defRPr sz="2400" b="1">
                <a:solidFill>
                  <a:schemeClr val="bg1"/>
                </a:solidFill>
                <a:latin typeface="メイリオ" pitchFamily="50" charset="-128"/>
                <a:ea typeface="メイリオ" pitchFamily="50" charset="-128"/>
                <a:cs typeface="メイリオ" pitchFamily="50" charset="-128"/>
              </a:defRPr>
            </a:lvl1pPr>
          </a:lstStyle>
          <a:p>
            <a:r>
              <a:rPr lang="ja-JP" altLang="en-US" dirty="0"/>
              <a:t>ハンズオン概要</a:t>
            </a:r>
          </a:p>
        </p:txBody>
      </p:sp>
      <p:sp>
        <p:nvSpPr>
          <p:cNvPr id="18" name="角丸四角形 29">
            <a:extLst>
              <a:ext uri="{FF2B5EF4-FFF2-40B4-BE49-F238E27FC236}">
                <a16:creationId xmlns:a16="http://schemas.microsoft.com/office/drawing/2014/main" id="{A4979EF9-B910-635C-2D2B-FD0B7035F042}"/>
              </a:ext>
            </a:extLst>
          </p:cNvPr>
          <p:cNvSpPr/>
          <p:nvPr/>
        </p:nvSpPr>
        <p:spPr>
          <a:xfrm>
            <a:off x="8291208" y="1290178"/>
            <a:ext cx="2824822" cy="3578982"/>
          </a:xfrm>
          <a:prstGeom prst="roundRect">
            <a:avLst>
              <a:gd name="adj" fmla="val 3035"/>
            </a:avLst>
          </a:prstGeom>
          <a:solidFill>
            <a:srgbClr val="FF66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角丸四角形 50">
            <a:extLst>
              <a:ext uri="{FF2B5EF4-FFF2-40B4-BE49-F238E27FC236}">
                <a16:creationId xmlns:a16="http://schemas.microsoft.com/office/drawing/2014/main" id="{BCB1A819-2E6E-AFDE-F1B1-9E81594B5C84}"/>
              </a:ext>
            </a:extLst>
          </p:cNvPr>
          <p:cNvSpPr/>
          <p:nvPr/>
        </p:nvSpPr>
        <p:spPr>
          <a:xfrm>
            <a:off x="8515512" y="1458726"/>
            <a:ext cx="2448372" cy="530853"/>
          </a:xfrm>
          <a:prstGeom prst="roundRect">
            <a:avLst>
              <a:gd name="adj" fmla="val 19236"/>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34" charset="-128"/>
                <a:ea typeface="Meiryo UI" panose="020B0604030504040204" pitchFamily="34" charset="-128"/>
              </a:rPr>
              <a:t>帳票定義を使いやすくする</a:t>
            </a:r>
            <a:endParaRPr lang="en-US" altLang="ja-JP" sz="1400" b="1" dirty="0">
              <a:solidFill>
                <a:schemeClr val="bg1"/>
              </a:solidFill>
              <a:latin typeface="Meiryo UI" panose="020B0604030504040204" pitchFamily="34" charset="-128"/>
              <a:ea typeface="Meiryo UI" panose="020B0604030504040204" pitchFamily="34" charset="-128"/>
            </a:endParaRPr>
          </a:p>
        </p:txBody>
      </p:sp>
      <p:sp>
        <p:nvSpPr>
          <p:cNvPr id="136" name="角丸四角形 7">
            <a:extLst>
              <a:ext uri="{FF2B5EF4-FFF2-40B4-BE49-F238E27FC236}">
                <a16:creationId xmlns:a16="http://schemas.microsoft.com/office/drawing/2014/main" id="{CD717296-E13E-C478-97AF-C2E385FD24A9}"/>
              </a:ext>
            </a:extLst>
          </p:cNvPr>
          <p:cNvSpPr/>
          <p:nvPr/>
        </p:nvSpPr>
        <p:spPr>
          <a:xfrm>
            <a:off x="4683589" y="1290178"/>
            <a:ext cx="2824822" cy="3578982"/>
          </a:xfrm>
          <a:prstGeom prst="roundRect">
            <a:avLst>
              <a:gd name="adj" fmla="val 3402"/>
            </a:avLst>
          </a:prstGeom>
          <a:solidFill>
            <a:srgbClr val="00CC9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角丸四角形 15">
            <a:extLst>
              <a:ext uri="{FF2B5EF4-FFF2-40B4-BE49-F238E27FC236}">
                <a16:creationId xmlns:a16="http://schemas.microsoft.com/office/drawing/2014/main" id="{C347979E-1F1B-C862-DE4A-260835F0E9BA}"/>
              </a:ext>
            </a:extLst>
          </p:cNvPr>
          <p:cNvSpPr/>
          <p:nvPr/>
        </p:nvSpPr>
        <p:spPr>
          <a:xfrm>
            <a:off x="4894692" y="1458727"/>
            <a:ext cx="2448372" cy="530853"/>
          </a:xfrm>
          <a:prstGeom prst="roundRect">
            <a:avLst>
              <a:gd name="adj" fmla="val 18685"/>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34" charset="-128"/>
                <a:ea typeface="Meiryo UI" panose="020B0604030504040204" pitchFamily="34" charset="-128"/>
              </a:rPr>
              <a:t>帳票定義の更新</a:t>
            </a:r>
            <a:endParaRPr kumimoji="1" lang="ja-JP" altLang="en-US" sz="1400" b="1" dirty="0">
              <a:solidFill>
                <a:schemeClr val="bg1"/>
              </a:solidFill>
              <a:latin typeface="Meiryo UI" panose="020B0604030504040204" pitchFamily="34" charset="-128"/>
              <a:ea typeface="Meiryo UI" panose="020B0604030504040204" pitchFamily="34" charset="-128"/>
            </a:endParaRPr>
          </a:p>
        </p:txBody>
      </p:sp>
      <p:sp>
        <p:nvSpPr>
          <p:cNvPr id="13" name="角丸四角形 37">
            <a:extLst>
              <a:ext uri="{FF2B5EF4-FFF2-40B4-BE49-F238E27FC236}">
                <a16:creationId xmlns:a16="http://schemas.microsoft.com/office/drawing/2014/main" id="{B8EFC424-A0BE-338E-CBDB-CFB7AE4B0080}"/>
              </a:ext>
            </a:extLst>
          </p:cNvPr>
          <p:cNvSpPr/>
          <p:nvPr/>
        </p:nvSpPr>
        <p:spPr>
          <a:xfrm>
            <a:off x="1184189" y="1458726"/>
            <a:ext cx="2612751" cy="530853"/>
          </a:xfrm>
          <a:prstGeom prst="roundRect">
            <a:avLst>
              <a:gd name="adj" fmla="val 2832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34" charset="-128"/>
                <a:ea typeface="Meiryo UI" panose="020B0604030504040204" pitchFamily="34" charset="-128"/>
              </a:rPr>
              <a:t>帳票定義の作成</a:t>
            </a:r>
            <a:endParaRPr kumimoji="1" lang="ja-JP" altLang="en-US" sz="1400" b="1" dirty="0">
              <a:solidFill>
                <a:schemeClr val="bg1"/>
              </a:solidFill>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8A8C3129-CE24-A1BB-CCA3-0C044456D80D}"/>
              </a:ext>
            </a:extLst>
          </p:cNvPr>
          <p:cNvSpPr/>
          <p:nvPr/>
        </p:nvSpPr>
        <p:spPr>
          <a:xfrm>
            <a:off x="4653948" y="2017838"/>
            <a:ext cx="2843472" cy="2000548"/>
          </a:xfrm>
          <a:prstGeom prst="rect">
            <a:avLst/>
          </a:prstGeom>
        </p:spPr>
        <p:txBody>
          <a:bodyPr wrap="square">
            <a:spAutoFit/>
          </a:bodyPr>
          <a:lstStyle/>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a:t>
            </a:r>
            <a:r>
              <a:rPr lang="en-US" altLang="ja-JP" sz="1600" b="1" dirty="0">
                <a:solidFill>
                  <a:schemeClr val="bg1"/>
                </a:solidFill>
                <a:latin typeface="メイリオ" panose="020B0604030504040204" pitchFamily="50" charset="-128"/>
                <a:ea typeface="メイリオ" panose="020B0604030504040204" pitchFamily="50" charset="-128"/>
              </a:rPr>
              <a:t>Excel</a:t>
            </a:r>
            <a:r>
              <a:rPr lang="ja-JP" altLang="en-US" sz="1600" b="1" dirty="0">
                <a:solidFill>
                  <a:schemeClr val="bg1"/>
                </a:solidFill>
                <a:latin typeface="メイリオ" panose="020B0604030504040204" pitchFamily="50" charset="-128"/>
                <a:ea typeface="メイリオ" panose="020B0604030504040204" pitchFamily="50" charset="-128"/>
              </a:rPr>
              <a:t>定義出力</a:t>
            </a:r>
            <a:endParaRPr lang="en-US" altLang="ja-JP" sz="16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・アクションクラスター</a:t>
            </a:r>
            <a:endParaRPr lang="en-US" altLang="ja-JP" sz="16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・カーボンコピー</a:t>
            </a:r>
            <a:endParaRPr lang="en-US" altLang="ja-JP" sz="16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・帳票名称自動作成</a:t>
            </a:r>
            <a:endParaRPr lang="en-US" altLang="ja-JP" sz="1600" b="1" dirty="0">
              <a:solidFill>
                <a:schemeClr val="accent5">
                  <a:lumMod val="20000"/>
                  <a:lumOff val="8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49FF21-813C-4531-56CA-7315B82A8292}"/>
              </a:ext>
            </a:extLst>
          </p:cNvPr>
          <p:cNvSpPr/>
          <p:nvPr/>
        </p:nvSpPr>
        <p:spPr>
          <a:xfrm>
            <a:off x="8429352" y="2017838"/>
            <a:ext cx="2620691" cy="1331134"/>
          </a:xfrm>
          <a:prstGeom prst="rect">
            <a:avLst/>
          </a:prstGeom>
        </p:spPr>
        <p:txBody>
          <a:bodyPr wrap="square">
            <a:spAutoFit/>
          </a:bodyPr>
          <a:lstStyle/>
          <a:p>
            <a:pPr defTabSz="4210050">
              <a:lnSpc>
                <a:spcPct val="200000"/>
              </a:lnSpc>
            </a:pPr>
            <a:r>
              <a:rPr lang="ja-JP" altLang="en-US" sz="1400" b="1" dirty="0">
                <a:solidFill>
                  <a:schemeClr val="bg1"/>
                </a:solidFill>
                <a:latin typeface="メイリオ" panose="020B0604030504040204" pitchFamily="50" charset="-128"/>
                <a:ea typeface="メイリオ" panose="020B0604030504040204" pitchFamily="50" charset="-128"/>
              </a:rPr>
              <a:t>・ネットワーク設定</a:t>
            </a:r>
            <a:endParaRPr lang="en-US" altLang="ja-JP" sz="14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400" b="1" dirty="0">
                <a:solidFill>
                  <a:schemeClr val="bg1"/>
                </a:solidFill>
                <a:latin typeface="メイリオ" panose="020B0604030504040204" pitchFamily="50" charset="-128"/>
                <a:ea typeface="メイリオ" panose="020B0604030504040204" pitchFamily="50" charset="-128"/>
              </a:rPr>
              <a:t>・計算式の設定</a:t>
            </a:r>
            <a:endParaRPr lang="en-US" altLang="ja-JP" sz="14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400" b="1" dirty="0">
                <a:solidFill>
                  <a:schemeClr val="bg1"/>
                </a:solidFill>
                <a:latin typeface="メイリオ" panose="020B0604030504040204" pitchFamily="50" charset="-128"/>
                <a:ea typeface="メイリオ" panose="020B0604030504040204" pitchFamily="50" charset="-128"/>
              </a:rPr>
              <a:t>・カスタムマスターの設定</a:t>
            </a:r>
            <a:endParaRPr lang="en-US" altLang="ja-JP" sz="1400" b="1" dirty="0">
              <a:solidFill>
                <a:schemeClr val="bg1"/>
              </a:solidFill>
              <a:latin typeface="メイリオ" panose="020B0604030504040204" pitchFamily="50" charset="-128"/>
              <a:ea typeface="メイリオ" panose="020B0604030504040204" pitchFamily="50" charset="-128"/>
            </a:endParaRPr>
          </a:p>
        </p:txBody>
      </p:sp>
      <p:sp>
        <p:nvSpPr>
          <p:cNvPr id="28" name="矢印: 右 27">
            <a:extLst>
              <a:ext uri="{FF2B5EF4-FFF2-40B4-BE49-F238E27FC236}">
                <a16:creationId xmlns:a16="http://schemas.microsoft.com/office/drawing/2014/main" id="{0F0B7BBA-9818-C226-1912-A5EBC05860A9}"/>
              </a:ext>
            </a:extLst>
          </p:cNvPr>
          <p:cNvSpPr/>
          <p:nvPr/>
        </p:nvSpPr>
        <p:spPr>
          <a:xfrm>
            <a:off x="3948070" y="2867933"/>
            <a:ext cx="688240" cy="61807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正方形/長方形 36">
            <a:extLst>
              <a:ext uri="{FF2B5EF4-FFF2-40B4-BE49-F238E27FC236}">
                <a16:creationId xmlns:a16="http://schemas.microsoft.com/office/drawing/2014/main" id="{3DDF9146-F646-14F7-6EE3-3244014C8DB5}"/>
              </a:ext>
            </a:extLst>
          </p:cNvPr>
          <p:cNvSpPr/>
          <p:nvPr/>
        </p:nvSpPr>
        <p:spPr>
          <a:xfrm>
            <a:off x="1224985" y="2017838"/>
            <a:ext cx="2535149" cy="2492990"/>
          </a:xfrm>
          <a:prstGeom prst="rect">
            <a:avLst/>
          </a:prstGeom>
        </p:spPr>
        <p:txBody>
          <a:bodyPr wrap="square">
            <a:spAutoFit/>
          </a:bodyPr>
          <a:lstStyle/>
          <a:p>
            <a:pPr>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cs typeface="Meiryo UI" pitchFamily="50" charset="-128"/>
              </a:rPr>
              <a:t>・</a:t>
            </a:r>
            <a:r>
              <a:rPr lang="en-US" altLang="ja-JP" sz="1600" b="1" dirty="0">
                <a:solidFill>
                  <a:schemeClr val="bg1"/>
                </a:solidFill>
                <a:latin typeface="メイリオ" panose="020B0604030504040204" pitchFamily="50" charset="-128"/>
                <a:ea typeface="メイリオ" panose="020B0604030504040204" pitchFamily="50" charset="-128"/>
                <a:cs typeface="Meiryo UI" pitchFamily="50" charset="-128"/>
              </a:rPr>
              <a:t>Excel</a:t>
            </a:r>
            <a:r>
              <a:rPr lang="ja-JP" altLang="en-US" sz="1600" b="1" dirty="0">
                <a:solidFill>
                  <a:schemeClr val="bg1"/>
                </a:solidFill>
                <a:latin typeface="メイリオ" panose="020B0604030504040204" pitchFamily="50" charset="-128"/>
                <a:ea typeface="メイリオ" panose="020B0604030504040204" pitchFamily="50" charset="-128"/>
                <a:cs typeface="Meiryo UI" pitchFamily="50" charset="-128"/>
              </a:rPr>
              <a:t>ファイルの設定</a:t>
            </a:r>
            <a:endParaRPr lang="en-US" altLang="ja-JP" sz="1600" b="1" dirty="0">
              <a:solidFill>
                <a:schemeClr val="bg1"/>
              </a:solidFill>
              <a:latin typeface="メイリオ" panose="020B0604030504040204" pitchFamily="50" charset="-128"/>
              <a:ea typeface="メイリオ" panose="020B0604030504040204" pitchFamily="50" charset="-128"/>
              <a:cs typeface="Meiryo UI" pitchFamily="50" charset="-128"/>
            </a:endParaRPr>
          </a:p>
          <a:p>
            <a:pPr>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cs typeface="Meiryo UI" pitchFamily="50" charset="-128"/>
              </a:rPr>
              <a:t>・クラスターの設定</a:t>
            </a:r>
            <a:endParaRPr lang="en-US" altLang="ja-JP" sz="1600" b="1" dirty="0">
              <a:solidFill>
                <a:schemeClr val="bg1"/>
              </a:solidFill>
              <a:latin typeface="メイリオ" panose="020B0604030504040204" pitchFamily="50" charset="-128"/>
              <a:ea typeface="メイリオ" panose="020B0604030504040204" pitchFamily="50" charset="-128"/>
              <a:cs typeface="Meiryo UI" pitchFamily="50" charset="-128"/>
            </a:endParaRPr>
          </a:p>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・入力書式の設定</a:t>
            </a:r>
            <a:endParaRPr lang="en-US" altLang="ja-JP" sz="16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・選択肢の設定</a:t>
            </a:r>
            <a:endParaRPr lang="en-US" altLang="ja-JP" sz="1600" b="1" dirty="0">
              <a:solidFill>
                <a:schemeClr val="bg1"/>
              </a:solidFill>
              <a:latin typeface="メイリオ" panose="020B0604030504040204" pitchFamily="50" charset="-128"/>
              <a:ea typeface="メイリオ" panose="020B0604030504040204" pitchFamily="50" charset="-128"/>
            </a:endParaRPr>
          </a:p>
          <a:p>
            <a:pPr defTabSz="4210050">
              <a:lnSpc>
                <a:spcPct val="200000"/>
              </a:lnSpc>
            </a:pPr>
            <a:r>
              <a:rPr lang="ja-JP" altLang="en-US" sz="1600" b="1" dirty="0">
                <a:solidFill>
                  <a:schemeClr val="bg1"/>
                </a:solidFill>
                <a:latin typeface="メイリオ" panose="020B0604030504040204" pitchFamily="50" charset="-128"/>
                <a:ea typeface="メイリオ" panose="020B0604030504040204" pitchFamily="50" charset="-128"/>
              </a:rPr>
              <a:t>・入力帳票の作成</a:t>
            </a:r>
            <a:endParaRPr lang="en-US" altLang="ja-JP" sz="1600" b="1"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E598A0D8-28A0-706C-653A-1F4F90684EA8}"/>
              </a:ext>
            </a:extLst>
          </p:cNvPr>
          <p:cNvSpPr txBox="1"/>
          <p:nvPr/>
        </p:nvSpPr>
        <p:spPr>
          <a:xfrm>
            <a:off x="695400" y="5733256"/>
            <a:ext cx="10801200" cy="338554"/>
          </a:xfrm>
          <a:prstGeom prst="rect">
            <a:avLst/>
          </a:prstGeom>
          <a:noFill/>
        </p:spPr>
        <p:txBody>
          <a:bodyPr wrap="square" rtlCol="0">
            <a:spAutoFit/>
          </a:bodyPr>
          <a:lstStyle/>
          <a:p>
            <a:r>
              <a:rPr kumimoji="1" lang="ja-JP" altLang="en-US" sz="1600" b="1" dirty="0">
                <a:solidFill>
                  <a:schemeClr val="accent5">
                    <a:lumMod val="50000"/>
                  </a:schemeClr>
                </a:solidFill>
                <a:latin typeface="メイリオ" panose="020B0604030504040204" pitchFamily="50" charset="-128"/>
                <a:ea typeface="メイリオ" panose="020B0604030504040204" pitchFamily="50" charset="-128"/>
              </a:rPr>
              <a:t>この</a:t>
            </a:r>
            <a:r>
              <a:rPr lang="ja-JP" altLang="en-US" sz="1600" b="1" dirty="0">
                <a:solidFill>
                  <a:schemeClr val="accent5">
                    <a:lumMod val="50000"/>
                  </a:schemeClr>
                </a:solidFill>
                <a:latin typeface="メイリオ" panose="020B0604030504040204" pitchFamily="50" charset="-128"/>
                <a:ea typeface="メイリオ" panose="020B0604030504040204" pitchFamily="50" charset="-128"/>
              </a:rPr>
              <a:t>講習</a:t>
            </a:r>
            <a:r>
              <a:rPr kumimoji="1" lang="ja-JP" altLang="en-US" sz="1600" b="1" dirty="0">
                <a:solidFill>
                  <a:schemeClr val="accent5">
                    <a:lumMod val="50000"/>
                  </a:schemeClr>
                </a:solidFill>
                <a:latin typeface="メイリオ" panose="020B0604030504040204" pitchFamily="50" charset="-128"/>
                <a:ea typeface="メイリオ" panose="020B0604030504040204" pitchFamily="50" charset="-128"/>
              </a:rPr>
              <a:t>では、帳票定義を更新するための改訂</a:t>
            </a:r>
            <a:r>
              <a:rPr lang="ja-JP" altLang="en-US" sz="1600" b="1" dirty="0">
                <a:solidFill>
                  <a:schemeClr val="accent5">
                    <a:lumMod val="50000"/>
                  </a:schemeClr>
                </a:solidFill>
                <a:latin typeface="メイリオ" panose="020B0604030504040204" pitchFamily="50" charset="-128"/>
                <a:ea typeface="メイリオ" panose="020B0604030504040204" pitchFamily="50" charset="-128"/>
              </a:rPr>
              <a:t>操作についてをメインに扱います</a:t>
            </a:r>
            <a:endParaRPr kumimoji="1" lang="en-US" altLang="ja-JP" sz="16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4" name="矢印: 右 3">
            <a:extLst>
              <a:ext uri="{FF2B5EF4-FFF2-40B4-BE49-F238E27FC236}">
                <a16:creationId xmlns:a16="http://schemas.microsoft.com/office/drawing/2014/main" id="{90A608C4-4000-5539-91A8-92888104EE35}"/>
              </a:ext>
            </a:extLst>
          </p:cNvPr>
          <p:cNvSpPr/>
          <p:nvPr/>
        </p:nvSpPr>
        <p:spPr>
          <a:xfrm>
            <a:off x="7563407" y="2867932"/>
            <a:ext cx="688240" cy="618077"/>
          </a:xfrm>
          <a:prstGeom prs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角丸四角形 10">
            <a:extLst>
              <a:ext uri="{FF2B5EF4-FFF2-40B4-BE49-F238E27FC236}">
                <a16:creationId xmlns:a16="http://schemas.microsoft.com/office/drawing/2014/main" id="{132225B5-64AA-D7B0-5F84-98FAE8B9041A}"/>
              </a:ext>
            </a:extLst>
          </p:cNvPr>
          <p:cNvSpPr/>
          <p:nvPr/>
        </p:nvSpPr>
        <p:spPr>
          <a:xfrm>
            <a:off x="4653948" y="1250503"/>
            <a:ext cx="2882072" cy="3618658"/>
          </a:xfrm>
          <a:prstGeom prst="roundRect">
            <a:avLst>
              <a:gd name="adj" fmla="val 3070"/>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25002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帳票定義の改訂</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正方形/長方形 3"/>
          <p:cNvSpPr/>
          <p:nvPr/>
        </p:nvSpPr>
        <p:spPr>
          <a:xfrm>
            <a:off x="263352" y="3356992"/>
            <a:ext cx="8640960" cy="461665"/>
          </a:xfrm>
          <a:prstGeom prst="rect">
            <a:avLst/>
          </a:prstGeom>
        </p:spPr>
        <p:txBody>
          <a:bodyPr wrap="square">
            <a:spAutoFit/>
          </a:bodyPr>
          <a:lstStyle/>
          <a:p>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①</a:t>
            </a:r>
            <a:r>
              <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定義出力</a:t>
            </a:r>
            <a:endPar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381713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8914834C-2662-21EE-AF92-CC9B0AAE790D}"/>
              </a:ext>
            </a:extLst>
          </p:cNvPr>
          <p:cNvPicPr>
            <a:picLocks noChangeAspect="1"/>
          </p:cNvPicPr>
          <p:nvPr/>
        </p:nvPicPr>
        <p:blipFill>
          <a:blip r:embed="rId4"/>
          <a:stretch>
            <a:fillRect/>
          </a:stretch>
        </p:blipFill>
        <p:spPr>
          <a:xfrm>
            <a:off x="3973682" y="1996969"/>
            <a:ext cx="4163006" cy="3743847"/>
          </a:xfrm>
          <a:prstGeom prst="rect">
            <a:avLst/>
          </a:prstGeom>
          <a:ln>
            <a:solidFill>
              <a:schemeClr val="tx1"/>
            </a:solidFill>
          </a:ln>
        </p:spPr>
      </p:pic>
      <p:sp>
        <p:nvSpPr>
          <p:cNvPr id="9" name="テキスト ボックス 8"/>
          <p:cNvSpPr txBox="1"/>
          <p:nvPr/>
        </p:nvSpPr>
        <p:spPr>
          <a:xfrm>
            <a:off x="983432" y="1276998"/>
            <a:ext cx="10225136" cy="711733"/>
          </a:xfrm>
          <a:prstGeom prst="rect">
            <a:avLst/>
          </a:prstGeom>
          <a:noFill/>
        </p:spPr>
        <p:txBody>
          <a:bodyPr wrap="square" rtlCol="0">
            <a:spAutoFit/>
          </a:bodyPr>
          <a:lstStyle/>
          <a:p>
            <a:pPr marL="0" lvl="1" defTabSz="9063038">
              <a:lnSpc>
                <a:spcPct val="150000"/>
              </a:lnSpc>
              <a:buClr>
                <a:schemeClr val="accent5">
                  <a:lumMod val="75000"/>
                </a:schemeClr>
              </a:buClr>
              <a:tabLst>
                <a:tab pos="269875"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公開済みのタブから、自身が公開した帳票定義をダブルクリックします。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9063038">
              <a:lnSpc>
                <a:spcPct val="150000"/>
              </a:lnSpc>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定義名、またはアイコンの上でダブルクリックをしてください。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2" name="テキスト ボックス 21"/>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リビジョンアップ用</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帳票定義ファイルの呼び出し</a:t>
            </a:r>
          </a:p>
        </p:txBody>
      </p:sp>
      <p:sp>
        <p:nvSpPr>
          <p:cNvPr id="26" name="正方形/長方形 25"/>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サーバーへ公開した帳票定義を</a:t>
            </a:r>
            <a:r>
              <a:rPr lang="en-US" altLang="ja-JP"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Designer</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から呼び出します。</a:t>
            </a:r>
          </a:p>
        </p:txBody>
      </p:sp>
      <p:cxnSp>
        <p:nvCxnSpPr>
          <p:cNvPr id="3" name="曲線コネクタ 10">
            <a:extLst>
              <a:ext uri="{FF2B5EF4-FFF2-40B4-BE49-F238E27FC236}">
                <a16:creationId xmlns:a16="http://schemas.microsoft.com/office/drawing/2014/main" id="{F1784D6A-C2A9-4143-725B-D1E710F02495}"/>
              </a:ext>
            </a:extLst>
          </p:cNvPr>
          <p:cNvCxnSpPr>
            <a:cxnSpLocks/>
          </p:cNvCxnSpPr>
          <p:nvPr/>
        </p:nvCxnSpPr>
        <p:spPr>
          <a:xfrm rot="10800000" flipV="1">
            <a:off x="7896200" y="2751093"/>
            <a:ext cx="1368159" cy="1345374"/>
          </a:xfrm>
          <a:prstGeom prst="curvedConnector3">
            <a:avLst>
              <a:gd name="adj1" fmla="val 50000"/>
            </a:avLst>
          </a:prstGeom>
          <a:noFill/>
          <a:ln w="38100">
            <a:solidFill>
              <a:srgbClr val="FF0000"/>
            </a:solidFill>
            <a:prstDash val="sysDot"/>
            <a:tailEnd type="triangle"/>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cxnSp>
      <p:sp>
        <p:nvSpPr>
          <p:cNvPr id="10" name="四角形吹き出し 1">
            <a:extLst>
              <a:ext uri="{FF2B5EF4-FFF2-40B4-BE49-F238E27FC236}">
                <a16:creationId xmlns:a16="http://schemas.microsoft.com/office/drawing/2014/main" id="{8233935C-D8AA-52E9-8861-DB8EF4FA6C2B}"/>
              </a:ext>
            </a:extLst>
          </p:cNvPr>
          <p:cNvSpPr/>
          <p:nvPr/>
        </p:nvSpPr>
        <p:spPr>
          <a:xfrm>
            <a:off x="8400256" y="4280820"/>
            <a:ext cx="2376264" cy="871204"/>
          </a:xfrm>
          <a:prstGeom prst="wedgeRectCallout">
            <a:avLst>
              <a:gd name="adj1" fmla="val 6154"/>
              <a:gd name="adj2" fmla="val -106362"/>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2873375"/>
            <a:r>
              <a:rPr lang="ja-JP" altLang="en-US" sz="1200" b="1" dirty="0">
                <a:latin typeface="メイリオ" panose="020B0604030504040204" pitchFamily="50" charset="-128"/>
                <a:ea typeface="メイリオ" panose="020B0604030504040204" pitchFamily="50" charset="-128"/>
              </a:rPr>
              <a:t>サーバーへアクセスし公開した帳票定義を</a:t>
            </a:r>
            <a:r>
              <a:rPr lang="en-US" altLang="ja-JP" sz="1200" b="1" dirty="0">
                <a:latin typeface="メイリオ" panose="020B0604030504040204" pitchFamily="50" charset="-128"/>
                <a:ea typeface="メイリオ" panose="020B0604030504040204" pitchFamily="50" charset="-128"/>
              </a:rPr>
              <a:t>Designer</a:t>
            </a:r>
            <a:r>
              <a:rPr lang="ja-JP" altLang="en-US" sz="1200" b="1" dirty="0">
                <a:latin typeface="メイリオ" panose="020B0604030504040204" pitchFamily="50" charset="-128"/>
                <a:ea typeface="メイリオ" panose="020B0604030504040204" pitchFamily="50" charset="-128"/>
              </a:rPr>
              <a:t>へ呼び出します。</a:t>
            </a:r>
          </a:p>
        </p:txBody>
      </p:sp>
      <p:pic>
        <p:nvPicPr>
          <p:cNvPr id="4" name="図 3" descr="ロゴ&#10;&#10;AI によって生成されたコンテンツは間違っている可能性があります。">
            <a:extLst>
              <a:ext uri="{FF2B5EF4-FFF2-40B4-BE49-F238E27FC236}">
                <a16:creationId xmlns:a16="http://schemas.microsoft.com/office/drawing/2014/main" id="{73762A6E-AE25-1A60-E09F-0BB2219BAFE3}"/>
              </a:ext>
            </a:extLst>
          </p:cNvPr>
          <p:cNvPicPr>
            <a:picLocks noChangeAspect="1"/>
          </p:cNvPicPr>
          <p:nvPr/>
        </p:nvPicPr>
        <p:blipFill>
          <a:blip r:embed="rId5"/>
          <a:stretch>
            <a:fillRect/>
          </a:stretch>
        </p:blipFill>
        <p:spPr>
          <a:xfrm>
            <a:off x="9167157" y="2226546"/>
            <a:ext cx="875400" cy="1010308"/>
          </a:xfrm>
          <a:prstGeom prst="rect">
            <a:avLst/>
          </a:prstGeom>
        </p:spPr>
      </p:pic>
    </p:spTree>
    <p:custDataLst>
      <p:tags r:id="rId1"/>
    </p:custDataLst>
    <p:extLst>
      <p:ext uri="{BB962C8B-B14F-4D97-AF65-F5344CB8AC3E}">
        <p14:creationId xmlns:p14="http://schemas.microsoft.com/office/powerpoint/2010/main" val="1556954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グループ化 7">
            <a:extLst>
              <a:ext uri="{FF2B5EF4-FFF2-40B4-BE49-F238E27FC236}">
                <a16:creationId xmlns:a16="http://schemas.microsoft.com/office/drawing/2014/main" id="{D56AF8DB-DD6F-9640-3D94-759BB392F939}"/>
              </a:ext>
            </a:extLst>
          </p:cNvPr>
          <p:cNvGrpSpPr/>
          <p:nvPr/>
        </p:nvGrpSpPr>
        <p:grpSpPr>
          <a:xfrm>
            <a:off x="1421971" y="1994564"/>
            <a:ext cx="7778852" cy="3090620"/>
            <a:chOff x="1421971" y="1994564"/>
            <a:chExt cx="7778852" cy="3090620"/>
          </a:xfrm>
        </p:grpSpPr>
        <p:pic>
          <p:nvPicPr>
            <p:cNvPr id="3" name="図 2">
              <a:extLst>
                <a:ext uri="{FF2B5EF4-FFF2-40B4-BE49-F238E27FC236}">
                  <a16:creationId xmlns:a16="http://schemas.microsoft.com/office/drawing/2014/main" id="{5DE9F0E1-870C-0CDD-DAE9-B897C1DF5D25}"/>
                </a:ext>
              </a:extLst>
            </p:cNvPr>
            <p:cNvPicPr>
              <a:picLocks noChangeAspect="1"/>
            </p:cNvPicPr>
            <p:nvPr/>
          </p:nvPicPr>
          <p:blipFill>
            <a:blip r:embed="rId4"/>
            <a:stretch>
              <a:fillRect/>
            </a:stretch>
          </p:blipFill>
          <p:spPr>
            <a:xfrm>
              <a:off x="1421971" y="1994564"/>
              <a:ext cx="7778852" cy="3090620"/>
            </a:xfrm>
            <a:prstGeom prst="rect">
              <a:avLst/>
            </a:prstGeom>
            <a:ln>
              <a:solidFill>
                <a:schemeClr val="tx1"/>
              </a:solidFill>
            </a:ln>
          </p:spPr>
        </p:pic>
        <p:pic>
          <p:nvPicPr>
            <p:cNvPr id="6" name="図 5" descr="テキスト, 手紙&#10;&#10;AI 生成コンテンツは誤りを含む可能性があります。">
              <a:extLst>
                <a:ext uri="{FF2B5EF4-FFF2-40B4-BE49-F238E27FC236}">
                  <a16:creationId xmlns:a16="http://schemas.microsoft.com/office/drawing/2014/main" id="{B9EC50A4-BB39-09D7-3147-A6B12579745D}"/>
                </a:ext>
              </a:extLst>
            </p:cNvPr>
            <p:cNvPicPr>
              <a:picLocks noChangeAspect="1"/>
            </p:cNvPicPr>
            <p:nvPr/>
          </p:nvPicPr>
          <p:blipFill>
            <a:blip r:embed="rId5"/>
            <a:stretch>
              <a:fillRect/>
            </a:stretch>
          </p:blipFill>
          <p:spPr>
            <a:xfrm>
              <a:off x="1455584" y="2896713"/>
              <a:ext cx="1922283" cy="964335"/>
            </a:xfrm>
            <a:prstGeom prst="rect">
              <a:avLst/>
            </a:prstGeom>
          </p:spPr>
        </p:pic>
      </p:grpSp>
      <p:sp>
        <p:nvSpPr>
          <p:cNvPr id="5" name="テキスト ボックス 4"/>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帳票定義の出力</a:t>
            </a:r>
          </a:p>
        </p:txBody>
      </p:sp>
      <p:sp>
        <p:nvSpPr>
          <p:cNvPr id="7" name="テキスト ボックス 6"/>
          <p:cNvSpPr txBox="1"/>
          <p:nvPr/>
        </p:nvSpPr>
        <p:spPr>
          <a:xfrm>
            <a:off x="983432" y="836712"/>
            <a:ext cx="10225136" cy="1034899"/>
          </a:xfrm>
          <a:prstGeom prst="rect">
            <a:avLst/>
          </a:prstGeom>
          <a:noFill/>
        </p:spPr>
        <p:txBody>
          <a:bodyPr wrap="square" rtlCol="0">
            <a:spAutoFit/>
          </a:bodyPr>
          <a:lstStyle/>
          <a:p>
            <a:pPr marL="269875" lvl="1" indent="-269875" defTabSz="8972550">
              <a:lnSpc>
                <a:spcPct val="150000"/>
              </a:lnSpc>
              <a:buClr>
                <a:schemeClr val="accent5">
                  <a:lumMod val="75000"/>
                </a:schemeClr>
              </a:buClr>
              <a:tabLst>
                <a:tab pos="269875" algn="l"/>
              </a:tabLst>
            </a:pP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①</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公開を行った帳票定義をダブルクリックし、編集画面に表示します。</a:t>
            </a:r>
          </a:p>
          <a:p>
            <a:pPr marL="269875" lvl="1" indent="-269875" defTabSz="8972550">
              <a:lnSpc>
                <a:spcPct val="150000"/>
              </a:lnSpc>
              <a:buClr>
                <a:schemeClr val="accent5">
                  <a:lumMod val="75000"/>
                </a:schemeClr>
              </a:buClr>
              <a:tabLst>
                <a:tab pos="269875" algn="l"/>
              </a:tabLst>
            </a:pP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②</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メインメニューから「</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定義出力」をクリックし、保存場所を指定して「保存」をクリックしダウンロードします。</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marL="269875" lvl="1" indent="-269875" defTabSz="8972550">
              <a:lnSpc>
                <a:spcPct val="150000"/>
              </a:lnSpc>
              <a:buClr>
                <a:schemeClr val="accent5">
                  <a:lumMod val="75000"/>
                </a:schemeClr>
              </a:buClr>
              <a:tabLst>
                <a:tab pos="269875" algn="l"/>
              </a:tabLst>
            </a:pP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③</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終了後「</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帳票定義ファイルを出力しました」のダイアログが出たら「</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OK</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」をクリックします。</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角丸四角形 19"/>
          <p:cNvSpPr/>
          <p:nvPr/>
        </p:nvSpPr>
        <p:spPr>
          <a:xfrm>
            <a:off x="7370480" y="2474023"/>
            <a:ext cx="504056" cy="250769"/>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pic>
        <p:nvPicPr>
          <p:cNvPr id="4" name="図 3"/>
          <p:cNvPicPr>
            <a:picLocks noChangeAspect="1"/>
          </p:cNvPicPr>
          <p:nvPr/>
        </p:nvPicPr>
        <p:blipFill>
          <a:blip r:embed="rId6"/>
          <a:stretch>
            <a:fillRect/>
          </a:stretch>
        </p:blipFill>
        <p:spPr>
          <a:xfrm>
            <a:off x="7185355" y="2781800"/>
            <a:ext cx="2950633" cy="1922333"/>
          </a:xfrm>
          <a:prstGeom prst="rect">
            <a:avLst/>
          </a:prstGeom>
          <a:ln>
            <a:solidFill>
              <a:schemeClr val="tx1"/>
            </a:solidFill>
          </a:ln>
        </p:spPr>
      </p:pic>
      <p:sp>
        <p:nvSpPr>
          <p:cNvPr id="28" name="角丸四角形 27"/>
          <p:cNvSpPr/>
          <p:nvPr/>
        </p:nvSpPr>
        <p:spPr>
          <a:xfrm>
            <a:off x="9214798" y="4496471"/>
            <a:ext cx="481601" cy="207662"/>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9" name="正方形/長方形 28"/>
          <p:cNvSpPr/>
          <p:nvPr/>
        </p:nvSpPr>
        <p:spPr>
          <a:xfrm>
            <a:off x="7044681" y="2250902"/>
            <a:ext cx="423663"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②</a:t>
            </a:r>
          </a:p>
        </p:txBody>
      </p:sp>
      <p:cxnSp>
        <p:nvCxnSpPr>
          <p:cNvPr id="11" name="曲線コネクタ 10"/>
          <p:cNvCxnSpPr>
            <a:cxnSpLocks/>
            <a:stCxn id="22" idx="3"/>
            <a:endCxn id="20" idx="1"/>
          </p:cNvCxnSpPr>
          <p:nvPr/>
        </p:nvCxnSpPr>
        <p:spPr>
          <a:xfrm flipV="1">
            <a:off x="3431705" y="2599408"/>
            <a:ext cx="3938775" cy="439739"/>
          </a:xfrm>
          <a:prstGeom prst="curvedConnector3">
            <a:avLst>
              <a:gd name="adj1" fmla="val 50000"/>
            </a:avLst>
          </a:prstGeom>
          <a:ln w="38100">
            <a:solidFill>
              <a:srgbClr val="FF0000"/>
            </a:solidFill>
            <a:prstDash val="sysDot"/>
            <a:tailEnd type="triangle"/>
          </a:ln>
          <a:effectLst>
            <a:glow rad="508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1108314" y="3112798"/>
            <a:ext cx="352350"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①</a:t>
            </a:r>
          </a:p>
        </p:txBody>
      </p:sp>
      <p:cxnSp>
        <p:nvCxnSpPr>
          <p:cNvPr id="31" name="曲線コネクタ 10">
            <a:extLst>
              <a:ext uri="{FF2B5EF4-FFF2-40B4-BE49-F238E27FC236}">
                <a16:creationId xmlns:a16="http://schemas.microsoft.com/office/drawing/2014/main" id="{5523D45D-94BA-4D17-94C0-3EAB61986D3D}"/>
              </a:ext>
            </a:extLst>
          </p:cNvPr>
          <p:cNvCxnSpPr>
            <a:cxnSpLocks/>
            <a:stCxn id="20" idx="3"/>
            <a:endCxn id="28" idx="0"/>
          </p:cNvCxnSpPr>
          <p:nvPr/>
        </p:nvCxnSpPr>
        <p:spPr>
          <a:xfrm>
            <a:off x="7874536" y="2599408"/>
            <a:ext cx="1581063" cy="1897063"/>
          </a:xfrm>
          <a:prstGeom prst="curvedConnector2">
            <a:avLst/>
          </a:prstGeom>
          <a:ln w="38100">
            <a:solidFill>
              <a:srgbClr val="FF0000"/>
            </a:solidFill>
            <a:prstDash val="sysDot"/>
            <a:tailEnd type="triangle"/>
          </a:ln>
          <a:effectLst>
            <a:glow rad="50800">
              <a:schemeClr val="bg1">
                <a:alpha val="50000"/>
              </a:schemeClr>
            </a:glow>
          </a:effectLst>
        </p:spPr>
        <p:style>
          <a:lnRef idx="1">
            <a:schemeClr val="accent1"/>
          </a:lnRef>
          <a:fillRef idx="0">
            <a:schemeClr val="accent1"/>
          </a:fillRef>
          <a:effectRef idx="0">
            <a:schemeClr val="accent1"/>
          </a:effectRef>
          <a:fontRef idx="minor">
            <a:schemeClr val="tx1"/>
          </a:fontRef>
        </p:style>
      </p:cxnSp>
      <p:pic>
        <p:nvPicPr>
          <p:cNvPr id="48" name="図 47">
            <a:extLst>
              <a:ext uri="{FF2B5EF4-FFF2-40B4-BE49-F238E27FC236}">
                <a16:creationId xmlns:a16="http://schemas.microsoft.com/office/drawing/2014/main" id="{49633028-E1B7-40D9-9A43-8A00253FD1F3}"/>
              </a:ext>
            </a:extLst>
          </p:cNvPr>
          <p:cNvPicPr>
            <a:picLocks noChangeAspect="1"/>
          </p:cNvPicPr>
          <p:nvPr/>
        </p:nvPicPr>
        <p:blipFill>
          <a:blip r:embed="rId7"/>
          <a:stretch>
            <a:fillRect/>
          </a:stretch>
        </p:blipFill>
        <p:spPr>
          <a:xfrm>
            <a:off x="5971127" y="3266470"/>
            <a:ext cx="2581141" cy="1660277"/>
          </a:xfrm>
          <a:prstGeom prst="rect">
            <a:avLst/>
          </a:prstGeom>
          <a:ln>
            <a:solidFill>
              <a:schemeClr val="tx1">
                <a:lumMod val="65000"/>
                <a:lumOff val="35000"/>
              </a:schemeClr>
            </a:solidFill>
          </a:ln>
        </p:spPr>
      </p:pic>
      <p:cxnSp>
        <p:nvCxnSpPr>
          <p:cNvPr id="49" name="曲線コネクタ 10">
            <a:extLst>
              <a:ext uri="{FF2B5EF4-FFF2-40B4-BE49-F238E27FC236}">
                <a16:creationId xmlns:a16="http://schemas.microsoft.com/office/drawing/2014/main" id="{9B6997EB-5E8C-45EA-8F25-02F72F60F188}"/>
              </a:ext>
            </a:extLst>
          </p:cNvPr>
          <p:cNvCxnSpPr>
            <a:cxnSpLocks/>
            <a:stCxn id="28" idx="1"/>
            <a:endCxn id="50" idx="3"/>
          </p:cNvCxnSpPr>
          <p:nvPr/>
        </p:nvCxnSpPr>
        <p:spPr>
          <a:xfrm rot="10800000" flipV="1">
            <a:off x="7622508" y="4600302"/>
            <a:ext cx="1592290" cy="195044"/>
          </a:xfrm>
          <a:prstGeom prst="curvedConnector3">
            <a:avLst>
              <a:gd name="adj1" fmla="val 50000"/>
            </a:avLst>
          </a:prstGeom>
          <a:ln w="38100">
            <a:solidFill>
              <a:srgbClr val="FF0000"/>
            </a:solidFill>
            <a:prstDash val="sysDot"/>
            <a:tailEnd type="triangle"/>
          </a:ln>
          <a:effectLst>
            <a:glow rad="508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50" name="角丸四角形 27">
            <a:extLst>
              <a:ext uri="{FF2B5EF4-FFF2-40B4-BE49-F238E27FC236}">
                <a16:creationId xmlns:a16="http://schemas.microsoft.com/office/drawing/2014/main" id="{503D3871-C199-4A3F-89C7-A70453235396}"/>
              </a:ext>
            </a:extLst>
          </p:cNvPr>
          <p:cNvSpPr/>
          <p:nvPr/>
        </p:nvSpPr>
        <p:spPr>
          <a:xfrm>
            <a:off x="6940533" y="4641457"/>
            <a:ext cx="681975" cy="307777"/>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61" name="正方形/長方形 60">
            <a:extLst>
              <a:ext uri="{FF2B5EF4-FFF2-40B4-BE49-F238E27FC236}">
                <a16:creationId xmlns:a16="http://schemas.microsoft.com/office/drawing/2014/main" id="{1F241441-B9E9-4DC7-AF05-89E88689D1C4}"/>
              </a:ext>
            </a:extLst>
          </p:cNvPr>
          <p:cNvSpPr/>
          <p:nvPr/>
        </p:nvSpPr>
        <p:spPr>
          <a:xfrm>
            <a:off x="6380997" y="4618970"/>
            <a:ext cx="423663"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③</a:t>
            </a:r>
          </a:p>
        </p:txBody>
      </p:sp>
      <p:sp>
        <p:nvSpPr>
          <p:cNvPr id="10" name="線吹き出し 1 (枠付き) 24">
            <a:extLst>
              <a:ext uri="{FF2B5EF4-FFF2-40B4-BE49-F238E27FC236}">
                <a16:creationId xmlns:a16="http://schemas.microsoft.com/office/drawing/2014/main" id="{70C4300C-765B-7E5C-12C7-29FACCD1FD84}"/>
              </a:ext>
            </a:extLst>
          </p:cNvPr>
          <p:cNvSpPr/>
          <p:nvPr/>
        </p:nvSpPr>
        <p:spPr>
          <a:xfrm>
            <a:off x="1055441" y="5589240"/>
            <a:ext cx="10088608" cy="618219"/>
          </a:xfrm>
          <a:prstGeom prst="rect">
            <a:avLst/>
          </a:prstGeom>
          <a:solidFill>
            <a:srgbClr val="FFFFFF"/>
          </a:solidFill>
          <a:ln>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bIns="108000" rtlCol="0" anchor="t">
            <a:spAutoFit/>
          </a:bodyPr>
          <a:lstStyle/>
          <a:p>
            <a:pPr defTabSz="4933950">
              <a:tabLst>
                <a:tab pos="180975" algn="l"/>
              </a:tabLst>
            </a:pPr>
            <a:r>
              <a:rPr lang="ja-JP" altLang="en-US" sz="1400" b="1" dirty="0">
                <a:solidFill>
                  <a:schemeClr val="tx1"/>
                </a:solidFill>
                <a:latin typeface="メイリオ" panose="020B0604030504040204" pitchFamily="50" charset="-128"/>
                <a:ea typeface="メイリオ" panose="020B0604030504040204" pitchFamily="50" charset="-128"/>
              </a:rPr>
              <a:t>講習時の操作</a:t>
            </a:r>
            <a:endParaRPr lang="en-US" altLang="ja-JP" sz="14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上記の手順に沿って、</a:t>
            </a:r>
            <a:r>
              <a:rPr lang="en-US" altLang="ja-JP" sz="1200" dirty="0">
                <a:solidFill>
                  <a:schemeClr val="tx1"/>
                </a:solidFill>
                <a:latin typeface="メイリオ" panose="020B0604030504040204" pitchFamily="50" charset="-128"/>
                <a:ea typeface="メイリオ" panose="020B0604030504040204" pitchFamily="50" charset="-128"/>
              </a:rPr>
              <a:t>Excel</a:t>
            </a:r>
            <a:r>
              <a:rPr lang="ja-JP" altLang="en-US" sz="1200" dirty="0">
                <a:solidFill>
                  <a:schemeClr val="tx1"/>
                </a:solidFill>
                <a:latin typeface="メイリオ" panose="020B0604030504040204" pitchFamily="50" charset="-128"/>
                <a:ea typeface="メイリオ" panose="020B0604030504040204" pitchFamily="50" charset="-128"/>
              </a:rPr>
              <a:t>ファイルの出力を行ってください。この時間では元の</a:t>
            </a:r>
            <a:r>
              <a:rPr lang="en-US" altLang="ja-JP" sz="1200" dirty="0">
                <a:solidFill>
                  <a:schemeClr val="tx1"/>
                </a:solidFill>
                <a:latin typeface="メイリオ" panose="020B0604030504040204" pitchFamily="50" charset="-128"/>
                <a:ea typeface="メイリオ" panose="020B0604030504040204" pitchFamily="50" charset="-128"/>
              </a:rPr>
              <a:t>Excel</a:t>
            </a:r>
            <a:r>
              <a:rPr lang="ja-JP" altLang="en-US" sz="1200" dirty="0">
                <a:solidFill>
                  <a:schemeClr val="tx1"/>
                </a:solidFill>
                <a:latin typeface="メイリオ" panose="020B0604030504040204" pitchFamily="50" charset="-128"/>
                <a:ea typeface="メイリオ" panose="020B0604030504040204" pitchFamily="50" charset="-128"/>
              </a:rPr>
              <a:t>ファイルに「上書き保存」で結構です。</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22" name="角丸四角形 21"/>
          <p:cNvSpPr/>
          <p:nvPr/>
        </p:nvSpPr>
        <p:spPr>
          <a:xfrm>
            <a:off x="1410477" y="2865318"/>
            <a:ext cx="2021228" cy="347658"/>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3609182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45F0F5B-783F-C7B3-51AD-D716D8793521}"/>
              </a:ext>
            </a:extLst>
          </p:cNvPr>
          <p:cNvPicPr>
            <a:picLocks noChangeAspect="1"/>
          </p:cNvPicPr>
          <p:nvPr/>
        </p:nvPicPr>
        <p:blipFill>
          <a:blip r:embed="rId4"/>
          <a:srcRect t="29459" r="57678" b="8179"/>
          <a:stretch>
            <a:fillRect/>
          </a:stretch>
        </p:blipFill>
        <p:spPr>
          <a:xfrm>
            <a:off x="1397398" y="2177046"/>
            <a:ext cx="4762193" cy="3228231"/>
          </a:xfrm>
          <a:prstGeom prst="rect">
            <a:avLst/>
          </a:prstGeom>
          <a:ln>
            <a:solidFill>
              <a:schemeClr val="tx1"/>
            </a:solidFill>
          </a:ln>
        </p:spPr>
      </p:pic>
      <p:pic>
        <p:nvPicPr>
          <p:cNvPr id="7" name="図 6">
            <a:extLst>
              <a:ext uri="{FF2B5EF4-FFF2-40B4-BE49-F238E27FC236}">
                <a16:creationId xmlns:a16="http://schemas.microsoft.com/office/drawing/2014/main" id="{1105BF55-0075-9228-AE78-EADBD9A8FB30}"/>
              </a:ext>
            </a:extLst>
          </p:cNvPr>
          <p:cNvPicPr>
            <a:picLocks noChangeAspect="1"/>
          </p:cNvPicPr>
          <p:nvPr/>
        </p:nvPicPr>
        <p:blipFill>
          <a:blip r:embed="rId5"/>
          <a:stretch>
            <a:fillRect/>
          </a:stretch>
        </p:blipFill>
        <p:spPr>
          <a:xfrm>
            <a:off x="5079215" y="2934841"/>
            <a:ext cx="5719565" cy="1120478"/>
          </a:xfrm>
          <a:prstGeom prst="rect">
            <a:avLst/>
          </a:prstGeom>
          <a:ln>
            <a:solidFill>
              <a:schemeClr val="tx1"/>
            </a:solidFill>
          </a:ln>
        </p:spPr>
      </p:pic>
      <p:sp>
        <p:nvSpPr>
          <p:cNvPr id="11" name="テキスト ボックス 10"/>
          <p:cNvSpPr txBox="1"/>
          <p:nvPr/>
        </p:nvSpPr>
        <p:spPr>
          <a:xfrm>
            <a:off x="983432" y="836712"/>
            <a:ext cx="10225136" cy="1034899"/>
          </a:xfrm>
          <a:prstGeom prst="rect">
            <a:avLst/>
          </a:prstGeom>
          <a:noFill/>
        </p:spPr>
        <p:txBody>
          <a:bodyPr wrap="square" rtlCol="0">
            <a:spAutoFit/>
          </a:bodyPr>
          <a:lstStyle/>
          <a:p>
            <a:pPr marL="0" lvl="1" defTabSz="8070850">
              <a:lnSpc>
                <a:spcPct val="150000"/>
              </a:lnSpc>
              <a:buClr>
                <a:schemeClr val="accent5">
                  <a:lumMod val="75000"/>
                </a:schemeClr>
              </a:buClr>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各クラスターには、個々を識別するための「一意の数値」が設定されており、これを「クラスター</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」といいます。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8070850">
              <a:lnSpc>
                <a:spcPct val="150000"/>
              </a:lnSpc>
              <a:buClr>
                <a:schemeClr val="accent5">
                  <a:lumMod val="75000"/>
                </a:schemeClr>
              </a:buClr>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クラスター</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ConMas Designer</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」取込み時に自動で採番される値です。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8070850">
              <a:lnSpc>
                <a:spcPct val="150000"/>
              </a:lnSpc>
              <a:buClr>
                <a:schemeClr val="accent5">
                  <a:lumMod val="75000"/>
                </a:schemeClr>
              </a:buClr>
            </a:pP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EXCEL COM Add-in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（アドイン）またはセルごとに設定される「メモ」から確認できます。</a:t>
            </a:r>
          </a:p>
        </p:txBody>
      </p:sp>
      <p:sp>
        <p:nvSpPr>
          <p:cNvPr id="14" name="角丸四角形 13"/>
          <p:cNvSpPr/>
          <p:nvPr/>
        </p:nvSpPr>
        <p:spPr>
          <a:xfrm>
            <a:off x="1391729" y="5604860"/>
            <a:ext cx="9384792" cy="644482"/>
          </a:xfrm>
          <a:prstGeom prst="roundRect">
            <a:avLst>
              <a:gd name="adj" fmla="val 10971"/>
            </a:avLst>
          </a:prstGeom>
          <a:solidFill>
            <a:srgbClr val="FF0000"/>
          </a:solidFill>
          <a:ln>
            <a:solidFill>
              <a:schemeClr val="accent1">
                <a:lumMod val="75000"/>
              </a:schemeClr>
            </a:solidFill>
          </a:ln>
        </p:spPr>
        <p:style>
          <a:lnRef idx="1">
            <a:schemeClr val="accent4"/>
          </a:lnRef>
          <a:fillRef idx="3">
            <a:schemeClr val="accent4"/>
          </a:fillRef>
          <a:effectRef idx="2">
            <a:schemeClr val="accent4"/>
          </a:effectRef>
          <a:fontRef idx="minor">
            <a:schemeClr val="lt1"/>
          </a:fontRef>
        </p:style>
        <p:txBody>
          <a:bodyPr wrap="square" lIns="36000" tIns="36000" rIns="36000" bIns="36000">
            <a:spAutoFit/>
          </a:bodyPr>
          <a:lstStyle/>
          <a:p>
            <a:pPr marL="444500" defTabSz="7624763">
              <a:lnSpc>
                <a:spcPct val="150000"/>
              </a:lnSpc>
              <a:buClr>
                <a:schemeClr val="accent5">
                  <a:lumMod val="75000"/>
                </a:schemeClr>
              </a:buClr>
            </a:pP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クラスター</a:t>
            </a: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が設定済のセルをコピー～ペースト操作をした場合、クラスター</a:t>
            </a: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Index </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が重複します。</a:t>
            </a:r>
            <a:endPar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p>
            <a:pPr marL="444500" defTabSz="7624763">
              <a:lnSpc>
                <a:spcPct val="150000"/>
              </a:lnSpc>
              <a:buClr>
                <a:schemeClr val="accent5">
                  <a:lumMod val="75000"/>
                </a:schemeClr>
              </a:buClr>
            </a:pP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その場合は「</a:t>
            </a:r>
            <a:r>
              <a:rPr lang="en-US" altLang="ja-JP" sz="1200" b="1" dirty="0" err="1">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dirty="0" err="1">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i</a:t>
            </a: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-Reporter</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種別選択」画面内の「クラスター</a:t>
            </a: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」に一意の番号を直接入力するか、空欄にします。</a:t>
            </a:r>
            <a:endPar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5" name="Picture 3" descr="Z:\購入,DLした素材\ConMasDOCs_ICON\exclamatio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3229" y="5774701"/>
            <a:ext cx="334299" cy="304800"/>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出力した「帳票定義</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ファイル」について </a:t>
            </a:r>
            <a:r>
              <a:rPr lang="ja-JP" altLang="en-US" b="1" dirty="0">
                <a:solidFill>
                  <a:schemeClr val="bg1"/>
                </a:solidFill>
                <a:latin typeface="メイリオ" pitchFamily="50" charset="-128"/>
                <a:ea typeface="メイリオ" pitchFamily="50" charset="-128"/>
                <a:cs typeface="メイリオ" pitchFamily="50" charset="-128"/>
              </a:rPr>
              <a:t>①クラスター</a:t>
            </a:r>
            <a:r>
              <a:rPr lang="en-US" altLang="ja-JP" b="1" dirty="0">
                <a:solidFill>
                  <a:schemeClr val="bg1"/>
                </a:solidFill>
                <a:latin typeface="メイリオ" pitchFamily="50" charset="-128"/>
                <a:ea typeface="メイリオ" pitchFamily="50" charset="-128"/>
                <a:cs typeface="メイリオ" pitchFamily="50" charset="-128"/>
              </a:rPr>
              <a:t>Index</a:t>
            </a:r>
            <a:endParaRPr lang="ja-JP" altLang="en-US" b="1" dirty="0">
              <a:solidFill>
                <a:schemeClr val="bg1"/>
              </a:solidFill>
              <a:latin typeface="メイリオ" pitchFamily="50" charset="-128"/>
              <a:ea typeface="メイリオ" pitchFamily="50" charset="-128"/>
              <a:cs typeface="メイリオ" pitchFamily="50" charset="-128"/>
            </a:endParaRPr>
          </a:p>
        </p:txBody>
      </p:sp>
      <p:sp>
        <p:nvSpPr>
          <p:cNvPr id="13" name="角丸四角形 17">
            <a:extLst>
              <a:ext uri="{FF2B5EF4-FFF2-40B4-BE49-F238E27FC236}">
                <a16:creationId xmlns:a16="http://schemas.microsoft.com/office/drawing/2014/main" id="{AD3286E5-6F20-CA16-B496-71F9185110D8}"/>
              </a:ext>
            </a:extLst>
          </p:cNvPr>
          <p:cNvSpPr/>
          <p:nvPr/>
        </p:nvSpPr>
        <p:spPr>
          <a:xfrm>
            <a:off x="3935760" y="3140967"/>
            <a:ext cx="1041527" cy="660241"/>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1" name="角丸四角形 17">
            <a:extLst>
              <a:ext uri="{FF2B5EF4-FFF2-40B4-BE49-F238E27FC236}">
                <a16:creationId xmlns:a16="http://schemas.microsoft.com/office/drawing/2014/main" id="{3B40895C-85F0-1390-DC63-3EC89471A33B}"/>
              </a:ext>
            </a:extLst>
          </p:cNvPr>
          <p:cNvSpPr/>
          <p:nvPr/>
        </p:nvSpPr>
        <p:spPr>
          <a:xfrm>
            <a:off x="9339220" y="3586487"/>
            <a:ext cx="1459560" cy="373095"/>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2615552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647954D-2E18-D36E-F1B4-FD44A89937B5}"/>
              </a:ext>
            </a:extLst>
          </p:cNvPr>
          <p:cNvPicPr>
            <a:picLocks noChangeAspect="1"/>
          </p:cNvPicPr>
          <p:nvPr/>
        </p:nvPicPr>
        <p:blipFill>
          <a:blip r:embed="rId4"/>
          <a:srcRect t="53055"/>
          <a:stretch>
            <a:fillRect/>
          </a:stretch>
        </p:blipFill>
        <p:spPr>
          <a:xfrm>
            <a:off x="2567608" y="2217574"/>
            <a:ext cx="6438633" cy="2635129"/>
          </a:xfrm>
          <a:prstGeom prst="rect">
            <a:avLst/>
          </a:prstGeom>
          <a:ln>
            <a:solidFill>
              <a:schemeClr val="tx1"/>
            </a:solidFill>
          </a:ln>
        </p:spPr>
      </p:pic>
      <p:sp>
        <p:nvSpPr>
          <p:cNvPr id="9" name="テキスト ボックス 8"/>
          <p:cNvSpPr txBox="1"/>
          <p:nvPr/>
        </p:nvSpPr>
        <p:spPr>
          <a:xfrm>
            <a:off x="983432" y="1278920"/>
            <a:ext cx="10225136" cy="711733"/>
          </a:xfrm>
          <a:prstGeom prst="rect">
            <a:avLst/>
          </a:prstGeom>
          <a:noFill/>
        </p:spPr>
        <p:txBody>
          <a:bodyPr wrap="square" rtlCol="0">
            <a:spAutoFit/>
          </a:bodyPr>
          <a:lstStyle/>
          <a:p>
            <a:pPr marL="0" lvl="1" defTabSz="10042525">
              <a:lnSpc>
                <a:spcPct val="150000"/>
              </a:lnSpc>
              <a:buClr>
                <a:schemeClr val="accent5">
                  <a:lumMod val="75000"/>
                </a:schemeClr>
              </a:buClr>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Designer</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」から出力した</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ファイルには、「</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ExcelOutputSetting</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」シートが追加されます。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10042525">
              <a:lnSpc>
                <a:spcPct val="150000"/>
              </a:lnSpc>
              <a:buClr>
                <a:schemeClr val="accent5">
                  <a:lumMod val="75000"/>
                </a:schemeClr>
              </a:buClr>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このシートには、クラスター以外の各種設定情報が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xml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形式で記述されています。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角丸四角形 10"/>
          <p:cNvSpPr/>
          <p:nvPr/>
        </p:nvSpPr>
        <p:spPr>
          <a:xfrm>
            <a:off x="4554575" y="4553645"/>
            <a:ext cx="1685441" cy="299058"/>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grpSp>
        <p:nvGrpSpPr>
          <p:cNvPr id="6" name="グループ化 5">
            <a:extLst>
              <a:ext uri="{FF2B5EF4-FFF2-40B4-BE49-F238E27FC236}">
                <a16:creationId xmlns:a16="http://schemas.microsoft.com/office/drawing/2014/main" id="{183E1DFC-2A2F-55C1-C941-28AC14CB38ED}"/>
              </a:ext>
            </a:extLst>
          </p:cNvPr>
          <p:cNvGrpSpPr/>
          <p:nvPr/>
        </p:nvGrpSpPr>
        <p:grpSpPr>
          <a:xfrm>
            <a:off x="1416424" y="5275538"/>
            <a:ext cx="9368334" cy="961774"/>
            <a:chOff x="1416424" y="4797152"/>
            <a:chExt cx="9368334" cy="961774"/>
          </a:xfrm>
        </p:grpSpPr>
        <p:sp>
          <p:nvSpPr>
            <p:cNvPr id="12" name="角丸四角形 11"/>
            <p:cNvSpPr/>
            <p:nvPr/>
          </p:nvSpPr>
          <p:spPr>
            <a:xfrm>
              <a:off x="1416424" y="4797152"/>
              <a:ext cx="9368334" cy="961774"/>
            </a:xfrm>
            <a:prstGeom prst="roundRect">
              <a:avLst>
                <a:gd name="adj" fmla="val 7545"/>
              </a:avLst>
            </a:prstGeom>
            <a:solidFill>
              <a:srgbClr val="FF0000"/>
            </a:solidFill>
            <a:ln>
              <a:solidFill>
                <a:schemeClr val="accent1">
                  <a:lumMod val="75000"/>
                </a:schemeClr>
              </a:solidFill>
            </a:ln>
          </p:spPr>
          <p:style>
            <a:lnRef idx="1">
              <a:schemeClr val="accent4"/>
            </a:lnRef>
            <a:fillRef idx="3">
              <a:schemeClr val="accent4"/>
            </a:fillRef>
            <a:effectRef idx="2">
              <a:schemeClr val="accent4"/>
            </a:effectRef>
            <a:fontRef idx="minor">
              <a:schemeClr val="lt1"/>
            </a:fontRef>
          </p:style>
          <p:txBody>
            <a:bodyPr wrap="square" lIns="468000" tIns="144000" rIns="108000" bIns="108000">
              <a:spAutoFit/>
            </a:bodyPr>
            <a:lstStyle/>
            <a:p>
              <a:pPr>
                <a:buClr>
                  <a:schemeClr val="accent5">
                    <a:lumMod val="75000"/>
                  </a:schemeClr>
                </a:buClr>
              </a:pPr>
              <a:r>
                <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err="1">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ExcelOutputSetting</a:t>
              </a:r>
              <a:r>
                <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」シートは、帳票定義情報の保持のためのものです。</a:t>
              </a:r>
              <a:endParaRPr lang="en-US" altLang="ja-JP"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p>
              <a:pPr>
                <a:buClr>
                  <a:schemeClr val="accent5">
                    <a:lumMod val="75000"/>
                  </a:schemeClr>
                </a:buClr>
              </a:pPr>
              <a:r>
                <a:rPr lang="ja-JP" altLang="en-US" sz="1400" b="1" dirty="0">
                  <a:solidFill>
                    <a:srgbClr val="FFFF00"/>
                  </a:solidFill>
                  <a:latin typeface="メイリオ" panose="020B0604030504040204" pitchFamily="50" charset="-128"/>
                  <a:ea typeface="メイリオ" panose="020B0604030504040204" pitchFamily="50" charset="-128"/>
                  <a:cs typeface="メイリオ" panose="020B0604030504040204" pitchFamily="50" charset="-128"/>
                </a:rPr>
                <a:t>シート名称の変更</a:t>
              </a:r>
              <a:r>
                <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FF00"/>
                  </a:solidFill>
                  <a:latin typeface="メイリオ" panose="020B0604030504040204" pitchFamily="50" charset="-128"/>
                  <a:ea typeface="メイリオ" panose="020B0604030504040204" pitchFamily="50" charset="-128"/>
                  <a:cs typeface="メイリオ" panose="020B0604030504040204" pitchFamily="50" charset="-128"/>
                </a:rPr>
                <a:t>同一シート名称の使用や内容の変更は行わないように（＝このシートには手を加えない）</a:t>
              </a:r>
              <a:r>
                <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してください。</a:t>
              </a:r>
              <a:endParaRPr lang="en-US" altLang="ja-JP"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3" name="Picture 3" descr="Z:\購入,DLした素材\ConMasDOCs_ICON\exclamatio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2728" y="5125639"/>
              <a:ext cx="304800" cy="304800"/>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正方形/長方形 20"/>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b="1" dirty="0" err="1">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ExcelOutputSetting</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」シート（</a:t>
            </a:r>
            <a:r>
              <a:rPr lang="ja-JP" altLang="en-US" sz="18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設定内容が記述されたシート）が追加されます</a:t>
            </a:r>
            <a:endParaRPr lang="en-US" altLang="ja-JP" sz="18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C09C8868-A18D-1545-8DFC-4FFF039F294B}"/>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出力した「帳票定義</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ファイル」について </a:t>
            </a:r>
            <a:r>
              <a:rPr lang="ja-JP" altLang="en-US" b="1" dirty="0">
                <a:solidFill>
                  <a:schemeClr val="bg1"/>
                </a:solidFill>
                <a:latin typeface="メイリオ" pitchFamily="50" charset="-128"/>
                <a:ea typeface="メイリオ" pitchFamily="50" charset="-128"/>
                <a:cs typeface="メイリオ" pitchFamily="50" charset="-128"/>
              </a:rPr>
              <a:t>②出力時に追加されるシート</a:t>
            </a:r>
          </a:p>
        </p:txBody>
      </p:sp>
    </p:spTree>
    <p:custDataLst>
      <p:tags r:id="rId1"/>
    </p:custDataLst>
    <p:extLst>
      <p:ext uri="{BB962C8B-B14F-4D97-AF65-F5344CB8AC3E}">
        <p14:creationId xmlns:p14="http://schemas.microsoft.com/office/powerpoint/2010/main" val="109012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帳票定義の改訂</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正方形/長方形 3"/>
          <p:cNvSpPr/>
          <p:nvPr/>
        </p:nvSpPr>
        <p:spPr>
          <a:xfrm>
            <a:off x="263352" y="3356992"/>
            <a:ext cx="11521280" cy="461665"/>
          </a:xfrm>
          <a:prstGeom prst="rect">
            <a:avLst/>
          </a:prstGeom>
        </p:spPr>
        <p:txBody>
          <a:bodyPr wrap="square">
            <a:spAutoFit/>
          </a:bodyPr>
          <a:lstStyle/>
          <a:p>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②</a:t>
            </a:r>
            <a:r>
              <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帳票定義の編集</a:t>
            </a:r>
            <a:endPar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2248930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テキスト ボックス 15"/>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出力した</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帳票定義の編集</a:t>
            </a:r>
          </a:p>
        </p:txBody>
      </p:sp>
      <p:sp>
        <p:nvSpPr>
          <p:cNvPr id="17" name="正方形/長方形 16"/>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アドインを使ったクラスターの設定や、</a:t>
            </a:r>
            <a:r>
              <a:rPr lang="en-US" altLang="ja-JP"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のレイアウト変更などの編集を行います</a:t>
            </a:r>
          </a:p>
        </p:txBody>
      </p:sp>
      <p:sp>
        <p:nvSpPr>
          <p:cNvPr id="6" name="線吹き出し 1 (枠付き) 24">
            <a:extLst>
              <a:ext uri="{FF2B5EF4-FFF2-40B4-BE49-F238E27FC236}">
                <a16:creationId xmlns:a16="http://schemas.microsoft.com/office/drawing/2014/main" id="{E0FFC0FD-5AE9-44C2-F8F5-01F02B01002B}"/>
              </a:ext>
            </a:extLst>
          </p:cNvPr>
          <p:cNvSpPr/>
          <p:nvPr/>
        </p:nvSpPr>
        <p:spPr>
          <a:xfrm>
            <a:off x="1127448" y="1628800"/>
            <a:ext cx="9937104" cy="4496204"/>
          </a:xfrm>
          <a:prstGeom prst="rect">
            <a:avLst/>
          </a:prstGeom>
          <a:solidFill>
            <a:srgbClr val="CCFFCC"/>
          </a:solidFill>
          <a:ln w="12700">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bIns="108000" rtlCol="0" anchor="t">
            <a:spAutoFit/>
          </a:bodyPr>
          <a:lstStyle/>
          <a:p>
            <a:pPr defTabSz="4933950">
              <a:tabLst>
                <a:tab pos="180975" algn="l"/>
                <a:tab pos="444500" algn="l"/>
              </a:tabLst>
            </a:pP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クラスター編集について</a:t>
            </a:r>
            <a:r>
              <a:rPr lang="en-US" altLang="ja-JP" sz="1400" b="1" dirty="0">
                <a:solidFill>
                  <a:schemeClr val="tx1"/>
                </a:solidFill>
                <a:latin typeface="メイリオ" panose="020B0604030504040204" pitchFamily="50" charset="-128"/>
                <a:ea typeface="メイリオ" panose="020B0604030504040204" pitchFamily="50" charset="-128"/>
              </a:rPr>
              <a:t>】</a:t>
            </a:r>
          </a:p>
          <a:p>
            <a:pPr defTabSz="4933950">
              <a:tabLst>
                <a:tab pos="180975" algn="l"/>
                <a:tab pos="444500" algn="l"/>
              </a:tabLst>
            </a:pP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クラスターの設定はセルコメントとしてメモに記述されます。</a:t>
            </a:r>
            <a:r>
              <a:rPr lang="en-US" altLang="ja-JP" sz="1200" dirty="0">
                <a:solidFill>
                  <a:schemeClr val="tx1"/>
                </a:solidFill>
                <a:latin typeface="メイリオ" panose="020B0604030504040204" pitchFamily="50" charset="-128"/>
                <a:ea typeface="メイリオ" panose="020B0604030504040204" pitchFamily="50" charset="-128"/>
              </a:rPr>
              <a:t>	</a:t>
            </a: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セルにクラスターとは関係のないコメントが記述されていたり</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クラスター設定が失敗していると</a:t>
            </a:r>
            <a:r>
              <a:rPr lang="en-US" altLang="ja-JP" sz="1200" dirty="0">
                <a:solidFill>
                  <a:schemeClr val="tx1"/>
                </a:solidFill>
                <a:latin typeface="メイリオ" panose="020B0604030504040204" pitchFamily="50" charset="-128"/>
                <a:ea typeface="メイリオ" panose="020B0604030504040204" pitchFamily="50" charset="-128"/>
              </a:rPr>
              <a:t>Designer</a:t>
            </a:r>
            <a:r>
              <a:rPr lang="ja-JP" altLang="en-US" sz="1200" dirty="0">
                <a:solidFill>
                  <a:schemeClr val="tx1"/>
                </a:solidFill>
                <a:latin typeface="メイリオ" panose="020B0604030504040204" pitchFamily="50" charset="-128"/>
                <a:ea typeface="メイリオ" panose="020B0604030504040204" pitchFamily="50" charset="-128"/>
              </a:rPr>
              <a:t>取り込み時にエラーが表示されます。</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対処方法</a:t>
            </a:r>
            <a:r>
              <a:rPr lang="en-US" altLang="ja-JP" sz="1200" dirty="0">
                <a:solidFill>
                  <a:schemeClr val="tx1"/>
                </a:solidFill>
                <a:latin typeface="メイリオ" panose="020B0604030504040204" pitchFamily="50" charset="-128"/>
                <a:ea typeface="メイリオ" panose="020B0604030504040204" pitchFamily="50" charset="-128"/>
              </a:rPr>
              <a:t>】</a:t>
            </a: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・クラスター設定画面で該当箇所を解除　</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Excel</a:t>
            </a:r>
            <a:r>
              <a:rPr lang="ja-JP" altLang="en-US" sz="1200" dirty="0">
                <a:solidFill>
                  <a:schemeClr val="tx1"/>
                </a:solidFill>
                <a:latin typeface="メイリオ" panose="020B0604030504040204" pitchFamily="50" charset="-128"/>
                <a:ea typeface="メイリオ" panose="020B0604030504040204" pitchFamily="50" charset="-128"/>
              </a:rPr>
              <a:t>で対象のセルのメモを削除</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・クラスター種別を再度設定し直す</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メモの編集から直接の編集操作は行わないでください。</a:t>
            </a:r>
            <a:endParaRPr lang="en-US" altLang="ja-JP" sz="1200" b="1" dirty="0">
              <a:solidFill>
                <a:srgbClr val="FF0000"/>
              </a:solidFill>
              <a:latin typeface="メイリオ" panose="020B0604030504040204" pitchFamily="50" charset="-128"/>
              <a:ea typeface="メイリオ" panose="020B0604030504040204" pitchFamily="50" charset="-128"/>
            </a:endParaRPr>
          </a:p>
          <a:p>
            <a:pPr defTabSz="4933950">
              <a:tabLst>
                <a:tab pos="180975" algn="l"/>
                <a:tab pos="444500" algn="l"/>
              </a:tabLst>
            </a:pPr>
            <a:r>
              <a:rPr lang="ja-JP" altLang="en-US" sz="1200" dirty="0">
                <a:solidFill>
                  <a:schemeClr val="tx1"/>
                </a:solidFill>
                <a:latin typeface="メイリオ" panose="020B0604030504040204" pitchFamily="50" charset="-128"/>
                <a:ea typeface="メイリオ" panose="020B0604030504040204" pitchFamily="50" charset="-128"/>
              </a:rPr>
              <a:t>　　メモを編集すると以下エラーが表示されます。</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 pos="444500" algn="l"/>
              </a:tabLst>
            </a:pPr>
            <a:endParaRPr lang="en-US" altLang="ja-JP" sz="1200" dirty="0">
              <a:solidFill>
                <a:schemeClr val="tx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D6D8C47D-EE64-EE8D-76E9-668F7F2F2411}"/>
              </a:ext>
            </a:extLst>
          </p:cNvPr>
          <p:cNvPicPr>
            <a:picLocks noChangeAspect="1"/>
          </p:cNvPicPr>
          <p:nvPr/>
        </p:nvPicPr>
        <p:blipFill>
          <a:blip r:embed="rId4"/>
          <a:stretch>
            <a:fillRect/>
          </a:stretch>
        </p:blipFill>
        <p:spPr>
          <a:xfrm>
            <a:off x="7073957" y="2277478"/>
            <a:ext cx="3673523" cy="1578704"/>
          </a:xfrm>
          <a:prstGeom prst="rect">
            <a:avLst/>
          </a:prstGeom>
          <a:ln>
            <a:solidFill>
              <a:schemeClr val="tx1"/>
            </a:solidFill>
          </a:ln>
        </p:spPr>
      </p:pic>
      <p:sp>
        <p:nvSpPr>
          <p:cNvPr id="23" name="テキスト ボックス 22">
            <a:extLst>
              <a:ext uri="{FF2B5EF4-FFF2-40B4-BE49-F238E27FC236}">
                <a16:creationId xmlns:a16="http://schemas.microsoft.com/office/drawing/2014/main" id="{5757FEA7-C91B-BDD4-0E24-8F4952DC1C3B}"/>
              </a:ext>
            </a:extLst>
          </p:cNvPr>
          <p:cNvSpPr txBox="1"/>
          <p:nvPr/>
        </p:nvSpPr>
        <p:spPr>
          <a:xfrm>
            <a:off x="983432" y="1276998"/>
            <a:ext cx="10225136" cy="307777"/>
          </a:xfrm>
          <a:prstGeom prst="rect">
            <a:avLst/>
          </a:prstGeom>
          <a:noFill/>
        </p:spPr>
        <p:txBody>
          <a:bodyPr wrap="square" rtlCol="0">
            <a:spAutoFit/>
          </a:bodyPr>
          <a:lstStyle/>
          <a:p>
            <a:pPr marL="358775" lvl="1" indent="-358775" defTabSz="10042525">
              <a:buClr>
                <a:schemeClr val="accent5">
                  <a:lumMod val="75000"/>
                </a:schemeClr>
              </a:buClr>
              <a:tabLst>
                <a:tab pos="90488" algn="l"/>
                <a:tab pos="3587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クラスターの設定方法は、新規に帳票定義を作成する場合と同じです。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4" name="図 3">
            <a:extLst>
              <a:ext uri="{FF2B5EF4-FFF2-40B4-BE49-F238E27FC236}">
                <a16:creationId xmlns:a16="http://schemas.microsoft.com/office/drawing/2014/main" id="{45FD4FB8-96DE-D4F7-304B-88EA0A4935BD}"/>
              </a:ext>
            </a:extLst>
          </p:cNvPr>
          <p:cNvPicPr>
            <a:picLocks noChangeAspect="1"/>
          </p:cNvPicPr>
          <p:nvPr/>
        </p:nvPicPr>
        <p:blipFill>
          <a:blip r:embed="rId5"/>
          <a:stretch>
            <a:fillRect/>
          </a:stretch>
        </p:blipFill>
        <p:spPr>
          <a:xfrm>
            <a:off x="1775520" y="4056502"/>
            <a:ext cx="2775264" cy="1790021"/>
          </a:xfrm>
          <a:prstGeom prst="rect">
            <a:avLst/>
          </a:prstGeom>
          <a:ln>
            <a:solidFill>
              <a:schemeClr val="tx1"/>
            </a:solidFill>
          </a:ln>
        </p:spPr>
      </p:pic>
      <p:pic>
        <p:nvPicPr>
          <p:cNvPr id="7" name="図 6">
            <a:extLst>
              <a:ext uri="{FF2B5EF4-FFF2-40B4-BE49-F238E27FC236}">
                <a16:creationId xmlns:a16="http://schemas.microsoft.com/office/drawing/2014/main" id="{3E021EE3-47E3-4476-D937-2EC6EB7303C0}"/>
              </a:ext>
            </a:extLst>
          </p:cNvPr>
          <p:cNvPicPr>
            <a:picLocks noChangeAspect="1"/>
          </p:cNvPicPr>
          <p:nvPr/>
        </p:nvPicPr>
        <p:blipFill>
          <a:blip r:embed="rId6"/>
          <a:stretch>
            <a:fillRect/>
          </a:stretch>
        </p:blipFill>
        <p:spPr>
          <a:xfrm>
            <a:off x="5579583" y="4437112"/>
            <a:ext cx="5167897" cy="1055570"/>
          </a:xfrm>
          <a:prstGeom prst="rect">
            <a:avLst/>
          </a:prstGeom>
          <a:ln>
            <a:solidFill>
              <a:schemeClr val="tx1"/>
            </a:solidFill>
          </a:ln>
        </p:spPr>
      </p:pic>
      <p:sp>
        <p:nvSpPr>
          <p:cNvPr id="14" name="角丸四角形 17">
            <a:extLst>
              <a:ext uri="{FF2B5EF4-FFF2-40B4-BE49-F238E27FC236}">
                <a16:creationId xmlns:a16="http://schemas.microsoft.com/office/drawing/2014/main" id="{5D54F168-D355-5F13-8C80-5D3C9758A9F8}"/>
              </a:ext>
            </a:extLst>
          </p:cNvPr>
          <p:cNvSpPr/>
          <p:nvPr/>
        </p:nvSpPr>
        <p:spPr>
          <a:xfrm>
            <a:off x="8257990" y="5182429"/>
            <a:ext cx="783190" cy="351896"/>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3" name="角丸四角形 17">
            <a:extLst>
              <a:ext uri="{FF2B5EF4-FFF2-40B4-BE49-F238E27FC236}">
                <a16:creationId xmlns:a16="http://schemas.microsoft.com/office/drawing/2014/main" id="{324C70A4-4E3D-D5DD-DC59-32CB92415B7F}"/>
              </a:ext>
            </a:extLst>
          </p:cNvPr>
          <p:cNvSpPr/>
          <p:nvPr/>
        </p:nvSpPr>
        <p:spPr>
          <a:xfrm>
            <a:off x="8567014" y="2492896"/>
            <a:ext cx="1185350" cy="529899"/>
          </a:xfrm>
          <a:prstGeom prst="roundRect">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3221776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D586B054-4097-A160-8F50-A3AB6AE55043}"/>
              </a:ext>
            </a:extLst>
          </p:cNvPr>
          <p:cNvPicPr>
            <a:picLocks noChangeAspect="1"/>
          </p:cNvPicPr>
          <p:nvPr/>
        </p:nvPicPr>
        <p:blipFill>
          <a:blip r:embed="rId3"/>
          <a:srcRect l="19380"/>
          <a:stretch>
            <a:fillRect/>
          </a:stretch>
        </p:blipFill>
        <p:spPr>
          <a:xfrm>
            <a:off x="5879976" y="1614067"/>
            <a:ext cx="5060094" cy="1615786"/>
          </a:xfrm>
          <a:prstGeom prst="rect">
            <a:avLst/>
          </a:prstGeom>
          <a:ln>
            <a:solidFill>
              <a:schemeClr val="tx1"/>
            </a:solidFill>
          </a:ln>
        </p:spPr>
      </p:pic>
      <p:pic>
        <p:nvPicPr>
          <p:cNvPr id="20" name="図 19">
            <a:extLst>
              <a:ext uri="{FF2B5EF4-FFF2-40B4-BE49-F238E27FC236}">
                <a16:creationId xmlns:a16="http://schemas.microsoft.com/office/drawing/2014/main" id="{77C4BDBE-15C5-FFF6-4711-9BDC4D24E19D}"/>
              </a:ext>
            </a:extLst>
          </p:cNvPr>
          <p:cNvPicPr>
            <a:picLocks noChangeAspect="1"/>
          </p:cNvPicPr>
          <p:nvPr/>
        </p:nvPicPr>
        <p:blipFill>
          <a:blip r:embed="rId4"/>
          <a:srcRect l="3161" t="2945"/>
          <a:stretch>
            <a:fillRect/>
          </a:stretch>
        </p:blipFill>
        <p:spPr>
          <a:xfrm>
            <a:off x="1320307" y="1340768"/>
            <a:ext cx="3236181" cy="4854289"/>
          </a:xfrm>
          <a:prstGeom prst="rect">
            <a:avLst/>
          </a:prstGeom>
          <a:ln>
            <a:solidFill>
              <a:schemeClr val="tx1"/>
            </a:solidFill>
          </a:ln>
        </p:spPr>
      </p:pic>
      <p:sp>
        <p:nvSpPr>
          <p:cNvPr id="2" name="テキスト ボックス 1">
            <a:extLst>
              <a:ext uri="{FF2B5EF4-FFF2-40B4-BE49-F238E27FC236}">
                <a16:creationId xmlns:a16="http://schemas.microsoft.com/office/drawing/2014/main" id="{6F8ED03F-6562-780E-133D-9514490F1DA9}"/>
              </a:ext>
            </a:extLst>
          </p:cNvPr>
          <p:cNvSpPr txBox="1"/>
          <p:nvPr/>
        </p:nvSpPr>
        <p:spPr>
          <a:xfrm>
            <a:off x="0" y="0"/>
            <a:ext cx="12192000" cy="620688"/>
          </a:xfrm>
          <a:prstGeom prst="rect">
            <a:avLst/>
          </a:prstGeom>
          <a:noFill/>
          <a:ln>
            <a:solidFill>
              <a:schemeClr val="accent5">
                <a:lumMod val="50000"/>
              </a:schemeClr>
            </a:solid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出力した</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帳票定義に設定するクラスター種別設定①</a:t>
            </a:r>
          </a:p>
        </p:txBody>
      </p:sp>
      <p:sp>
        <p:nvSpPr>
          <p:cNvPr id="11" name="正方形/長方形 10">
            <a:extLst>
              <a:ext uri="{FF2B5EF4-FFF2-40B4-BE49-F238E27FC236}">
                <a16:creationId xmlns:a16="http://schemas.microsoft.com/office/drawing/2014/main" id="{9F907BB0-951C-582B-C961-D983DBE12907}"/>
              </a:ext>
            </a:extLst>
          </p:cNvPr>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出力した</a:t>
            </a:r>
            <a:r>
              <a:rPr lang="en-US" altLang="ja-JP"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上で新しいクラスターの配置</a:t>
            </a:r>
          </a:p>
        </p:txBody>
      </p:sp>
      <p:sp>
        <p:nvSpPr>
          <p:cNvPr id="12" name="テキスト ボックス 11">
            <a:extLst>
              <a:ext uri="{FF2B5EF4-FFF2-40B4-BE49-F238E27FC236}">
                <a16:creationId xmlns:a16="http://schemas.microsoft.com/office/drawing/2014/main" id="{4067FBAF-C11A-30AA-B6BD-D1351C13BB7C}"/>
              </a:ext>
            </a:extLst>
          </p:cNvPr>
          <p:cNvSpPr txBox="1"/>
          <p:nvPr/>
        </p:nvSpPr>
        <p:spPr>
          <a:xfrm>
            <a:off x="5988684" y="3575161"/>
            <a:ext cx="5112568" cy="2246769"/>
          </a:xfrm>
          <a:prstGeom prst="rect">
            <a:avLst/>
          </a:prstGeom>
          <a:noFill/>
        </p:spPr>
        <p:txBody>
          <a:bodyPr wrap="square" rtlCol="0">
            <a:spAutoFit/>
          </a:bodyPr>
          <a:lstStyle/>
          <a:p>
            <a:pPr marL="358775" lvl="1" indent="-358775" defTabSz="10042525">
              <a:buClr>
                <a:schemeClr val="accent5">
                  <a:lumMod val="75000"/>
                </a:schemeClr>
              </a:buClr>
              <a:tabLst>
                <a:tab pos="90488" algn="l"/>
                <a:tab pos="358775"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上では新たにクラスターを再配置することができます。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①</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クラスター名称：作成日</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種別：年月日</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②</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名称：製品コード</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種別：単一選択</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③</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名称：保存</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358775" lvl="1" indent="-358775" defTabSz="10042525">
              <a:buClr>
                <a:schemeClr val="accent5">
                  <a:lumMod val="75000"/>
                </a:schemeClr>
              </a:buClr>
              <a:tabLst>
                <a:tab pos="90488" algn="l"/>
                <a:tab pos="3587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種別：アクション</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7" name="曲線コネクタ 10">
            <a:extLst>
              <a:ext uri="{FF2B5EF4-FFF2-40B4-BE49-F238E27FC236}">
                <a16:creationId xmlns:a16="http://schemas.microsoft.com/office/drawing/2014/main" id="{F88E5017-6A68-2D7F-16B0-CD80A57987DF}"/>
              </a:ext>
            </a:extLst>
          </p:cNvPr>
          <p:cNvCxnSpPr>
            <a:cxnSpLocks/>
            <a:stCxn id="8" idx="1"/>
            <a:endCxn id="18" idx="3"/>
          </p:cNvCxnSpPr>
          <p:nvPr/>
        </p:nvCxnSpPr>
        <p:spPr>
          <a:xfrm rot="10800000">
            <a:off x="4908840" y="1965274"/>
            <a:ext cx="971137" cy="456686"/>
          </a:xfrm>
          <a:prstGeom prst="curvedConnector3">
            <a:avLst>
              <a:gd name="adj1" fmla="val 50000"/>
            </a:avLst>
          </a:prstGeom>
          <a:ln w="38100">
            <a:solidFill>
              <a:srgbClr val="FF0000"/>
            </a:solidFill>
            <a:prstDash val="sysDot"/>
            <a:tailEnd type="triangle"/>
          </a:ln>
          <a:effectLst>
            <a:glow rad="50800">
              <a:schemeClr val="bg1">
                <a:alpha val="50000"/>
              </a:schemeClr>
            </a:glow>
          </a:effectLst>
        </p:spPr>
        <p:style>
          <a:lnRef idx="1">
            <a:schemeClr val="accent1"/>
          </a:lnRef>
          <a:fillRef idx="0">
            <a:schemeClr val="accent1"/>
          </a:fillRef>
          <a:effectRef idx="0">
            <a:schemeClr val="accent1"/>
          </a:effectRef>
          <a:fontRef idx="minor">
            <a:schemeClr val="tx1"/>
          </a:fontRef>
        </p:style>
      </p:cxnSp>
      <p:cxnSp>
        <p:nvCxnSpPr>
          <p:cNvPr id="9" name="曲線コネクタ 10">
            <a:extLst>
              <a:ext uri="{FF2B5EF4-FFF2-40B4-BE49-F238E27FC236}">
                <a16:creationId xmlns:a16="http://schemas.microsoft.com/office/drawing/2014/main" id="{7C84BE46-1FE8-F132-18B6-242A073AA954}"/>
              </a:ext>
            </a:extLst>
          </p:cNvPr>
          <p:cNvCxnSpPr>
            <a:cxnSpLocks/>
            <a:stCxn id="8" idx="1"/>
            <a:endCxn id="19" idx="3"/>
          </p:cNvCxnSpPr>
          <p:nvPr/>
        </p:nvCxnSpPr>
        <p:spPr>
          <a:xfrm rot="10800000">
            <a:off x="4908840" y="2273052"/>
            <a:ext cx="971137" cy="148909"/>
          </a:xfrm>
          <a:prstGeom prst="curvedConnector3">
            <a:avLst>
              <a:gd name="adj1" fmla="val 50000"/>
            </a:avLst>
          </a:prstGeom>
          <a:ln w="38100">
            <a:solidFill>
              <a:srgbClr val="FF0000"/>
            </a:solidFill>
            <a:prstDash val="sysDot"/>
            <a:tailEnd type="triangle"/>
          </a:ln>
          <a:effectLst>
            <a:glow rad="508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0BC107AC-34D2-C474-D80B-F6000C0294F7}"/>
              </a:ext>
            </a:extLst>
          </p:cNvPr>
          <p:cNvSpPr/>
          <p:nvPr/>
        </p:nvSpPr>
        <p:spPr>
          <a:xfrm>
            <a:off x="4556489" y="1811385"/>
            <a:ext cx="352350"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①</a:t>
            </a:r>
          </a:p>
        </p:txBody>
      </p:sp>
      <p:sp>
        <p:nvSpPr>
          <p:cNvPr id="19" name="正方形/長方形 18">
            <a:extLst>
              <a:ext uri="{FF2B5EF4-FFF2-40B4-BE49-F238E27FC236}">
                <a16:creationId xmlns:a16="http://schemas.microsoft.com/office/drawing/2014/main" id="{7A0F4D14-D0E1-41EB-B026-18364D7D24FC}"/>
              </a:ext>
            </a:extLst>
          </p:cNvPr>
          <p:cNvSpPr/>
          <p:nvPr/>
        </p:nvSpPr>
        <p:spPr>
          <a:xfrm>
            <a:off x="4556489" y="2119162"/>
            <a:ext cx="352350"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②</a:t>
            </a:r>
          </a:p>
        </p:txBody>
      </p:sp>
      <p:sp>
        <p:nvSpPr>
          <p:cNvPr id="21" name="正方形/長方形 20">
            <a:extLst>
              <a:ext uri="{FF2B5EF4-FFF2-40B4-BE49-F238E27FC236}">
                <a16:creationId xmlns:a16="http://schemas.microsoft.com/office/drawing/2014/main" id="{00318FD5-7EA8-8E86-72CC-0BC6F72EE778}"/>
              </a:ext>
            </a:extLst>
          </p:cNvPr>
          <p:cNvSpPr/>
          <p:nvPr/>
        </p:nvSpPr>
        <p:spPr>
          <a:xfrm>
            <a:off x="4556489" y="5804683"/>
            <a:ext cx="352350"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③</a:t>
            </a:r>
          </a:p>
        </p:txBody>
      </p:sp>
      <p:cxnSp>
        <p:nvCxnSpPr>
          <p:cNvPr id="24" name="曲線コネクタ 10">
            <a:extLst>
              <a:ext uri="{FF2B5EF4-FFF2-40B4-BE49-F238E27FC236}">
                <a16:creationId xmlns:a16="http://schemas.microsoft.com/office/drawing/2014/main" id="{8E7F5B28-583A-344E-509F-147F1318BFAC}"/>
              </a:ext>
            </a:extLst>
          </p:cNvPr>
          <p:cNvCxnSpPr>
            <a:cxnSpLocks/>
            <a:stCxn id="8" idx="1"/>
            <a:endCxn id="21" idx="3"/>
          </p:cNvCxnSpPr>
          <p:nvPr/>
        </p:nvCxnSpPr>
        <p:spPr>
          <a:xfrm rot="10800000" flipV="1">
            <a:off x="4908840" y="2421960"/>
            <a:ext cx="971137" cy="3536612"/>
          </a:xfrm>
          <a:prstGeom prst="curvedConnector3">
            <a:avLst>
              <a:gd name="adj1" fmla="val 50000"/>
            </a:avLst>
          </a:prstGeom>
          <a:ln w="38100">
            <a:solidFill>
              <a:srgbClr val="FF0000"/>
            </a:solidFill>
            <a:prstDash val="sysDot"/>
            <a:tailEnd type="triangle"/>
          </a:ln>
          <a:effectLst>
            <a:glow rad="50800">
              <a:schemeClr val="bg1">
                <a:alpha val="5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841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965042" y="3900316"/>
            <a:ext cx="5130958" cy="338554"/>
          </a:xfrm>
          <a:prstGeom prst="rect">
            <a:avLst/>
          </a:prstGeom>
        </p:spPr>
        <p:txBody>
          <a:bodyPr wrap="square">
            <a:spAutoFit/>
          </a:bodyPr>
          <a:lstStyle/>
          <a:p>
            <a:r>
              <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ページ</a:t>
            </a: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シート</a:t>
            </a:r>
          </a:p>
        </p:txBody>
      </p:sp>
      <p:sp>
        <p:nvSpPr>
          <p:cNvPr id="5" name="テキスト ボックス 4"/>
          <p:cNvSpPr txBox="1"/>
          <p:nvPr/>
        </p:nvSpPr>
        <p:spPr>
          <a:xfrm>
            <a:off x="1198487" y="4273932"/>
            <a:ext cx="9866065" cy="523220"/>
          </a:xfrm>
          <a:prstGeom prst="rect">
            <a:avLst/>
          </a:prstGeom>
          <a:noFill/>
        </p:spPr>
        <p:txBody>
          <a:bodyPr wrap="square" rtlCol="0">
            <a:spAutoFit/>
          </a:bodyPr>
          <a:lstStyle/>
          <a:p>
            <a:pPr marL="0" lvl="1" defTabSz="5829300">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複数ページの帳票定義を作成する場合は、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Excel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シートごとに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ページとなるように作成します。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5829300">
              <a:buClr>
                <a:schemeClr val="accent5">
                  <a:lumMod val="75000"/>
                </a:schemeClr>
              </a:buClr>
              <a:tabLst>
                <a:tab pos="269875" algn="l"/>
              </a:tabLst>
            </a:pP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1</a:t>
            </a:r>
            <a:r>
              <a:rPr lang="ja-JP" altLang="en-US" sz="1400" b="1" dirty="0" err="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つの</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シートに複数ページの帳票定義を作成することはできません。</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p:cNvSpPr txBox="1"/>
          <p:nvPr/>
        </p:nvSpPr>
        <p:spPr>
          <a:xfrm>
            <a:off x="1198487" y="1175266"/>
            <a:ext cx="5761609" cy="523220"/>
          </a:xfrm>
          <a:prstGeom prst="rect">
            <a:avLst/>
          </a:prstGeom>
          <a:noFill/>
        </p:spPr>
        <p:txBody>
          <a:bodyPr wrap="square" rtlCol="0">
            <a:spAutoFit/>
          </a:bodyPr>
          <a:lstStyle/>
          <a:p>
            <a:pPr marL="0" lvl="1" defTabSz="5559425">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帳票レイアウトの範囲を選択し、「印刷範囲の設定」を行います。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5559425">
              <a:buClr>
                <a:schemeClr val="accent5">
                  <a:lumMod val="75000"/>
                </a:schemeClr>
              </a:buClr>
              <a:tabLst>
                <a:tab pos="269875"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各シートの印刷範囲で、帳票定義のシートが作成されます。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12"/>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印刷範囲の確認と保存</a:t>
            </a:r>
          </a:p>
        </p:txBody>
      </p:sp>
      <p:sp>
        <p:nvSpPr>
          <p:cNvPr id="15" name="正方形/長方形 14"/>
          <p:cNvSpPr/>
          <p:nvPr/>
        </p:nvSpPr>
        <p:spPr>
          <a:xfrm>
            <a:off x="965042" y="836712"/>
            <a:ext cx="5130958" cy="338554"/>
          </a:xfrm>
          <a:prstGeom prst="rect">
            <a:avLst/>
          </a:prstGeom>
        </p:spPr>
        <p:txBody>
          <a:bodyPr wrap="square">
            <a:spAutoFit/>
          </a:bodyPr>
          <a:lstStyle/>
          <a:p>
            <a:r>
              <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・シートの印刷範囲の設定</a:t>
            </a:r>
          </a:p>
        </p:txBody>
      </p:sp>
      <p:pic>
        <p:nvPicPr>
          <p:cNvPr id="2" name="図 1"/>
          <p:cNvPicPr>
            <a:picLocks noChangeAspect="1"/>
          </p:cNvPicPr>
          <p:nvPr/>
        </p:nvPicPr>
        <p:blipFill>
          <a:blip r:embed="rId4"/>
          <a:stretch>
            <a:fillRect/>
          </a:stretch>
        </p:blipFill>
        <p:spPr>
          <a:xfrm>
            <a:off x="1631504" y="1772816"/>
            <a:ext cx="6624736" cy="1892782"/>
          </a:xfrm>
          <a:prstGeom prst="rect">
            <a:avLst/>
          </a:prstGeom>
          <a:ln>
            <a:solidFill>
              <a:schemeClr val="tx1"/>
            </a:solidFill>
          </a:ln>
        </p:spPr>
      </p:pic>
      <p:sp>
        <p:nvSpPr>
          <p:cNvPr id="17" name="角丸四角形 16"/>
          <p:cNvSpPr/>
          <p:nvPr/>
        </p:nvSpPr>
        <p:spPr>
          <a:xfrm>
            <a:off x="3503712" y="1844824"/>
            <a:ext cx="1008112" cy="326370"/>
          </a:xfrm>
          <a:prstGeom prst="roundRect">
            <a:avLst>
              <a:gd name="adj" fmla="val 2350"/>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9" name="角丸四角形 18"/>
          <p:cNvSpPr/>
          <p:nvPr/>
        </p:nvSpPr>
        <p:spPr>
          <a:xfrm>
            <a:off x="4367808" y="2986405"/>
            <a:ext cx="1800200" cy="326370"/>
          </a:xfrm>
          <a:prstGeom prst="roundRect">
            <a:avLst>
              <a:gd name="adj" fmla="val 2350"/>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0" name="角丸四角形 19"/>
          <p:cNvSpPr/>
          <p:nvPr/>
        </p:nvSpPr>
        <p:spPr>
          <a:xfrm>
            <a:off x="6384032" y="2204270"/>
            <a:ext cx="1872208" cy="504649"/>
          </a:xfrm>
          <a:prstGeom prst="roundRect">
            <a:avLst>
              <a:gd name="adj" fmla="val 2350"/>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3" name="正方形/長方形 2"/>
          <p:cNvSpPr/>
          <p:nvPr/>
        </p:nvSpPr>
        <p:spPr>
          <a:xfrm>
            <a:off x="1703512" y="3402787"/>
            <a:ext cx="360040" cy="170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線吹き出し 1 (枠付き) 24">
            <a:extLst>
              <a:ext uri="{FF2B5EF4-FFF2-40B4-BE49-F238E27FC236}">
                <a16:creationId xmlns:a16="http://schemas.microsoft.com/office/drawing/2014/main" id="{624DEEFD-6D4B-9549-2DA1-B7A3CE8E8EF1}"/>
              </a:ext>
            </a:extLst>
          </p:cNvPr>
          <p:cNvSpPr/>
          <p:nvPr/>
        </p:nvSpPr>
        <p:spPr>
          <a:xfrm>
            <a:off x="1055441" y="5436642"/>
            <a:ext cx="10088608" cy="802885"/>
          </a:xfrm>
          <a:prstGeom prst="rect">
            <a:avLst/>
          </a:prstGeom>
          <a:solidFill>
            <a:srgbClr val="FFFFFF"/>
          </a:solidFill>
          <a:ln>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bIns="108000" rtlCol="0" anchor="t">
            <a:spAutoFit/>
          </a:bodyPr>
          <a:lstStyle/>
          <a:p>
            <a:pPr defTabSz="4933950">
              <a:tabLst>
                <a:tab pos="180975" algn="l"/>
              </a:tabLst>
            </a:pPr>
            <a:r>
              <a:rPr lang="ja-JP" altLang="en-US" sz="1400" b="1" dirty="0">
                <a:solidFill>
                  <a:schemeClr val="tx1"/>
                </a:solidFill>
                <a:latin typeface="メイリオ" panose="020B0604030504040204" pitchFamily="50" charset="-128"/>
                <a:ea typeface="メイリオ" panose="020B0604030504040204" pitchFamily="50" charset="-128"/>
              </a:rPr>
              <a:t>講習時の操作</a:t>
            </a:r>
            <a:endParaRPr lang="en-US" altLang="ja-JP" sz="14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終了後は、元のファイルの「上書き保存」を行ってください。</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後ほど行う操作の中で、再びこちらの</a:t>
            </a:r>
            <a:r>
              <a:rPr lang="en-US" altLang="ja-JP" sz="1200" dirty="0">
                <a:solidFill>
                  <a:schemeClr val="tx1"/>
                </a:solidFill>
                <a:latin typeface="メイリオ" panose="020B0604030504040204" pitchFamily="50" charset="-128"/>
                <a:ea typeface="メイリオ" panose="020B0604030504040204" pitchFamily="50" charset="-128"/>
              </a:rPr>
              <a:t>EXCEL</a:t>
            </a:r>
            <a:r>
              <a:rPr lang="ja-JP" altLang="en-US" sz="1200" dirty="0">
                <a:solidFill>
                  <a:schemeClr val="tx1"/>
                </a:solidFill>
                <a:latin typeface="メイリオ" panose="020B0604030504040204" pitchFamily="50" charset="-128"/>
                <a:ea typeface="メイリオ" panose="020B0604030504040204" pitchFamily="50" charset="-128"/>
              </a:rPr>
              <a:t>ファイルを開く機会がありますので、閉じずに最小化してください。</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534961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帳票定義の改訂</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正方形/長方形 3"/>
          <p:cNvSpPr/>
          <p:nvPr/>
        </p:nvSpPr>
        <p:spPr>
          <a:xfrm>
            <a:off x="263352" y="3356992"/>
            <a:ext cx="11521280" cy="461665"/>
          </a:xfrm>
          <a:prstGeom prst="rect">
            <a:avLst/>
          </a:prstGeom>
        </p:spPr>
        <p:txBody>
          <a:bodyPr wrap="square">
            <a:spAutoFit/>
          </a:bodyPr>
          <a:lstStyle/>
          <a:p>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③</a:t>
            </a:r>
            <a:r>
              <a:rPr lang="en-US" altLang="ja-JP" sz="2400" dirty="0" err="1">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Designer</a:t>
            </a:r>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への取り込み</a:t>
            </a:r>
            <a:endPar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482210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A323C8D7-5F30-1A11-C139-15CCA90AD37A}"/>
              </a:ext>
            </a:extLst>
          </p:cNvPr>
          <p:cNvGrpSpPr/>
          <p:nvPr/>
        </p:nvGrpSpPr>
        <p:grpSpPr>
          <a:xfrm>
            <a:off x="2377335" y="1923084"/>
            <a:ext cx="7778852" cy="3090620"/>
            <a:chOff x="2377335" y="1923084"/>
            <a:chExt cx="7778852" cy="3090620"/>
          </a:xfrm>
        </p:grpSpPr>
        <p:pic>
          <p:nvPicPr>
            <p:cNvPr id="2" name="図 1">
              <a:extLst>
                <a:ext uri="{FF2B5EF4-FFF2-40B4-BE49-F238E27FC236}">
                  <a16:creationId xmlns:a16="http://schemas.microsoft.com/office/drawing/2014/main" id="{145C945F-CDFD-3610-F841-78586B7E2DA8}"/>
                </a:ext>
              </a:extLst>
            </p:cNvPr>
            <p:cNvPicPr>
              <a:picLocks noChangeAspect="1"/>
            </p:cNvPicPr>
            <p:nvPr/>
          </p:nvPicPr>
          <p:blipFill>
            <a:blip r:embed="rId4"/>
            <a:stretch>
              <a:fillRect/>
            </a:stretch>
          </p:blipFill>
          <p:spPr>
            <a:xfrm>
              <a:off x="2377335" y="1923084"/>
              <a:ext cx="7778852" cy="3090620"/>
            </a:xfrm>
            <a:prstGeom prst="rect">
              <a:avLst/>
            </a:prstGeom>
            <a:ln>
              <a:solidFill>
                <a:schemeClr val="tx1"/>
              </a:solidFill>
            </a:ln>
          </p:spPr>
        </p:pic>
        <p:pic>
          <p:nvPicPr>
            <p:cNvPr id="4" name="図 3">
              <a:extLst>
                <a:ext uri="{FF2B5EF4-FFF2-40B4-BE49-F238E27FC236}">
                  <a16:creationId xmlns:a16="http://schemas.microsoft.com/office/drawing/2014/main" id="{DEFD3FEC-5773-9202-58D1-45BBC2B6F2FB}"/>
                </a:ext>
              </a:extLst>
            </p:cNvPr>
            <p:cNvPicPr>
              <a:picLocks noChangeAspect="1"/>
            </p:cNvPicPr>
            <p:nvPr/>
          </p:nvPicPr>
          <p:blipFill>
            <a:blip r:embed="rId5"/>
            <a:stretch>
              <a:fillRect/>
            </a:stretch>
          </p:blipFill>
          <p:spPr>
            <a:xfrm>
              <a:off x="6672064" y="2709446"/>
              <a:ext cx="3384376" cy="2261522"/>
            </a:xfrm>
            <a:prstGeom prst="rect">
              <a:avLst/>
            </a:prstGeom>
          </p:spPr>
        </p:pic>
      </p:grpSp>
      <p:sp>
        <p:nvSpPr>
          <p:cNvPr id="9" name="テキスト ボックス 8"/>
          <p:cNvSpPr txBox="1"/>
          <p:nvPr/>
        </p:nvSpPr>
        <p:spPr>
          <a:xfrm>
            <a:off x="983432" y="1276998"/>
            <a:ext cx="10225136" cy="388568"/>
          </a:xfrm>
          <a:prstGeom prst="rect">
            <a:avLst/>
          </a:prstGeom>
          <a:noFill/>
        </p:spPr>
        <p:txBody>
          <a:bodyPr wrap="square" rtlCol="0">
            <a:spAutoFit/>
          </a:bodyPr>
          <a:lstStyle/>
          <a:p>
            <a:pPr marL="0" lvl="1" defTabSz="9063038">
              <a:lnSpc>
                <a:spcPct val="150000"/>
              </a:lnSpc>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①</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元となる帳票定義を開いている状態で「帳票定義情報設定」タブをクリックします。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角丸四角形 23"/>
          <p:cNvSpPr/>
          <p:nvPr/>
        </p:nvSpPr>
        <p:spPr>
          <a:xfrm>
            <a:off x="2371792" y="1898414"/>
            <a:ext cx="813193" cy="230126"/>
          </a:xfrm>
          <a:prstGeom prst="roundRect">
            <a:avLst/>
          </a:prstGeom>
          <a:noFill/>
          <a:ln w="38100">
            <a:solidFill>
              <a:srgbClr val="C0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2" name="テキスト ボックス 21"/>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リビジョンアップ用</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帳票定義ファイルの取り込み</a:t>
            </a:r>
          </a:p>
        </p:txBody>
      </p:sp>
      <p:sp>
        <p:nvSpPr>
          <p:cNvPr id="26" name="正方形/長方形 25"/>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変更前の帳票定義を表示している状態で、修正した</a:t>
            </a:r>
            <a:r>
              <a:rPr lang="en-US" altLang="ja-JP"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帳票定義ファイルを取り込みます</a:t>
            </a:r>
          </a:p>
        </p:txBody>
      </p:sp>
      <p:grpSp>
        <p:nvGrpSpPr>
          <p:cNvPr id="7" name="グループ化 6">
            <a:extLst>
              <a:ext uri="{FF2B5EF4-FFF2-40B4-BE49-F238E27FC236}">
                <a16:creationId xmlns:a16="http://schemas.microsoft.com/office/drawing/2014/main" id="{0EA6EDDD-5E59-B96A-9E0E-A7C05A2AFAFC}"/>
              </a:ext>
            </a:extLst>
          </p:cNvPr>
          <p:cNvGrpSpPr/>
          <p:nvPr/>
        </p:nvGrpSpPr>
        <p:grpSpPr>
          <a:xfrm>
            <a:off x="1055439" y="5589240"/>
            <a:ext cx="10081119" cy="692933"/>
            <a:chOff x="1055439" y="5589240"/>
            <a:chExt cx="10081119" cy="692933"/>
          </a:xfrm>
        </p:grpSpPr>
        <p:sp>
          <p:nvSpPr>
            <p:cNvPr id="10" name="角丸四角形 19">
              <a:extLst>
                <a:ext uri="{FF2B5EF4-FFF2-40B4-BE49-F238E27FC236}">
                  <a16:creationId xmlns:a16="http://schemas.microsoft.com/office/drawing/2014/main" id="{87C66889-8180-A9B0-C77B-D7A7F3884B7D}"/>
                </a:ext>
              </a:extLst>
            </p:cNvPr>
            <p:cNvSpPr/>
            <p:nvPr/>
          </p:nvSpPr>
          <p:spPr>
            <a:xfrm>
              <a:off x="1055439" y="5589240"/>
              <a:ext cx="10081119" cy="692933"/>
            </a:xfrm>
            <a:prstGeom prst="roundRect">
              <a:avLst>
                <a:gd name="adj" fmla="val 10971"/>
              </a:avLst>
            </a:prstGeom>
            <a:solidFill>
              <a:srgbClr val="FF0000"/>
            </a:solidFill>
            <a:ln>
              <a:noFill/>
            </a:ln>
          </p:spPr>
          <p:style>
            <a:lnRef idx="1">
              <a:schemeClr val="accent4"/>
            </a:lnRef>
            <a:fillRef idx="3">
              <a:schemeClr val="accent4"/>
            </a:fillRef>
            <a:effectRef idx="2">
              <a:schemeClr val="accent4"/>
            </a:effectRef>
            <a:fontRef idx="minor">
              <a:schemeClr val="lt1"/>
            </a:fontRef>
          </p:style>
          <p:txBody>
            <a:bodyPr wrap="square" lIns="108000" tIns="108000" rIns="108000" bIns="108000">
              <a:spAutoFit/>
            </a:bodyPr>
            <a:lstStyle/>
            <a:p>
              <a:pPr marL="628650" defTabSz="7896225">
                <a:buClr>
                  <a:schemeClr val="accent5">
                    <a:lumMod val="75000"/>
                  </a:schemeClr>
                </a:buClr>
              </a:pPr>
              <a:r>
                <a:rPr lang="ja-JP" altLang="en-US"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画面左上の</a:t>
              </a:r>
              <a:r>
                <a:rPr lang="en-US" altLang="ja-JP"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帳票定義を作成する</a:t>
              </a:r>
              <a:r>
                <a:rPr lang="en-US" altLang="ja-JP"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では更新操作は行えません。</a:t>
              </a:r>
              <a:endParaRPr lang="en-US" altLang="ja-JP"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p>
              <a:pPr marL="628650" defTabSz="7896225">
                <a:buClr>
                  <a:schemeClr val="accent5">
                    <a:lumMod val="75000"/>
                  </a:schemeClr>
                </a:buClr>
              </a:pPr>
              <a:r>
                <a:rPr lang="ja-JP" altLang="en-US" sz="1400" b="1" u="sng"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公開済みから帳票定義を開いた場合でもそれを破棄し、「新規帳票定義」として新しく作成を行います。</a:t>
              </a:r>
              <a:r>
                <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1" name="Picture 3" descr="Z:\購入,DLした素材\ConMasDOCs_ICON\exclamation.png">
              <a:extLst>
                <a:ext uri="{FF2B5EF4-FFF2-40B4-BE49-F238E27FC236}">
                  <a16:creationId xmlns:a16="http://schemas.microsoft.com/office/drawing/2014/main" id="{D0CA8FC4-1CDF-9D31-F171-AFF2C340F4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120" y="5803790"/>
              <a:ext cx="304800" cy="304800"/>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四角形吹き出し 9">
            <a:extLst>
              <a:ext uri="{FF2B5EF4-FFF2-40B4-BE49-F238E27FC236}">
                <a16:creationId xmlns:a16="http://schemas.microsoft.com/office/drawing/2014/main" id="{7ED7C18A-03E7-F3E5-47CB-546CCA4E0519}"/>
              </a:ext>
            </a:extLst>
          </p:cNvPr>
          <p:cNvSpPr/>
          <p:nvPr/>
        </p:nvSpPr>
        <p:spPr>
          <a:xfrm>
            <a:off x="6130234" y="1741615"/>
            <a:ext cx="2011261" cy="545095"/>
          </a:xfrm>
          <a:prstGeom prst="wedgeRectCallout">
            <a:avLst>
              <a:gd name="adj1" fmla="val -62474"/>
              <a:gd name="adj2" fmla="val 40714"/>
            </a:avLst>
          </a:prstGeom>
          <a:solidFill>
            <a:schemeClr val="accent5">
              <a:lumMod val="50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tIns="72000" bIns="36000" rtlCol="0" anchor="ctr">
            <a:noAutofit/>
          </a:bodyPr>
          <a:lstStyle/>
          <a:p>
            <a:r>
              <a:rPr lang="ja-JP" altLang="en-US" sz="1200" b="1" dirty="0">
                <a:latin typeface="メイリオ" pitchFamily="50" charset="-128"/>
                <a:ea typeface="メイリオ" pitchFamily="50" charset="-128"/>
                <a:cs typeface="メイリオ" pitchFamily="50" charset="-128"/>
              </a:rPr>
              <a:t>定義の更新を行う場合は</a:t>
            </a:r>
            <a:endParaRPr lang="en-US" altLang="ja-JP" sz="1200" b="1" dirty="0">
              <a:latin typeface="メイリオ" pitchFamily="50" charset="-128"/>
              <a:ea typeface="メイリオ" pitchFamily="50" charset="-128"/>
              <a:cs typeface="メイリオ" pitchFamily="50" charset="-128"/>
            </a:endParaRPr>
          </a:p>
          <a:p>
            <a:r>
              <a:rPr lang="ja-JP" altLang="en-US" sz="1200" b="1" dirty="0">
                <a:latin typeface="メイリオ" pitchFamily="50" charset="-128"/>
                <a:ea typeface="メイリオ" pitchFamily="50" charset="-128"/>
                <a:cs typeface="メイリオ" pitchFamily="50" charset="-128"/>
              </a:rPr>
              <a:t>こちらをクリックします。</a:t>
            </a:r>
          </a:p>
        </p:txBody>
      </p:sp>
      <p:sp>
        <p:nvSpPr>
          <p:cNvPr id="33" name="角丸四角形 23">
            <a:extLst>
              <a:ext uri="{FF2B5EF4-FFF2-40B4-BE49-F238E27FC236}">
                <a16:creationId xmlns:a16="http://schemas.microsoft.com/office/drawing/2014/main" id="{AFFC7520-5546-0515-224A-FB196548516E}"/>
              </a:ext>
            </a:extLst>
          </p:cNvPr>
          <p:cNvSpPr/>
          <p:nvPr/>
        </p:nvSpPr>
        <p:spPr>
          <a:xfrm>
            <a:off x="4943873" y="2230757"/>
            <a:ext cx="705516" cy="190131"/>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34" name="十字形 33">
            <a:extLst>
              <a:ext uri="{FF2B5EF4-FFF2-40B4-BE49-F238E27FC236}">
                <a16:creationId xmlns:a16="http://schemas.microsoft.com/office/drawing/2014/main" id="{34816551-A583-E1C5-1A9E-6A831F6FAEDC}"/>
              </a:ext>
            </a:extLst>
          </p:cNvPr>
          <p:cNvSpPr/>
          <p:nvPr/>
        </p:nvSpPr>
        <p:spPr>
          <a:xfrm rot="18895156">
            <a:off x="2478945" y="1755039"/>
            <a:ext cx="491207" cy="506519"/>
          </a:xfrm>
          <a:prstGeom prst="plus">
            <a:avLst>
              <a:gd name="adj" fmla="val 4188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C9A4A582-1FBE-19C0-13C4-A72CBD942366}"/>
              </a:ext>
            </a:extLst>
          </p:cNvPr>
          <p:cNvPicPr>
            <a:picLocks noChangeAspect="1"/>
          </p:cNvPicPr>
          <p:nvPr/>
        </p:nvPicPr>
        <p:blipFill>
          <a:blip r:embed="rId7"/>
          <a:stretch>
            <a:fillRect/>
          </a:stretch>
        </p:blipFill>
        <p:spPr>
          <a:xfrm>
            <a:off x="4501191" y="2894261"/>
            <a:ext cx="1030811" cy="2119443"/>
          </a:xfrm>
          <a:prstGeom prst="rect">
            <a:avLst/>
          </a:prstGeom>
        </p:spPr>
      </p:pic>
    </p:spTree>
    <p:custDataLst>
      <p:tags r:id="rId1"/>
    </p:custDataLst>
    <p:extLst>
      <p:ext uri="{BB962C8B-B14F-4D97-AF65-F5344CB8AC3E}">
        <p14:creationId xmlns:p14="http://schemas.microsoft.com/office/powerpoint/2010/main" val="1521963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図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8540" y="2074943"/>
            <a:ext cx="2434635" cy="1554022"/>
          </a:xfrm>
          <a:prstGeom prst="rect">
            <a:avLst/>
          </a:prstGeom>
        </p:spPr>
      </p:pic>
      <p:pic>
        <p:nvPicPr>
          <p:cNvPr id="3" name="図 2">
            <a:extLst>
              <a:ext uri="{FF2B5EF4-FFF2-40B4-BE49-F238E27FC236}">
                <a16:creationId xmlns:a16="http://schemas.microsoft.com/office/drawing/2014/main" id="{617B9322-FC27-329F-FD5F-85F93B44D3E1}"/>
              </a:ext>
            </a:extLst>
          </p:cNvPr>
          <p:cNvPicPr>
            <a:picLocks noChangeAspect="1"/>
          </p:cNvPicPr>
          <p:nvPr/>
        </p:nvPicPr>
        <p:blipFill rotWithShape="1">
          <a:blip r:embed="rId5"/>
          <a:srcRect l="29153" r="7324"/>
          <a:stretch/>
        </p:blipFill>
        <p:spPr>
          <a:xfrm>
            <a:off x="1148219" y="2069279"/>
            <a:ext cx="4843902" cy="2841830"/>
          </a:xfrm>
          <a:prstGeom prst="rect">
            <a:avLst/>
          </a:prstGeom>
          <a:ln>
            <a:solidFill>
              <a:schemeClr val="tx1"/>
            </a:solidFill>
          </a:ln>
        </p:spPr>
      </p:pic>
      <p:sp>
        <p:nvSpPr>
          <p:cNvPr id="9" name="テキスト ボックス 8"/>
          <p:cNvSpPr txBox="1"/>
          <p:nvPr/>
        </p:nvSpPr>
        <p:spPr>
          <a:xfrm>
            <a:off x="983432" y="1276998"/>
            <a:ext cx="10225136" cy="388568"/>
          </a:xfrm>
          <a:prstGeom prst="rect">
            <a:avLst/>
          </a:prstGeom>
          <a:noFill/>
        </p:spPr>
        <p:txBody>
          <a:bodyPr wrap="square" rtlCol="0">
            <a:spAutoFit/>
          </a:bodyPr>
          <a:lstStyle/>
          <a:p>
            <a:pPr marL="0" lvl="1" defTabSz="9063038">
              <a:lnSpc>
                <a:spcPct val="150000"/>
              </a:lnSpc>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①</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切り替えた画面上部にある「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ファイルから作成する」をクリックします。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8" name="グループ化 7">
            <a:extLst>
              <a:ext uri="{FF2B5EF4-FFF2-40B4-BE49-F238E27FC236}">
                <a16:creationId xmlns:a16="http://schemas.microsoft.com/office/drawing/2014/main" id="{8EB964B4-77EB-42A2-9AC7-EFFC485DC3EC}"/>
              </a:ext>
            </a:extLst>
          </p:cNvPr>
          <p:cNvGrpSpPr/>
          <p:nvPr/>
        </p:nvGrpSpPr>
        <p:grpSpPr>
          <a:xfrm>
            <a:off x="1055439" y="5589240"/>
            <a:ext cx="10081119" cy="692933"/>
            <a:chOff x="1055439" y="5589240"/>
            <a:chExt cx="10081119" cy="692933"/>
          </a:xfrm>
        </p:grpSpPr>
        <p:sp>
          <p:nvSpPr>
            <p:cNvPr id="20" name="角丸四角形 19"/>
            <p:cNvSpPr/>
            <p:nvPr/>
          </p:nvSpPr>
          <p:spPr>
            <a:xfrm>
              <a:off x="1055439" y="5589240"/>
              <a:ext cx="10081119" cy="692933"/>
            </a:xfrm>
            <a:prstGeom prst="roundRect">
              <a:avLst>
                <a:gd name="adj" fmla="val 10971"/>
              </a:avLst>
            </a:prstGeom>
            <a:solidFill>
              <a:srgbClr val="FF0000"/>
            </a:solidFill>
            <a:ln>
              <a:noFill/>
            </a:ln>
          </p:spPr>
          <p:style>
            <a:lnRef idx="1">
              <a:schemeClr val="accent4"/>
            </a:lnRef>
            <a:fillRef idx="3">
              <a:schemeClr val="accent4"/>
            </a:fillRef>
            <a:effectRef idx="2">
              <a:schemeClr val="accent4"/>
            </a:effectRef>
            <a:fontRef idx="minor">
              <a:schemeClr val="lt1"/>
            </a:fontRef>
          </p:style>
          <p:txBody>
            <a:bodyPr wrap="square" lIns="108000" tIns="108000" rIns="108000" bIns="108000">
              <a:spAutoFit/>
            </a:bodyPr>
            <a:lstStyle/>
            <a:p>
              <a:pPr marL="628650" defTabSz="7896225">
                <a:buClr>
                  <a:schemeClr val="accent5">
                    <a:lumMod val="75000"/>
                  </a:schemeClr>
                </a:buClr>
              </a:pPr>
              <a:r>
                <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帳票定義を修正する場合、</a:t>
              </a:r>
              <a:r>
                <a:rPr lang="en-US" altLang="ja-JP" sz="1400" b="1" dirty="0">
                  <a:solidFill>
                    <a:srgbClr val="FFFF00"/>
                  </a:solidFill>
                  <a:latin typeface="メイリオ" panose="020B0604030504040204" pitchFamily="50" charset="-128"/>
                  <a:ea typeface="メイリオ" panose="020B0604030504040204" pitchFamily="50" charset="-128"/>
                  <a:cs typeface="メイリオ" panose="020B0604030504040204" pitchFamily="50" charset="-128"/>
                </a:rPr>
                <a:t>Excel </a:t>
              </a:r>
              <a:r>
                <a:rPr lang="ja-JP" altLang="en-US" sz="1400" b="1" dirty="0">
                  <a:solidFill>
                    <a:srgbClr val="FFFF00"/>
                  </a:solidFill>
                  <a:latin typeface="メイリオ" panose="020B0604030504040204" pitchFamily="50" charset="-128"/>
                  <a:ea typeface="メイリオ" panose="020B0604030504040204" pitchFamily="50" charset="-128"/>
                  <a:cs typeface="メイリオ" panose="020B0604030504040204" pitchFamily="50" charset="-128"/>
                </a:rPr>
                <a:t>定義の取込みは必ず帳票定義を表示している状態で</a:t>
              </a:r>
              <a:r>
                <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行ってください。</a:t>
              </a:r>
              <a:endParaRPr lang="en-US" altLang="ja-JP"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p>
              <a:pPr marL="628650" defTabSz="7896225">
                <a:buClr>
                  <a:schemeClr val="accent5">
                    <a:lumMod val="75000"/>
                  </a:schemeClr>
                </a:buClr>
              </a:pPr>
              <a:r>
                <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上記操作を行うことで、公開済みの帳票定義に対し上書き更新を行います。</a:t>
              </a:r>
              <a:endParaRPr lang="en-US" altLang="ja-JP"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1" name="Picture 3" descr="Z:\購入,DLした素材\ConMasDOCs_ICON\exclamatio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120" y="5803790"/>
              <a:ext cx="304800" cy="304800"/>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テキスト ボックス 15"/>
          <p:cNvSpPr txBox="1"/>
          <p:nvPr/>
        </p:nvSpPr>
        <p:spPr>
          <a:xfrm>
            <a:off x="6199881" y="3927218"/>
            <a:ext cx="2501807" cy="646331"/>
          </a:xfrm>
          <a:prstGeom prst="rect">
            <a:avLst/>
          </a:prstGeom>
          <a:noFill/>
        </p:spPr>
        <p:txBody>
          <a:bodyPr wrap="square" rtlCol="0">
            <a:spAutoFit/>
          </a:bodyPr>
          <a:lstStyle/>
          <a:p>
            <a:pPr marL="0" lvl="1" defTabSz="3673475">
              <a:buClr>
                <a:schemeClr val="accent5">
                  <a:lumMod val="75000"/>
                </a:schemeClr>
              </a:buClr>
              <a:tabLst>
                <a:tab pos="269875" algn="l"/>
              </a:tabLst>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②現在開いている画面を閉じるか</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3673475">
              <a:buClr>
                <a:schemeClr val="accent5">
                  <a:lumMod val="75000"/>
                </a:schemeClr>
              </a:buClr>
              <a:tabLst>
                <a:tab pos="269875" algn="l"/>
              </a:tabLst>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確認が行われます。</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3673475">
              <a:buClr>
                <a:schemeClr val="accent5">
                  <a:lumMod val="75000"/>
                </a:schemeClr>
              </a:buClr>
              <a:tabLst>
                <a:tab pos="269875" algn="l"/>
              </a:tabLst>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はいを選択しましょう。</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7" name="図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77047" y="2085671"/>
            <a:ext cx="2448114" cy="1562626"/>
          </a:xfrm>
          <a:prstGeom prst="rect">
            <a:avLst/>
          </a:prstGeom>
        </p:spPr>
      </p:pic>
      <p:sp>
        <p:nvSpPr>
          <p:cNvPr id="18" name="角丸四角形 17"/>
          <p:cNvSpPr/>
          <p:nvPr/>
        </p:nvSpPr>
        <p:spPr>
          <a:xfrm>
            <a:off x="7125238" y="3365368"/>
            <a:ext cx="554938" cy="263598"/>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4" name="角丸四角形 23"/>
          <p:cNvSpPr/>
          <p:nvPr/>
        </p:nvSpPr>
        <p:spPr>
          <a:xfrm>
            <a:off x="9696399" y="3371619"/>
            <a:ext cx="611749" cy="212639"/>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2" name="テキスト ボックス 21"/>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リビジョンアップ用</a:t>
            </a:r>
            <a:r>
              <a:rPr lang="en-US" altLang="ja-JP" sz="2400" b="1" dirty="0">
                <a:solidFill>
                  <a:schemeClr val="bg1"/>
                </a:solidFill>
                <a:latin typeface="メイリオ" pitchFamily="50" charset="-128"/>
                <a:ea typeface="メイリオ" pitchFamily="50" charset="-128"/>
                <a:cs typeface="メイリオ" pitchFamily="50" charset="-128"/>
              </a:rPr>
              <a:t>Excel</a:t>
            </a:r>
            <a:r>
              <a:rPr lang="ja-JP" altLang="en-US" sz="2400" b="1" dirty="0">
                <a:solidFill>
                  <a:schemeClr val="bg1"/>
                </a:solidFill>
                <a:latin typeface="メイリオ" pitchFamily="50" charset="-128"/>
                <a:ea typeface="メイリオ" pitchFamily="50" charset="-128"/>
                <a:cs typeface="メイリオ" pitchFamily="50" charset="-128"/>
              </a:rPr>
              <a:t>帳票定義ファイルの取り込み</a:t>
            </a:r>
          </a:p>
        </p:txBody>
      </p:sp>
      <p:sp>
        <p:nvSpPr>
          <p:cNvPr id="26" name="正方形/長方形 25"/>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変更前の帳票定義を表示している状態で、修正した</a:t>
            </a:r>
            <a:r>
              <a:rPr lang="en-US" altLang="ja-JP"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帳票定義ファイルを取り込みます</a:t>
            </a:r>
          </a:p>
        </p:txBody>
      </p:sp>
      <p:sp>
        <p:nvSpPr>
          <p:cNvPr id="28" name="テキスト ボックス 27"/>
          <p:cNvSpPr txBox="1"/>
          <p:nvPr/>
        </p:nvSpPr>
        <p:spPr>
          <a:xfrm>
            <a:off x="8678821" y="3957739"/>
            <a:ext cx="2614072" cy="830997"/>
          </a:xfrm>
          <a:prstGeom prst="rect">
            <a:avLst/>
          </a:prstGeom>
          <a:noFill/>
        </p:spPr>
        <p:txBody>
          <a:bodyPr wrap="square" rtlCol="0">
            <a:spAutoFit/>
          </a:bodyPr>
          <a:lstStyle/>
          <a:p>
            <a:pPr marL="269875" lvl="1" indent="-269875" defTabSz="3673475">
              <a:buClr>
                <a:schemeClr val="accent5">
                  <a:lumMod val="75000"/>
                </a:schemeClr>
              </a:buClr>
              <a:tabLst>
                <a:tab pos="269875" algn="l"/>
              </a:tabLst>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　③</a:t>
            </a: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の再採番に関して</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marL="269875" lvl="1" indent="-269875" defTabSz="3673475">
              <a:buClr>
                <a:schemeClr val="accent5">
                  <a:lumMod val="75000"/>
                </a:schemeClr>
              </a:buClr>
              <a:tabLst>
                <a:tab pos="269875" algn="l"/>
              </a:tabLst>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「はい」「いいえ」いずれかを選択します。</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marL="269875" lvl="1" indent="-269875" defTabSz="3673475">
              <a:buClr>
                <a:schemeClr val="accent5">
                  <a:lumMod val="75000"/>
                </a:schemeClr>
              </a:buClr>
              <a:tabLst>
                <a:tab pos="269875" algn="l"/>
              </a:tabLst>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（次ページ参照）</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9" name="曲線コネクタ 28"/>
          <p:cNvCxnSpPr>
            <a:cxnSpLocks/>
            <a:stCxn id="27" idx="3"/>
            <a:endCxn id="18" idx="0"/>
          </p:cNvCxnSpPr>
          <p:nvPr/>
        </p:nvCxnSpPr>
        <p:spPr>
          <a:xfrm>
            <a:off x="4727848" y="2995256"/>
            <a:ext cx="2674859" cy="370112"/>
          </a:xfrm>
          <a:prstGeom prst="curvedConnector2">
            <a:avLst/>
          </a:prstGeom>
          <a:ln w="38100">
            <a:solidFill>
              <a:srgbClr val="FF0000"/>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0" name="曲線コネクタ 29"/>
          <p:cNvCxnSpPr>
            <a:cxnSpLocks/>
            <a:stCxn id="18" idx="2"/>
            <a:endCxn id="23" idx="2"/>
          </p:cNvCxnSpPr>
          <p:nvPr/>
        </p:nvCxnSpPr>
        <p:spPr>
          <a:xfrm rot="5400000" flipH="1" flipV="1">
            <a:off x="8694281" y="2337390"/>
            <a:ext cx="1" cy="2583151"/>
          </a:xfrm>
          <a:prstGeom prst="curvedConnector3">
            <a:avLst>
              <a:gd name="adj1" fmla="val -22860000000"/>
            </a:avLst>
          </a:prstGeom>
          <a:ln w="38100">
            <a:solidFill>
              <a:srgbClr val="FF0000"/>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50E08801-4009-49C9-9679-6851F4F4DB56}"/>
              </a:ext>
            </a:extLst>
          </p:cNvPr>
          <p:cNvSpPr/>
          <p:nvPr/>
        </p:nvSpPr>
        <p:spPr>
          <a:xfrm>
            <a:off x="6761774" y="3365367"/>
            <a:ext cx="388666"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②</a:t>
            </a:r>
          </a:p>
        </p:txBody>
      </p:sp>
      <p:sp>
        <p:nvSpPr>
          <p:cNvPr id="32" name="正方形/長方形 31">
            <a:extLst>
              <a:ext uri="{FF2B5EF4-FFF2-40B4-BE49-F238E27FC236}">
                <a16:creationId xmlns:a16="http://schemas.microsoft.com/office/drawing/2014/main" id="{AA03F951-3B5B-4761-9EB0-98A980C18F81}"/>
              </a:ext>
            </a:extLst>
          </p:cNvPr>
          <p:cNvSpPr/>
          <p:nvPr/>
        </p:nvSpPr>
        <p:spPr>
          <a:xfrm>
            <a:off x="9358687" y="3343428"/>
            <a:ext cx="388666"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③</a:t>
            </a:r>
          </a:p>
        </p:txBody>
      </p:sp>
      <p:sp>
        <p:nvSpPr>
          <p:cNvPr id="25" name="右矢印 24"/>
          <p:cNvSpPr/>
          <p:nvPr/>
        </p:nvSpPr>
        <p:spPr>
          <a:xfrm>
            <a:off x="5462946" y="3380009"/>
            <a:ext cx="552009" cy="490936"/>
          </a:xfrm>
          <a:prstGeom prst="rightArrow">
            <a:avLst/>
          </a:prstGeom>
          <a:solidFill>
            <a:schemeClr val="accent4">
              <a:lumMod val="20000"/>
              <a:lumOff val="80000"/>
            </a:schemeClr>
          </a:solidFill>
          <a:ln>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7" name="角丸四角形 26"/>
          <p:cNvSpPr/>
          <p:nvPr/>
        </p:nvSpPr>
        <p:spPr>
          <a:xfrm>
            <a:off x="3003474" y="2872736"/>
            <a:ext cx="1724374" cy="245039"/>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B1AFC182-514D-04CA-3090-D248D5D7AE17}"/>
              </a:ext>
            </a:extLst>
          </p:cNvPr>
          <p:cNvSpPr/>
          <p:nvPr/>
        </p:nvSpPr>
        <p:spPr>
          <a:xfrm>
            <a:off x="4594505" y="3108963"/>
            <a:ext cx="388666" cy="307777"/>
          </a:xfrm>
          <a:prstGeom prst="rect">
            <a:avLst/>
          </a:prstGeom>
        </p:spPr>
        <p:txBody>
          <a:bodyPr wrap="square">
            <a:spAutoFit/>
          </a:bodyPr>
          <a:lstStyle/>
          <a:p>
            <a:pPr marL="0" lvl="2"/>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①</a:t>
            </a:r>
          </a:p>
        </p:txBody>
      </p:sp>
    </p:spTree>
    <p:custDataLst>
      <p:tags r:id="rId1"/>
    </p:custDataLst>
    <p:extLst>
      <p:ext uri="{BB962C8B-B14F-4D97-AF65-F5344CB8AC3E}">
        <p14:creationId xmlns:p14="http://schemas.microsoft.com/office/powerpoint/2010/main" val="4042370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取込み時の「クラスター</a:t>
            </a:r>
            <a:r>
              <a:rPr lang="en-US" altLang="ja-JP" sz="2400" b="1" dirty="0">
                <a:solidFill>
                  <a:schemeClr val="bg1"/>
                </a:solidFill>
                <a:latin typeface="メイリオ" pitchFamily="50" charset="-128"/>
                <a:ea typeface="メイリオ" pitchFamily="50" charset="-128"/>
                <a:cs typeface="メイリオ" pitchFamily="50" charset="-128"/>
              </a:rPr>
              <a:t>Index</a:t>
            </a:r>
            <a:r>
              <a:rPr lang="ja-JP" altLang="en-US" sz="2400" b="1" dirty="0">
                <a:solidFill>
                  <a:schemeClr val="bg1"/>
                </a:solidFill>
                <a:latin typeface="メイリオ" pitchFamily="50" charset="-128"/>
                <a:ea typeface="メイリオ" pitchFamily="50" charset="-128"/>
                <a:cs typeface="メイリオ" pitchFamily="50" charset="-128"/>
              </a:rPr>
              <a:t>の採番し直し」について</a:t>
            </a:r>
          </a:p>
        </p:txBody>
      </p:sp>
      <p:sp>
        <p:nvSpPr>
          <p:cNvPr id="2" name="テキスト ボックス 1">
            <a:extLst>
              <a:ext uri="{FF2B5EF4-FFF2-40B4-BE49-F238E27FC236}">
                <a16:creationId xmlns:a16="http://schemas.microsoft.com/office/drawing/2014/main" id="{D4377CA4-7B73-FB9B-201E-5BE9D4014905}"/>
              </a:ext>
            </a:extLst>
          </p:cNvPr>
          <p:cNvSpPr txBox="1"/>
          <p:nvPr/>
        </p:nvSpPr>
        <p:spPr>
          <a:xfrm>
            <a:off x="1199456" y="5422743"/>
            <a:ext cx="10297144" cy="711733"/>
          </a:xfrm>
          <a:prstGeom prst="rect">
            <a:avLst/>
          </a:prstGeom>
          <a:noFill/>
        </p:spPr>
        <p:txBody>
          <a:bodyPr wrap="square" rtlCol="0">
            <a:spAutoFit/>
          </a:bodyPr>
          <a:lstStyle/>
          <a:p>
            <a:pPr marL="0" lvl="1" defTabSz="9063038">
              <a:lnSpc>
                <a:spcPct val="150000"/>
              </a:lnSpc>
              <a:buClr>
                <a:schemeClr val="accent5">
                  <a:lumMod val="75000"/>
                </a:schemeClr>
              </a:buClr>
              <a:tabLst>
                <a:tab pos="269875" algn="l"/>
                <a:tab pos="538163" algn="l"/>
                <a:tab pos="808038" algn="l"/>
              </a:tabLst>
            </a:pP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社内システムと連携している場合</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pPr marL="0" lvl="1" defTabSz="9063038">
              <a:lnSpc>
                <a:spcPct val="150000"/>
              </a:lnSpc>
              <a:buClr>
                <a:schemeClr val="accent5">
                  <a:lumMod val="75000"/>
                </a:schemeClr>
              </a:buClr>
              <a:tabLst>
                <a:tab pos="269875" algn="l"/>
                <a:tab pos="538163" algn="l"/>
                <a:tab pos="808038" algn="l"/>
              </a:tabLst>
            </a:pP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「はい」を選択するとクラスタ</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が変更され、参照先クラスター</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が変わる場合があるため注意が必要です。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5" name="図 14">
            <a:extLst>
              <a:ext uri="{FF2B5EF4-FFF2-40B4-BE49-F238E27FC236}">
                <a16:creationId xmlns:a16="http://schemas.microsoft.com/office/drawing/2014/main" id="{90AD03A9-5A81-D061-9351-F5FC24E44190}"/>
              </a:ext>
            </a:extLst>
          </p:cNvPr>
          <p:cNvPicPr>
            <a:picLocks noChangeAspect="1"/>
          </p:cNvPicPr>
          <p:nvPr/>
        </p:nvPicPr>
        <p:blipFill>
          <a:blip r:embed="rId4"/>
          <a:stretch>
            <a:fillRect/>
          </a:stretch>
        </p:blipFill>
        <p:spPr>
          <a:xfrm>
            <a:off x="695400" y="2903392"/>
            <a:ext cx="3481516" cy="2408048"/>
          </a:xfrm>
          <a:prstGeom prst="rect">
            <a:avLst/>
          </a:prstGeom>
          <a:ln>
            <a:solidFill>
              <a:schemeClr val="tx1"/>
            </a:solidFill>
          </a:ln>
        </p:spPr>
      </p:pic>
      <p:sp>
        <p:nvSpPr>
          <p:cNvPr id="16" name="正方形/長方形 15">
            <a:extLst>
              <a:ext uri="{FF2B5EF4-FFF2-40B4-BE49-F238E27FC236}">
                <a16:creationId xmlns:a16="http://schemas.microsoft.com/office/drawing/2014/main" id="{CA03123E-6899-C99C-99A2-9B51D25926ED}"/>
              </a:ext>
            </a:extLst>
          </p:cNvPr>
          <p:cNvSpPr/>
          <p:nvPr/>
        </p:nvSpPr>
        <p:spPr>
          <a:xfrm>
            <a:off x="695400" y="899428"/>
            <a:ext cx="10801200" cy="400110"/>
          </a:xfrm>
          <a:prstGeom prst="rect">
            <a:avLst/>
          </a:prstGeom>
        </p:spPr>
        <p:txBody>
          <a:bodyPr wrap="square">
            <a:spAutoFit/>
          </a:bodyPr>
          <a:lstStyle/>
          <a:p>
            <a:r>
              <a:rPr lang="ja-JP" altLang="en-US" sz="2000" b="1" dirty="0">
                <a:solidFill>
                  <a:srgbClr val="004994"/>
                </a:solidFill>
                <a:latin typeface="Noto Sans JP" panose="020B0200000000000000" pitchFamily="50" charset="-128"/>
                <a:ea typeface="Noto Sans JP" panose="020B0200000000000000" pitchFamily="50" charset="-128"/>
              </a:rPr>
              <a:t>クラスタ</a:t>
            </a:r>
            <a:r>
              <a:rPr lang="en-US" altLang="ja-JP" sz="2000" b="1" dirty="0">
                <a:solidFill>
                  <a:srgbClr val="004994"/>
                </a:solidFill>
                <a:latin typeface="Noto Sans JP" panose="020B0200000000000000" pitchFamily="50" charset="-128"/>
                <a:ea typeface="Noto Sans JP" panose="020B0200000000000000" pitchFamily="50" charset="-128"/>
              </a:rPr>
              <a:t>―Index</a:t>
            </a:r>
            <a:r>
              <a:rPr lang="ja-JP" altLang="en-US" sz="2000" b="1" dirty="0">
                <a:solidFill>
                  <a:srgbClr val="004994"/>
                </a:solidFill>
                <a:latin typeface="Noto Sans JP" panose="020B0200000000000000" pitchFamily="50" charset="-128"/>
                <a:ea typeface="Noto Sans JP" panose="020B0200000000000000" pitchFamily="50" charset="-128"/>
              </a:rPr>
              <a:t>採番し直しの選択による違い</a:t>
            </a:r>
          </a:p>
        </p:txBody>
      </p:sp>
      <p:sp>
        <p:nvSpPr>
          <p:cNvPr id="17" name="テキスト ボックス 16">
            <a:extLst>
              <a:ext uri="{FF2B5EF4-FFF2-40B4-BE49-F238E27FC236}">
                <a16:creationId xmlns:a16="http://schemas.microsoft.com/office/drawing/2014/main" id="{AD78950C-CE51-3759-F09D-0FD69E110018}"/>
              </a:ext>
            </a:extLst>
          </p:cNvPr>
          <p:cNvSpPr txBox="1"/>
          <p:nvPr/>
        </p:nvSpPr>
        <p:spPr>
          <a:xfrm>
            <a:off x="8438460" y="2452041"/>
            <a:ext cx="3025571" cy="377539"/>
          </a:xfrm>
          <a:prstGeom prst="rect">
            <a:avLst/>
          </a:prstGeom>
          <a:noFill/>
        </p:spPr>
        <p:txBody>
          <a:bodyPr wrap="square" rtlCol="0">
            <a:spAutoFit/>
          </a:bodyPr>
          <a:lstStyle/>
          <a:p>
            <a:pPr lvl="1" defTabSz="9063491">
              <a:lnSpc>
                <a:spcPct val="150000"/>
              </a:lnSpc>
              <a:buClr>
                <a:schemeClr val="accent5">
                  <a:lumMod val="75000"/>
                </a:schemeClr>
              </a:buClr>
              <a:tabLst>
                <a:tab pos="269889" algn="l"/>
                <a:tab pos="538190" algn="l"/>
                <a:tab pos="808078" algn="l"/>
              </a:tabLst>
            </a:pPr>
            <a:r>
              <a:rPr lang="ja-JP" altLang="en-US" sz="1400" b="1" dirty="0">
                <a:latin typeface="Noto Sans JP" panose="020B0200000000000000" pitchFamily="50" charset="-128"/>
                <a:ea typeface="Noto Sans JP" panose="020B0200000000000000" pitchFamily="50" charset="-128"/>
                <a:cs typeface="メイリオ" panose="020B0604030504040204" pitchFamily="50" charset="-128"/>
              </a:rPr>
              <a:t>採番し直し「いいえ」の場合</a:t>
            </a:r>
            <a:endParaRPr lang="en-US" altLang="ja-JP" sz="1400" b="1" dirty="0">
              <a:latin typeface="Noto Sans JP" panose="020B0200000000000000" pitchFamily="50" charset="-128"/>
              <a:ea typeface="Noto Sans JP" panose="020B0200000000000000" pitchFamily="50" charset="-128"/>
              <a:cs typeface="メイリオ" panose="020B0604030504040204" pitchFamily="50" charset="-128"/>
            </a:endParaRPr>
          </a:p>
        </p:txBody>
      </p:sp>
      <p:pic>
        <p:nvPicPr>
          <p:cNvPr id="18" name="図 17">
            <a:extLst>
              <a:ext uri="{FF2B5EF4-FFF2-40B4-BE49-F238E27FC236}">
                <a16:creationId xmlns:a16="http://schemas.microsoft.com/office/drawing/2014/main" id="{F28A3921-629B-7EEA-8061-4B94684B7F32}"/>
              </a:ext>
            </a:extLst>
          </p:cNvPr>
          <p:cNvPicPr>
            <a:picLocks noChangeAspect="1"/>
          </p:cNvPicPr>
          <p:nvPr/>
        </p:nvPicPr>
        <p:blipFill>
          <a:blip r:embed="rId5"/>
          <a:stretch>
            <a:fillRect/>
          </a:stretch>
        </p:blipFill>
        <p:spPr>
          <a:xfrm>
            <a:off x="4506024" y="2903392"/>
            <a:ext cx="3473225" cy="2408048"/>
          </a:xfrm>
          <a:prstGeom prst="rect">
            <a:avLst/>
          </a:prstGeom>
          <a:ln>
            <a:solidFill>
              <a:schemeClr val="tx1"/>
            </a:solidFill>
          </a:ln>
        </p:spPr>
      </p:pic>
      <p:pic>
        <p:nvPicPr>
          <p:cNvPr id="19" name="図 18">
            <a:extLst>
              <a:ext uri="{FF2B5EF4-FFF2-40B4-BE49-F238E27FC236}">
                <a16:creationId xmlns:a16="http://schemas.microsoft.com/office/drawing/2014/main" id="{5688D53C-14A2-D7A2-5EF9-F4C69673FA7D}"/>
              </a:ext>
            </a:extLst>
          </p:cNvPr>
          <p:cNvPicPr>
            <a:picLocks noChangeAspect="1"/>
          </p:cNvPicPr>
          <p:nvPr/>
        </p:nvPicPr>
        <p:blipFill>
          <a:blip r:embed="rId6"/>
          <a:stretch>
            <a:fillRect/>
          </a:stretch>
        </p:blipFill>
        <p:spPr>
          <a:xfrm>
            <a:off x="8154790" y="2903392"/>
            <a:ext cx="3701851" cy="2410992"/>
          </a:xfrm>
          <a:prstGeom prst="rect">
            <a:avLst/>
          </a:prstGeom>
          <a:ln>
            <a:solidFill>
              <a:schemeClr val="tx1"/>
            </a:solidFill>
          </a:ln>
        </p:spPr>
      </p:pic>
      <p:sp>
        <p:nvSpPr>
          <p:cNvPr id="21" name="テキスト ボックス 20">
            <a:extLst>
              <a:ext uri="{FF2B5EF4-FFF2-40B4-BE49-F238E27FC236}">
                <a16:creationId xmlns:a16="http://schemas.microsoft.com/office/drawing/2014/main" id="{17FD51E2-FF63-A1E7-34FB-A561712594EA}"/>
              </a:ext>
            </a:extLst>
          </p:cNvPr>
          <p:cNvSpPr txBox="1"/>
          <p:nvPr/>
        </p:nvSpPr>
        <p:spPr>
          <a:xfrm>
            <a:off x="4643389" y="2452041"/>
            <a:ext cx="2916632" cy="377539"/>
          </a:xfrm>
          <a:prstGeom prst="rect">
            <a:avLst/>
          </a:prstGeom>
          <a:noFill/>
        </p:spPr>
        <p:txBody>
          <a:bodyPr wrap="square" rtlCol="0">
            <a:spAutoFit/>
          </a:bodyPr>
          <a:lstStyle/>
          <a:p>
            <a:pPr lvl="1" defTabSz="9063491">
              <a:lnSpc>
                <a:spcPct val="150000"/>
              </a:lnSpc>
              <a:buClr>
                <a:schemeClr val="accent5">
                  <a:lumMod val="75000"/>
                </a:schemeClr>
              </a:buClr>
              <a:tabLst>
                <a:tab pos="269889" algn="l"/>
                <a:tab pos="538190" algn="l"/>
                <a:tab pos="808078" algn="l"/>
              </a:tabLst>
            </a:pPr>
            <a:r>
              <a:rPr lang="ja-JP" altLang="en-US" sz="1400" b="1" dirty="0">
                <a:latin typeface="Noto Sans JP" panose="020B0200000000000000" pitchFamily="50" charset="-128"/>
                <a:ea typeface="Noto Sans JP" panose="020B0200000000000000" pitchFamily="50" charset="-128"/>
                <a:cs typeface="メイリオ" panose="020B0604030504040204" pitchFamily="50" charset="-128"/>
              </a:rPr>
              <a:t>採番し直し「はい」の場合</a:t>
            </a:r>
            <a:endParaRPr lang="en-US" altLang="ja-JP" sz="1400" b="1" dirty="0">
              <a:latin typeface="Noto Sans JP" panose="020B0200000000000000" pitchFamily="50" charset="-128"/>
              <a:ea typeface="Noto Sans JP" panose="020B0200000000000000" pitchFamily="50" charset="-128"/>
              <a:cs typeface="メイリオ" panose="020B0604030504040204" pitchFamily="50" charset="-128"/>
            </a:endParaRPr>
          </a:p>
        </p:txBody>
      </p:sp>
      <p:sp>
        <p:nvSpPr>
          <p:cNvPr id="22" name="テキスト ボックス 21">
            <a:extLst>
              <a:ext uri="{FF2B5EF4-FFF2-40B4-BE49-F238E27FC236}">
                <a16:creationId xmlns:a16="http://schemas.microsoft.com/office/drawing/2014/main" id="{CA84D14C-E90F-1309-B363-3DDEAE8C40F4}"/>
              </a:ext>
            </a:extLst>
          </p:cNvPr>
          <p:cNvSpPr txBox="1"/>
          <p:nvPr/>
        </p:nvSpPr>
        <p:spPr>
          <a:xfrm>
            <a:off x="1118773" y="2452041"/>
            <a:ext cx="2634769" cy="377539"/>
          </a:xfrm>
          <a:prstGeom prst="rect">
            <a:avLst/>
          </a:prstGeom>
          <a:noFill/>
        </p:spPr>
        <p:txBody>
          <a:bodyPr wrap="square" rtlCol="0">
            <a:spAutoFit/>
          </a:bodyPr>
          <a:lstStyle/>
          <a:p>
            <a:pPr lvl="1" defTabSz="9063491">
              <a:lnSpc>
                <a:spcPct val="150000"/>
              </a:lnSpc>
              <a:buClr>
                <a:schemeClr val="accent5">
                  <a:lumMod val="75000"/>
                </a:schemeClr>
              </a:buClr>
              <a:tabLst>
                <a:tab pos="269889" algn="l"/>
                <a:tab pos="538190" algn="l"/>
                <a:tab pos="808078" algn="l"/>
              </a:tabLst>
            </a:pPr>
            <a:r>
              <a:rPr lang="ja-JP" altLang="en-US" sz="1400" b="1" dirty="0">
                <a:latin typeface="Noto Sans JP" panose="020B0200000000000000" pitchFamily="50" charset="-128"/>
                <a:ea typeface="Noto Sans JP" panose="020B0200000000000000" pitchFamily="50" charset="-128"/>
                <a:cs typeface="メイリオ" panose="020B0604030504040204" pitchFamily="50" charset="-128"/>
              </a:rPr>
              <a:t>①</a:t>
            </a:r>
            <a:r>
              <a:rPr lang="en-US" altLang="ja-JP" sz="1400" b="1" dirty="0">
                <a:latin typeface="Noto Sans JP" panose="020B0200000000000000" pitchFamily="50" charset="-128"/>
                <a:ea typeface="Noto Sans JP" panose="020B0200000000000000" pitchFamily="50" charset="-128"/>
                <a:cs typeface="メイリオ" panose="020B0604030504040204" pitchFamily="50" charset="-128"/>
              </a:rPr>
              <a:t>	</a:t>
            </a:r>
            <a:r>
              <a:rPr lang="ja-JP" altLang="en-US" sz="1400" b="1" dirty="0">
                <a:latin typeface="Noto Sans JP" panose="020B0200000000000000" pitchFamily="50" charset="-128"/>
                <a:ea typeface="Noto Sans JP" panose="020B0200000000000000" pitchFamily="50" charset="-128"/>
                <a:cs typeface="メイリオ" panose="020B0604030504040204" pitchFamily="50" charset="-128"/>
              </a:rPr>
              <a:t>公開済み帳票定義</a:t>
            </a:r>
            <a:endParaRPr lang="en-US" altLang="ja-JP" sz="1400" b="1" dirty="0">
              <a:latin typeface="Noto Sans JP" panose="020B0200000000000000" pitchFamily="50" charset="-128"/>
              <a:ea typeface="Noto Sans JP" panose="020B0200000000000000" pitchFamily="50" charset="-128"/>
              <a:cs typeface="メイリオ" panose="020B0604030504040204" pitchFamily="50" charset="-128"/>
            </a:endParaRPr>
          </a:p>
        </p:txBody>
      </p:sp>
      <p:sp>
        <p:nvSpPr>
          <p:cNvPr id="23" name="テキスト ボックス 22">
            <a:extLst>
              <a:ext uri="{FF2B5EF4-FFF2-40B4-BE49-F238E27FC236}">
                <a16:creationId xmlns:a16="http://schemas.microsoft.com/office/drawing/2014/main" id="{315159C1-4723-58EC-5A7A-FA6298ABC811}"/>
              </a:ext>
            </a:extLst>
          </p:cNvPr>
          <p:cNvSpPr txBox="1"/>
          <p:nvPr/>
        </p:nvSpPr>
        <p:spPr>
          <a:xfrm>
            <a:off x="983432" y="1272934"/>
            <a:ext cx="8928992" cy="700705"/>
          </a:xfrm>
          <a:prstGeom prst="rect">
            <a:avLst/>
          </a:prstGeom>
          <a:noFill/>
        </p:spPr>
        <p:txBody>
          <a:bodyPr wrap="square" rtlCol="0">
            <a:spAutoFit/>
          </a:bodyPr>
          <a:lstStyle/>
          <a:p>
            <a:pPr lvl="1" defTabSz="9063491">
              <a:lnSpc>
                <a:spcPct val="150000"/>
              </a:lnSpc>
              <a:buClr>
                <a:schemeClr val="accent5">
                  <a:lumMod val="75000"/>
                </a:schemeClr>
              </a:buClr>
              <a:tabLst>
                <a:tab pos="269889" algn="l"/>
                <a:tab pos="538190" algn="l"/>
                <a:tab pos="808078" algn="l"/>
              </a:tabLst>
            </a:pPr>
            <a:r>
              <a:rPr lang="ja-JP" altLang="en-US" sz="1400" dirty="0">
                <a:latin typeface="Noto Sans JP" panose="020B0200000000000000" pitchFamily="50" charset="-128"/>
                <a:ea typeface="Noto Sans JP" panose="020B0200000000000000" pitchFamily="50" charset="-128"/>
                <a:cs typeface="メイリオ" panose="020B0604030504040204" pitchFamily="50" charset="-128"/>
              </a:rPr>
              <a:t>新しくクラスターを配置した場合に、クラスター</a:t>
            </a:r>
            <a:r>
              <a:rPr lang="en-US" altLang="ja-JP" sz="1400" dirty="0">
                <a:latin typeface="Noto Sans JP" panose="020B0200000000000000" pitchFamily="50" charset="-128"/>
                <a:ea typeface="Noto Sans JP" panose="020B0200000000000000" pitchFamily="50" charset="-128"/>
                <a:cs typeface="メイリオ" panose="020B0604030504040204" pitchFamily="50" charset="-128"/>
              </a:rPr>
              <a:t>Index</a:t>
            </a:r>
            <a:r>
              <a:rPr lang="ja-JP" altLang="en-US" sz="1400" dirty="0">
                <a:latin typeface="Noto Sans JP" panose="020B0200000000000000" pitchFamily="50" charset="-128"/>
                <a:ea typeface="Noto Sans JP" panose="020B0200000000000000" pitchFamily="50" charset="-128"/>
                <a:cs typeface="メイリオ" panose="020B0604030504040204" pitchFamily="50" charset="-128"/>
              </a:rPr>
              <a:t>の配置場所により</a:t>
            </a:r>
            <a:endParaRPr lang="en-US" altLang="ja-JP" sz="1400" dirty="0">
              <a:latin typeface="Noto Sans JP" panose="020B0200000000000000" pitchFamily="50" charset="-128"/>
              <a:ea typeface="Noto Sans JP" panose="020B0200000000000000" pitchFamily="50" charset="-128"/>
              <a:cs typeface="メイリオ" panose="020B0604030504040204" pitchFamily="50" charset="-128"/>
            </a:endParaRPr>
          </a:p>
          <a:p>
            <a:pPr lvl="1" defTabSz="9063491">
              <a:lnSpc>
                <a:spcPct val="150000"/>
              </a:lnSpc>
              <a:buClr>
                <a:schemeClr val="accent5">
                  <a:lumMod val="75000"/>
                </a:schemeClr>
              </a:buClr>
              <a:tabLst>
                <a:tab pos="269889" algn="l"/>
                <a:tab pos="538190" algn="l"/>
                <a:tab pos="808078" algn="l"/>
              </a:tabLst>
            </a:pPr>
            <a:r>
              <a:rPr lang="ja-JP" altLang="en-US" sz="1400" dirty="0">
                <a:latin typeface="Noto Sans JP" panose="020B0200000000000000" pitchFamily="50" charset="-128"/>
                <a:ea typeface="Noto Sans JP" panose="020B0200000000000000" pitchFamily="50" charset="-128"/>
                <a:cs typeface="メイリオ" panose="020B0604030504040204" pitchFamily="50" charset="-128"/>
              </a:rPr>
              <a:t>クラスタ</a:t>
            </a:r>
            <a:r>
              <a:rPr lang="en-US" altLang="ja-JP" sz="1400" dirty="0">
                <a:latin typeface="Noto Sans JP" panose="020B0200000000000000" pitchFamily="50" charset="-128"/>
                <a:ea typeface="Noto Sans JP" panose="020B0200000000000000" pitchFamily="50" charset="-128"/>
                <a:cs typeface="メイリオ" panose="020B0604030504040204" pitchFamily="50" charset="-128"/>
              </a:rPr>
              <a:t>―Index</a:t>
            </a:r>
            <a:r>
              <a:rPr lang="ja-JP" altLang="en-US" sz="1400" dirty="0">
                <a:latin typeface="Noto Sans JP" panose="020B0200000000000000" pitchFamily="50" charset="-128"/>
                <a:ea typeface="Noto Sans JP" panose="020B0200000000000000" pitchFamily="50" charset="-128"/>
                <a:cs typeface="メイリオ" panose="020B0604030504040204" pitchFamily="50" charset="-128"/>
              </a:rPr>
              <a:t>の位置が変わると取得すべきクラスターの</a:t>
            </a:r>
            <a:r>
              <a:rPr lang="en-US" altLang="ja-JP" sz="1400" dirty="0">
                <a:latin typeface="Noto Sans JP" panose="020B0200000000000000" pitchFamily="50" charset="-128"/>
                <a:ea typeface="Noto Sans JP" panose="020B0200000000000000" pitchFamily="50" charset="-128"/>
                <a:cs typeface="メイリオ" panose="020B0604030504040204" pitchFamily="50" charset="-128"/>
              </a:rPr>
              <a:t>Index</a:t>
            </a:r>
            <a:r>
              <a:rPr lang="ja-JP" altLang="en-US" sz="1400" dirty="0">
                <a:latin typeface="Noto Sans JP" panose="020B0200000000000000" pitchFamily="50" charset="-128"/>
                <a:ea typeface="Noto Sans JP" panose="020B0200000000000000" pitchFamily="50" charset="-128"/>
                <a:cs typeface="メイリオ" panose="020B0604030504040204" pitchFamily="50" charset="-128"/>
              </a:rPr>
              <a:t>がこのように変化します。</a:t>
            </a:r>
            <a:endParaRPr lang="en-US" altLang="ja-JP" sz="1400" dirty="0">
              <a:latin typeface="Noto Sans JP" panose="020B0200000000000000" pitchFamily="50" charset="-128"/>
              <a:ea typeface="Noto Sans JP" panose="020B0200000000000000"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2790730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11893-4794-CE00-AADF-20ED9C2656B9}"/>
            </a:ext>
          </a:extLst>
        </p:cNvPr>
        <p:cNvGrpSpPr/>
        <p:nvPr/>
      </p:nvGrpSpPr>
      <p:grpSpPr>
        <a:xfrm>
          <a:off x="0" y="0"/>
          <a:ext cx="0" cy="0"/>
          <a:chOff x="0" y="0"/>
          <a:chExt cx="0" cy="0"/>
        </a:xfrm>
      </p:grpSpPr>
      <p:pic>
        <p:nvPicPr>
          <p:cNvPr id="21" name="図 20">
            <a:extLst>
              <a:ext uri="{FF2B5EF4-FFF2-40B4-BE49-F238E27FC236}">
                <a16:creationId xmlns:a16="http://schemas.microsoft.com/office/drawing/2014/main" id="{0D80FA12-6E97-225F-11E6-6FE409649684}"/>
              </a:ext>
            </a:extLst>
          </p:cNvPr>
          <p:cNvPicPr>
            <a:picLocks noChangeAspect="1"/>
          </p:cNvPicPr>
          <p:nvPr/>
        </p:nvPicPr>
        <p:blipFill>
          <a:blip r:embed="rId4"/>
          <a:stretch>
            <a:fillRect/>
          </a:stretch>
        </p:blipFill>
        <p:spPr>
          <a:xfrm>
            <a:off x="1236319" y="4380475"/>
            <a:ext cx="3344540" cy="1533739"/>
          </a:xfrm>
          <a:prstGeom prst="rect">
            <a:avLst/>
          </a:prstGeom>
          <a:ln>
            <a:solidFill>
              <a:schemeClr val="tx1"/>
            </a:solidFill>
          </a:ln>
        </p:spPr>
      </p:pic>
      <p:pic>
        <p:nvPicPr>
          <p:cNvPr id="18" name="図 17">
            <a:extLst>
              <a:ext uri="{FF2B5EF4-FFF2-40B4-BE49-F238E27FC236}">
                <a16:creationId xmlns:a16="http://schemas.microsoft.com/office/drawing/2014/main" id="{BEE7F374-7544-7090-A93C-A5CEE6E8C5EF}"/>
              </a:ext>
            </a:extLst>
          </p:cNvPr>
          <p:cNvPicPr>
            <a:picLocks noChangeAspect="1"/>
          </p:cNvPicPr>
          <p:nvPr/>
        </p:nvPicPr>
        <p:blipFill>
          <a:blip r:embed="rId5"/>
          <a:stretch>
            <a:fillRect/>
          </a:stretch>
        </p:blipFill>
        <p:spPr>
          <a:xfrm>
            <a:off x="1487488" y="2435151"/>
            <a:ext cx="7690889" cy="1333726"/>
          </a:xfrm>
          <a:prstGeom prst="rect">
            <a:avLst/>
          </a:prstGeom>
          <a:ln>
            <a:solidFill>
              <a:schemeClr val="tx1"/>
            </a:solidFill>
          </a:ln>
        </p:spPr>
      </p:pic>
      <p:sp>
        <p:nvSpPr>
          <p:cNvPr id="12" name="テキスト ボックス 11">
            <a:extLst>
              <a:ext uri="{FF2B5EF4-FFF2-40B4-BE49-F238E27FC236}">
                <a16:creationId xmlns:a16="http://schemas.microsoft.com/office/drawing/2014/main" id="{1F66183E-A223-73B2-4524-00536B4C7F7B}"/>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itchFamily="50" charset="-128"/>
                <a:ea typeface="メイリオ" pitchFamily="50" charset="-128"/>
                <a:cs typeface="メイリオ" pitchFamily="50" charset="-128"/>
              </a:rPr>
              <a:t>【</a:t>
            </a:r>
            <a:r>
              <a:rPr lang="ja-JP" altLang="en-US" sz="2400" b="1" dirty="0">
                <a:solidFill>
                  <a:schemeClr val="bg1"/>
                </a:solidFill>
                <a:latin typeface="メイリオ" pitchFamily="50" charset="-128"/>
                <a:ea typeface="メイリオ" pitchFamily="50" charset="-128"/>
                <a:cs typeface="メイリオ" pitchFamily="50" charset="-128"/>
              </a:rPr>
              <a:t>補足</a:t>
            </a:r>
            <a:r>
              <a:rPr lang="en-US" altLang="ja-JP" sz="2400" b="1" dirty="0">
                <a:solidFill>
                  <a:schemeClr val="bg1"/>
                </a:solidFill>
                <a:latin typeface="メイリオ" pitchFamily="50" charset="-128"/>
                <a:ea typeface="メイリオ" pitchFamily="50" charset="-128"/>
                <a:cs typeface="メイリオ" pitchFamily="50" charset="-128"/>
              </a:rPr>
              <a:t>】</a:t>
            </a:r>
            <a:r>
              <a:rPr lang="ja-JP" altLang="en-US" sz="2400" b="1" dirty="0">
                <a:solidFill>
                  <a:schemeClr val="bg1"/>
                </a:solidFill>
                <a:latin typeface="メイリオ" pitchFamily="50" charset="-128"/>
                <a:ea typeface="メイリオ" pitchFamily="50" charset="-128"/>
                <a:cs typeface="メイリオ" pitchFamily="50" charset="-128"/>
              </a:rPr>
              <a:t>クラスター</a:t>
            </a:r>
            <a:r>
              <a:rPr lang="en-US" altLang="ja-JP" sz="2400" b="1" dirty="0">
                <a:solidFill>
                  <a:schemeClr val="bg1"/>
                </a:solidFill>
                <a:latin typeface="メイリオ" pitchFamily="50" charset="-128"/>
                <a:ea typeface="メイリオ" pitchFamily="50" charset="-128"/>
                <a:cs typeface="メイリオ" pitchFamily="50" charset="-128"/>
              </a:rPr>
              <a:t>Index</a:t>
            </a:r>
            <a:r>
              <a:rPr lang="ja-JP" altLang="en-US" sz="2400" b="1" dirty="0">
                <a:solidFill>
                  <a:schemeClr val="bg1"/>
                </a:solidFill>
                <a:latin typeface="メイリオ" pitchFamily="50" charset="-128"/>
                <a:ea typeface="メイリオ" pitchFamily="50" charset="-128"/>
                <a:cs typeface="メイリオ" pitchFamily="50" charset="-128"/>
              </a:rPr>
              <a:t>の採番し直しについて</a:t>
            </a:r>
          </a:p>
        </p:txBody>
      </p:sp>
      <p:sp>
        <p:nvSpPr>
          <p:cNvPr id="13" name="正方形/長方形 12">
            <a:extLst>
              <a:ext uri="{FF2B5EF4-FFF2-40B4-BE49-F238E27FC236}">
                <a16:creationId xmlns:a16="http://schemas.microsoft.com/office/drawing/2014/main" id="{45CCA5FA-FAB3-4D49-8066-05011EAA271E}"/>
              </a:ext>
            </a:extLst>
          </p:cNvPr>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クラスター</a:t>
            </a:r>
            <a:r>
              <a:rPr lang="en-US" altLang="ja-JP"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が重複している場合に有効です。</a:t>
            </a:r>
          </a:p>
        </p:txBody>
      </p:sp>
      <p:sp>
        <p:nvSpPr>
          <p:cNvPr id="28" name="テキスト ボックス 27">
            <a:extLst>
              <a:ext uri="{FF2B5EF4-FFF2-40B4-BE49-F238E27FC236}">
                <a16:creationId xmlns:a16="http://schemas.microsoft.com/office/drawing/2014/main" id="{F8C0E971-59E6-A7DF-0862-6016F17CBECD}"/>
              </a:ext>
            </a:extLst>
          </p:cNvPr>
          <p:cNvSpPr txBox="1"/>
          <p:nvPr/>
        </p:nvSpPr>
        <p:spPr>
          <a:xfrm>
            <a:off x="983432" y="1272270"/>
            <a:ext cx="10225136" cy="1034899"/>
          </a:xfrm>
          <a:prstGeom prst="rect">
            <a:avLst/>
          </a:prstGeom>
          <a:noFill/>
        </p:spPr>
        <p:txBody>
          <a:bodyPr wrap="square" rtlCol="0">
            <a:spAutoFit/>
          </a:bodyPr>
          <a:lstStyle/>
          <a:p>
            <a:pPr marL="0" lvl="1" defTabSz="9063038">
              <a:lnSpc>
                <a:spcPct val="150000"/>
              </a:lnSpc>
              <a:buClr>
                <a:schemeClr val="accent5">
                  <a:lumMod val="75000"/>
                </a:schemeClr>
              </a:buClr>
              <a:tabLst>
                <a:tab pos="269875" algn="l"/>
                <a:tab pos="538163" algn="l"/>
                <a:tab pos="808038" algn="l"/>
              </a:tabLst>
            </a:pP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Excel</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上でクラスターを新しく配置する際、クラスターをコピー</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ペーストを行うことで、</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9063038">
              <a:lnSpc>
                <a:spcPct val="150000"/>
              </a:lnSpc>
              <a:buClr>
                <a:schemeClr val="accent5">
                  <a:lumMod val="75000"/>
                </a:schemeClr>
              </a:buClr>
              <a:tabLst>
                <a:tab pos="269875" algn="l"/>
                <a:tab pos="538163" algn="l"/>
                <a:tab pos="808038" algn="l"/>
              </a:tabLst>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クラスターの名称、種別、</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もコピーされ、</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の重複が発生します。</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pPr marL="0" lvl="1" defTabSz="9063038">
              <a:lnSpc>
                <a:spcPct val="150000"/>
              </a:lnSpc>
              <a:buClr>
                <a:schemeClr val="accent5">
                  <a:lumMod val="75000"/>
                </a:schemeClr>
              </a:buClr>
              <a:tabLst>
                <a:tab pos="269875" algn="l"/>
                <a:tab pos="538163" algn="l"/>
                <a:tab pos="808038" algn="l"/>
              </a:tabLst>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この状態で</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Designer</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に取り込みを行うとクラスター</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重複によるエラーで取り込みに失敗してしまいます。</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角丸四角形 10">
            <a:extLst>
              <a:ext uri="{FF2B5EF4-FFF2-40B4-BE49-F238E27FC236}">
                <a16:creationId xmlns:a16="http://schemas.microsoft.com/office/drawing/2014/main" id="{D7286823-A724-7BC7-1D5B-457B9C4BB312}"/>
              </a:ext>
            </a:extLst>
          </p:cNvPr>
          <p:cNvSpPr/>
          <p:nvPr/>
        </p:nvSpPr>
        <p:spPr>
          <a:xfrm>
            <a:off x="7752184" y="2702523"/>
            <a:ext cx="288032" cy="287245"/>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8" name="角丸四角形 10">
            <a:extLst>
              <a:ext uri="{FF2B5EF4-FFF2-40B4-BE49-F238E27FC236}">
                <a16:creationId xmlns:a16="http://schemas.microsoft.com/office/drawing/2014/main" id="{FE2EBEA2-7022-55CD-698B-EC820B94D898}"/>
              </a:ext>
            </a:extLst>
          </p:cNvPr>
          <p:cNvSpPr/>
          <p:nvPr/>
        </p:nvSpPr>
        <p:spPr>
          <a:xfrm>
            <a:off x="2599829" y="5222091"/>
            <a:ext cx="305919" cy="369055"/>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pic>
        <p:nvPicPr>
          <p:cNvPr id="16" name="図 15">
            <a:extLst>
              <a:ext uri="{FF2B5EF4-FFF2-40B4-BE49-F238E27FC236}">
                <a16:creationId xmlns:a16="http://schemas.microsoft.com/office/drawing/2014/main" id="{BAE77D57-B055-E394-4781-5CBCF361DA20}"/>
              </a:ext>
            </a:extLst>
          </p:cNvPr>
          <p:cNvPicPr>
            <a:picLocks noChangeAspect="1"/>
          </p:cNvPicPr>
          <p:nvPr/>
        </p:nvPicPr>
        <p:blipFill>
          <a:blip r:embed="rId6"/>
          <a:stretch>
            <a:fillRect/>
          </a:stretch>
        </p:blipFill>
        <p:spPr>
          <a:xfrm>
            <a:off x="6096000" y="4169686"/>
            <a:ext cx="2880317" cy="1955319"/>
          </a:xfrm>
          <a:prstGeom prst="rect">
            <a:avLst/>
          </a:prstGeom>
          <a:ln>
            <a:solidFill>
              <a:schemeClr val="tx1"/>
            </a:solidFill>
          </a:ln>
        </p:spPr>
      </p:pic>
      <p:sp>
        <p:nvSpPr>
          <p:cNvPr id="17" name="右矢印 23">
            <a:extLst>
              <a:ext uri="{FF2B5EF4-FFF2-40B4-BE49-F238E27FC236}">
                <a16:creationId xmlns:a16="http://schemas.microsoft.com/office/drawing/2014/main" id="{C4BE18B2-099C-70C7-858E-1F55E50FBFAE}"/>
              </a:ext>
            </a:extLst>
          </p:cNvPr>
          <p:cNvSpPr/>
          <p:nvPr/>
        </p:nvSpPr>
        <p:spPr>
          <a:xfrm>
            <a:off x="5048735" y="4793149"/>
            <a:ext cx="579389" cy="708395"/>
          </a:xfrm>
          <a:prstGeom prst="rightArrow">
            <a:avLst/>
          </a:prstGeom>
          <a:solidFill>
            <a:schemeClr val="accent4">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0">
            <a:extLst>
              <a:ext uri="{FF2B5EF4-FFF2-40B4-BE49-F238E27FC236}">
                <a16:creationId xmlns:a16="http://schemas.microsoft.com/office/drawing/2014/main" id="{BCBAC9F6-EA2F-3606-D023-4F5B75AAE63A}"/>
              </a:ext>
            </a:extLst>
          </p:cNvPr>
          <p:cNvSpPr/>
          <p:nvPr/>
        </p:nvSpPr>
        <p:spPr>
          <a:xfrm>
            <a:off x="4655840" y="2702523"/>
            <a:ext cx="288032" cy="287245"/>
          </a:xfrm>
          <a:prstGeom prst="roundRect">
            <a:avLst/>
          </a:prstGeom>
          <a:noFill/>
          <a:ln w="38100">
            <a:solidFill>
              <a:srgbClr val="FF0000"/>
            </a:solidFill>
            <a:prstDash val="sysDot"/>
          </a:ln>
          <a:effectLst>
            <a:glow rad="635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2037294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2DFC6800-8908-4C09-B2BD-97EA25EFEE09}"/>
              </a:ext>
            </a:extLst>
          </p:cNvPr>
          <p:cNvPicPr>
            <a:picLocks noChangeAspect="1"/>
          </p:cNvPicPr>
          <p:nvPr/>
        </p:nvPicPr>
        <p:blipFill>
          <a:blip r:embed="rId4"/>
          <a:stretch>
            <a:fillRect/>
          </a:stretch>
        </p:blipFill>
        <p:spPr>
          <a:xfrm>
            <a:off x="8616280" y="1484784"/>
            <a:ext cx="2334298" cy="4581128"/>
          </a:xfrm>
          <a:prstGeom prst="rect">
            <a:avLst/>
          </a:prstGeom>
          <a:ln>
            <a:solidFill>
              <a:schemeClr val="tx1">
                <a:lumMod val="65000"/>
                <a:lumOff val="35000"/>
              </a:schemeClr>
            </a:solidFill>
          </a:ln>
        </p:spPr>
      </p:pic>
      <p:sp>
        <p:nvSpPr>
          <p:cNvPr id="14" name="角丸四角形 13"/>
          <p:cNvSpPr/>
          <p:nvPr/>
        </p:nvSpPr>
        <p:spPr>
          <a:xfrm>
            <a:off x="8552436" y="4933004"/>
            <a:ext cx="864096" cy="168508"/>
          </a:xfrm>
          <a:prstGeom prst="roundRect">
            <a:avLst>
              <a:gd name="adj" fmla="val 5441"/>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6" name="テキスト ボックス 15"/>
          <p:cNvSpPr txBox="1"/>
          <p:nvPr/>
        </p:nvSpPr>
        <p:spPr>
          <a:xfrm>
            <a:off x="1055440" y="1276924"/>
            <a:ext cx="7200800" cy="3389389"/>
          </a:xfrm>
          <a:prstGeom prst="rect">
            <a:avLst/>
          </a:prstGeom>
          <a:noFill/>
        </p:spPr>
        <p:txBody>
          <a:bodyPr wrap="square" rtlCol="0">
            <a:spAutoFit/>
          </a:bodyPr>
          <a:lstStyle/>
          <a:p>
            <a:pPr marL="179388" lvl="1" indent="-179388" defTabSz="2735263">
              <a:lnSpc>
                <a:spcPct val="150000"/>
              </a:lnSpc>
              <a:buClr>
                <a:schemeClr val="accent5">
                  <a:lumMod val="75000"/>
                </a:schemeClr>
              </a:buClr>
              <a:tabLst>
                <a:tab pos="179388" algn="l"/>
              </a:tabLst>
            </a:pPr>
            <a:r>
              <a:rPr lang="ja-JP" altLang="en-US" sz="1600" b="1" dirty="0">
                <a:latin typeface="メイリオ" panose="020B0604030504040204" pitchFamily="50" charset="-128"/>
                <a:ea typeface="メイリオ" panose="020B0604030504040204" pitchFamily="50" charset="-128"/>
                <a:cs typeface="メイリオ" panose="020B0604030504040204" pitchFamily="50" charset="-128"/>
              </a:rPr>
              <a:t>帳票定義のリビジョンアップについて</a:t>
            </a:r>
            <a:endParaRPr lang="en-US" altLang="ja-JP" sz="1600" b="1" dirty="0">
              <a:latin typeface="メイリオ" panose="020B0604030504040204" pitchFamily="50" charset="-128"/>
              <a:ea typeface="メイリオ" panose="020B0604030504040204" pitchFamily="50" charset="-128"/>
              <a:cs typeface="メイリオ" panose="020B0604030504040204" pitchFamily="50" charset="-128"/>
            </a:endParaRPr>
          </a:p>
          <a:p>
            <a:pPr marL="179388" lvl="2" indent="-179388" defTabSz="2735263">
              <a:lnSpc>
                <a:spcPct val="150000"/>
              </a:lnSpc>
              <a:buClr>
                <a:schemeClr val="accent5">
                  <a:lumMod val="75000"/>
                </a:schemeClr>
              </a:buClr>
              <a:tabLst>
                <a:tab pos="179388"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-Reporter</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では、帳票定義に編集を行った場合、編集前の内容を「履歴」として残し、編集後の帳票定義を新たに作成する仕組みとなっています。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179388" lvl="2" indent="-179388" defTabSz="2735263">
              <a:lnSpc>
                <a:spcPct val="150000"/>
              </a:lnSpc>
              <a:buClr>
                <a:schemeClr val="accent5">
                  <a:lumMod val="75000"/>
                </a:schemeClr>
              </a:buClr>
              <a:tabLst>
                <a:tab pos="179388"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この仕組みのことを「リビジョンアップ」と呼びます。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179388" lvl="2" indent="-179388" defTabSz="2735263">
              <a:lnSpc>
                <a:spcPct val="150000"/>
              </a:lnSpc>
              <a:buClr>
                <a:schemeClr val="accent5">
                  <a:lumMod val="75000"/>
                </a:schemeClr>
              </a:buClr>
              <a:tabLst>
                <a:tab pos="179388"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帳票定義には、個々のリビジョンごとに「定義</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ID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」と「リビジョン番号」が付与されます。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179388" lvl="2" indent="-179388" defTabSz="2735263">
              <a:lnSpc>
                <a:spcPct val="150000"/>
              </a:lnSpc>
              <a:buClr>
                <a:schemeClr val="accent5">
                  <a:lumMod val="75000"/>
                </a:schemeClr>
              </a:buClr>
              <a:tabLst>
                <a:tab pos="179388" algn="l"/>
              </a:tabLst>
            </a:pP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179388" lvl="2" indent="-179388" defTabSz="2735263">
              <a:lnSpc>
                <a:spcPct val="150000"/>
              </a:lnSpc>
              <a:buClr>
                <a:schemeClr val="accent5">
                  <a:lumMod val="75000"/>
                </a:schemeClr>
              </a:buClr>
              <a:tabLst>
                <a:tab pos="179388" algn="l"/>
              </a:tabLst>
            </a:pPr>
            <a:r>
              <a:rPr lang="ja-JP" altLang="en-US" sz="1600" b="1" dirty="0">
                <a:latin typeface="メイリオ" panose="020B0604030504040204" pitchFamily="50" charset="-128"/>
                <a:ea typeface="メイリオ" panose="020B0604030504040204" pitchFamily="50" charset="-128"/>
                <a:cs typeface="メイリオ" panose="020B0604030504040204" pitchFamily="50" charset="-128"/>
              </a:rPr>
              <a:t>帳票定義のリビジョンアップのタイミング</a:t>
            </a:r>
            <a:endParaRPr lang="en-US" altLang="ja-JP" sz="1600" b="1" dirty="0">
              <a:latin typeface="メイリオ" panose="020B0604030504040204" pitchFamily="50" charset="-128"/>
              <a:ea typeface="メイリオ" panose="020B0604030504040204" pitchFamily="50" charset="-128"/>
              <a:cs typeface="メイリオ" panose="020B0604030504040204" pitchFamily="50" charset="-128"/>
            </a:endParaRPr>
          </a:p>
          <a:p>
            <a:pPr marL="179388" lvl="3" indent="-179388" defTabSz="2735263">
              <a:lnSpc>
                <a:spcPct val="150000"/>
              </a:lnSpc>
              <a:buClr>
                <a:schemeClr val="accent5">
                  <a:lumMod val="75000"/>
                </a:schemeClr>
              </a:buClr>
              <a:tabLst>
                <a:tab pos="179388"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ConMas</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Designer</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で「公開済み」に属している帳票定義を表示し、「保存する」「公開する」「テストする」をクリックすると、リビジョンアップが行われます。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帳票定義の履歴管理</a:t>
            </a:r>
          </a:p>
        </p:txBody>
      </p:sp>
      <p:sp>
        <p:nvSpPr>
          <p:cNvPr id="13" name="正方形/長方形 12"/>
          <p:cNvSpPr/>
          <p:nvPr/>
        </p:nvSpPr>
        <p:spPr>
          <a:xfrm>
            <a:off x="695400" y="899428"/>
            <a:ext cx="10801200"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改訂（リビジョンアップ）すると「リビジョン番号」が付与されます</a:t>
            </a:r>
          </a:p>
        </p:txBody>
      </p:sp>
      <p:sp>
        <p:nvSpPr>
          <p:cNvPr id="2" name="四角形吹き出し 1"/>
          <p:cNvSpPr/>
          <p:nvPr/>
        </p:nvSpPr>
        <p:spPr>
          <a:xfrm>
            <a:off x="4871864" y="4854944"/>
            <a:ext cx="3384376" cy="871204"/>
          </a:xfrm>
          <a:prstGeom prst="wedgeRectCallout">
            <a:avLst>
              <a:gd name="adj1" fmla="val 59522"/>
              <a:gd name="adj2" fmla="val -29483"/>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2873375"/>
            <a:r>
              <a:rPr lang="ja-JP" altLang="en-US" sz="1200" b="1" dirty="0">
                <a:latin typeface="メイリオ" panose="020B0604030504040204" pitchFamily="50" charset="-128"/>
                <a:ea typeface="メイリオ" panose="020B0604030504040204" pitchFamily="50" charset="-128"/>
              </a:rPr>
              <a:t>「公開済み」タブで登録されている帳票定義をクリックすると、帳票定義の情報が表示され、「リビジョン番号」が確認できます</a:t>
            </a:r>
          </a:p>
        </p:txBody>
      </p:sp>
      <p:sp>
        <p:nvSpPr>
          <p:cNvPr id="17" name="角丸四角形 13">
            <a:extLst>
              <a:ext uri="{FF2B5EF4-FFF2-40B4-BE49-F238E27FC236}">
                <a16:creationId xmlns:a16="http://schemas.microsoft.com/office/drawing/2014/main" id="{B2B08F11-70F2-479F-A049-36877756D1F7}"/>
              </a:ext>
            </a:extLst>
          </p:cNvPr>
          <p:cNvSpPr/>
          <p:nvPr/>
        </p:nvSpPr>
        <p:spPr>
          <a:xfrm>
            <a:off x="8553160" y="4433558"/>
            <a:ext cx="927216" cy="168508"/>
          </a:xfrm>
          <a:prstGeom prst="roundRect">
            <a:avLst>
              <a:gd name="adj" fmla="val 5441"/>
            </a:avLst>
          </a:prstGeom>
          <a:noFill/>
          <a:ln w="38100">
            <a:solidFill>
              <a:srgbClr val="FF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8" name="四角形吹き出し 1">
            <a:extLst>
              <a:ext uri="{FF2B5EF4-FFF2-40B4-BE49-F238E27FC236}">
                <a16:creationId xmlns:a16="http://schemas.microsoft.com/office/drawing/2014/main" id="{0B13DAC9-838E-49DE-A017-2041C140E914}"/>
              </a:ext>
            </a:extLst>
          </p:cNvPr>
          <p:cNvSpPr/>
          <p:nvPr/>
        </p:nvSpPr>
        <p:spPr>
          <a:xfrm>
            <a:off x="4871864" y="4862052"/>
            <a:ext cx="3384376" cy="871204"/>
          </a:xfrm>
          <a:prstGeom prst="wedgeRectCallout">
            <a:avLst>
              <a:gd name="adj1" fmla="val 58567"/>
              <a:gd name="adj2" fmla="val -88155"/>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2873375"/>
            <a:r>
              <a:rPr lang="ja-JP" altLang="en-US" sz="1200" b="1" dirty="0">
                <a:latin typeface="メイリオ" panose="020B0604030504040204" pitchFamily="50" charset="-128"/>
                <a:ea typeface="メイリオ" panose="020B0604030504040204" pitchFamily="50" charset="-128"/>
              </a:rPr>
              <a:t>「公開済み」タブで登録されている帳票定義をクリックすると、帳票定義の情報が表示され、「帳票定義</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」と「リビジョン番号」が確認できます</a:t>
            </a:r>
          </a:p>
        </p:txBody>
      </p:sp>
    </p:spTree>
    <p:custDataLst>
      <p:tags r:id="rId1"/>
    </p:custDataLst>
    <p:extLst>
      <p:ext uri="{BB962C8B-B14F-4D97-AF65-F5344CB8AC3E}">
        <p14:creationId xmlns:p14="http://schemas.microsoft.com/office/powerpoint/2010/main" val="4257623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帳票定義の改訂</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正方形/長方形 3"/>
          <p:cNvSpPr/>
          <p:nvPr/>
        </p:nvSpPr>
        <p:spPr>
          <a:xfrm>
            <a:off x="263352" y="3356992"/>
            <a:ext cx="11521280" cy="461665"/>
          </a:xfrm>
          <a:prstGeom prst="rect">
            <a:avLst/>
          </a:prstGeom>
        </p:spPr>
        <p:txBody>
          <a:bodyPr wrap="square">
            <a:spAutoFit/>
          </a:bodyPr>
          <a:lstStyle/>
          <a:p>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④パラメーター設定</a:t>
            </a:r>
            <a:endPar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2884084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3D82258F-9482-7122-C6B9-93382970E0F4}"/>
              </a:ext>
            </a:extLst>
          </p:cNvPr>
          <p:cNvPicPr>
            <a:picLocks noChangeAspect="1"/>
          </p:cNvPicPr>
          <p:nvPr/>
        </p:nvPicPr>
        <p:blipFill>
          <a:blip r:embed="rId4"/>
          <a:stretch>
            <a:fillRect/>
          </a:stretch>
        </p:blipFill>
        <p:spPr>
          <a:xfrm>
            <a:off x="1126105" y="1151798"/>
            <a:ext cx="4395174" cy="5096880"/>
          </a:xfrm>
          <a:prstGeom prst="rect">
            <a:avLst/>
          </a:prstGeom>
          <a:ln>
            <a:solidFill>
              <a:schemeClr val="tx1"/>
            </a:solidFill>
          </a:ln>
        </p:spPr>
      </p:pic>
      <p:sp>
        <p:nvSpPr>
          <p:cNvPr id="19" name="テキスト ボックス 18"/>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各クラスターの設定内容</a:t>
            </a:r>
          </a:p>
        </p:txBody>
      </p:sp>
      <p:sp>
        <p:nvSpPr>
          <p:cNvPr id="2" name="正方形/長方形 1">
            <a:extLst>
              <a:ext uri="{FF2B5EF4-FFF2-40B4-BE49-F238E27FC236}">
                <a16:creationId xmlns:a16="http://schemas.microsoft.com/office/drawing/2014/main" id="{A487980D-2196-9884-26C7-47320DE61AD7}"/>
              </a:ext>
            </a:extLst>
          </p:cNvPr>
          <p:cNvSpPr/>
          <p:nvPr/>
        </p:nvSpPr>
        <p:spPr>
          <a:xfrm>
            <a:off x="1734812" y="3068960"/>
            <a:ext cx="2701673" cy="792088"/>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8820E5B4-BC8A-9ED2-1254-AB75D235E3E6}"/>
              </a:ext>
            </a:extLst>
          </p:cNvPr>
          <p:cNvSpPr txBox="1"/>
          <p:nvPr/>
        </p:nvSpPr>
        <p:spPr>
          <a:xfrm>
            <a:off x="983432" y="861426"/>
            <a:ext cx="4680520" cy="461665"/>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⑧</a:t>
            </a:r>
            <a:r>
              <a:rPr kumimoji="1" lang="ja-JP" altLang="en-US" sz="1200" b="1" dirty="0">
                <a:latin typeface="メイリオ" panose="020B0604030504040204" pitchFamily="50" charset="-128"/>
                <a:ea typeface="メイリオ" panose="020B0604030504040204" pitchFamily="50" charset="-128"/>
              </a:rPr>
              <a:t>クラスター名称：</a:t>
            </a:r>
            <a:r>
              <a:rPr lang="ja-JP" altLang="en-US" sz="1200" b="1" dirty="0">
                <a:latin typeface="メイリオ" panose="020B0604030504040204" pitchFamily="50" charset="-128"/>
                <a:ea typeface="メイリオ" panose="020B0604030504040204" pitchFamily="50" charset="-128"/>
              </a:rPr>
              <a:t>作成日</a:t>
            </a:r>
            <a:endParaRPr kumimoji="1"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kumimoji="1" lang="en-US" altLang="ja-JP" sz="1200" b="1" dirty="0">
                <a:latin typeface="メイリオ" panose="020B0604030504040204" pitchFamily="50" charset="-128"/>
                <a:ea typeface="メイリオ" panose="020B0604030504040204" pitchFamily="50" charset="-128"/>
              </a:rPr>
              <a:t>	</a:t>
            </a:r>
            <a:endParaRPr kumimoji="1" lang="en-US" altLang="ja-JP" sz="1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2138F151-B0F3-837C-0173-CCBAF53E5686}"/>
              </a:ext>
            </a:extLst>
          </p:cNvPr>
          <p:cNvSpPr txBox="1"/>
          <p:nvPr/>
        </p:nvSpPr>
        <p:spPr>
          <a:xfrm>
            <a:off x="6030660" y="1163164"/>
            <a:ext cx="4775673" cy="1200329"/>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講習時の操作</a:t>
            </a:r>
            <a:endParaRPr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endParaRPr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　・タップ時に</a:t>
            </a:r>
            <a:r>
              <a:rPr lang="ja-JP" altLang="en-US" sz="1200" b="1" dirty="0">
                <a:latin typeface="メイリオ" panose="020B0604030504040204" pitchFamily="50" charset="-128"/>
                <a:ea typeface="メイリオ" panose="020B0604030504040204" pitchFamily="50" charset="-128"/>
              </a:rPr>
              <a:t>時刻を</a:t>
            </a:r>
            <a:r>
              <a:rPr kumimoji="1" lang="ja-JP" altLang="en-US" sz="1200" b="1" dirty="0">
                <a:latin typeface="メイリオ" panose="020B0604030504040204" pitchFamily="50" charset="-128"/>
                <a:ea typeface="メイリオ" panose="020B0604030504040204" pitchFamily="50" charset="-128"/>
              </a:rPr>
              <a:t>自動入力にチェックを入れます。</a:t>
            </a:r>
            <a:endParaRPr kumimoji="1"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endParaRPr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任意設定</a:t>
            </a:r>
            <a:endParaRPr kumimoji="1"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ja-JP" altLang="en-US" sz="1200" dirty="0">
                <a:latin typeface="メイリオ" panose="020B0604030504040204" pitchFamily="50" charset="-128"/>
                <a:ea typeface="メイリオ" panose="020B0604030504040204" pitchFamily="50" charset="-128"/>
              </a:rPr>
              <a:t>　・時刻書式を変更します。</a:t>
            </a:r>
            <a:endParaRPr lang="en-US" altLang="ja-JP" sz="1200" dirty="0">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E96F550D-C60C-0502-0D52-7734C0B1F077}"/>
              </a:ext>
            </a:extLst>
          </p:cNvPr>
          <p:cNvSpPr/>
          <p:nvPr/>
        </p:nvSpPr>
        <p:spPr>
          <a:xfrm>
            <a:off x="1723460" y="4725144"/>
            <a:ext cx="2701673" cy="1071281"/>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ustDataLst>
      <p:tags r:id="rId1"/>
    </p:custDataLst>
    <p:extLst>
      <p:ext uri="{BB962C8B-B14F-4D97-AF65-F5344CB8AC3E}">
        <p14:creationId xmlns:p14="http://schemas.microsoft.com/office/powerpoint/2010/main" val="28570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F17BD-C3CD-0DF7-4542-D056DCB9703B}"/>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F527A701-C350-9D02-B9F1-F7AADE53C551}"/>
              </a:ext>
            </a:extLst>
          </p:cNvPr>
          <p:cNvPicPr>
            <a:picLocks noChangeAspect="1"/>
          </p:cNvPicPr>
          <p:nvPr/>
        </p:nvPicPr>
        <p:blipFill>
          <a:blip r:embed="rId4"/>
          <a:stretch>
            <a:fillRect/>
          </a:stretch>
        </p:blipFill>
        <p:spPr>
          <a:xfrm>
            <a:off x="1126106" y="1150238"/>
            <a:ext cx="4680520" cy="5087074"/>
          </a:xfrm>
          <a:prstGeom prst="rect">
            <a:avLst/>
          </a:prstGeom>
          <a:ln>
            <a:solidFill>
              <a:schemeClr val="tx1"/>
            </a:solidFill>
          </a:ln>
        </p:spPr>
      </p:pic>
      <p:sp>
        <p:nvSpPr>
          <p:cNvPr id="19" name="テキスト ボックス 18">
            <a:extLst>
              <a:ext uri="{FF2B5EF4-FFF2-40B4-BE49-F238E27FC236}">
                <a16:creationId xmlns:a16="http://schemas.microsoft.com/office/drawing/2014/main" id="{3428AB42-72E3-4F53-CBE2-52ED6B9BE2D2}"/>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各クラスターの設定内容</a:t>
            </a:r>
          </a:p>
        </p:txBody>
      </p:sp>
      <p:sp>
        <p:nvSpPr>
          <p:cNvPr id="14" name="テキスト ボックス 13">
            <a:extLst>
              <a:ext uri="{FF2B5EF4-FFF2-40B4-BE49-F238E27FC236}">
                <a16:creationId xmlns:a16="http://schemas.microsoft.com/office/drawing/2014/main" id="{36187C46-F4BC-515F-B87C-383C33857571}"/>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⑧</a:t>
            </a:r>
            <a:r>
              <a:rPr kumimoji="1" lang="ja-JP" altLang="en-US" sz="1200" b="1" dirty="0">
                <a:latin typeface="メイリオ" panose="020B0604030504040204" pitchFamily="50" charset="-128"/>
                <a:ea typeface="メイリオ" panose="020B0604030504040204" pitchFamily="50" charset="-128"/>
              </a:rPr>
              <a:t>クラスター名称：</a:t>
            </a:r>
            <a:r>
              <a:rPr lang="ja-JP" altLang="en-US" sz="1200" b="1" dirty="0">
                <a:latin typeface="メイリオ" panose="020B0604030504040204" pitchFamily="50" charset="-128"/>
                <a:ea typeface="メイリオ" panose="020B0604030504040204" pitchFamily="50" charset="-128"/>
              </a:rPr>
              <a:t>製品コード</a:t>
            </a:r>
            <a:r>
              <a:rPr kumimoji="1" lang="en-US" altLang="ja-JP" sz="1200" b="1" dirty="0">
                <a:latin typeface="メイリオ" panose="020B0604030504040204" pitchFamily="50" charset="-128"/>
                <a:ea typeface="メイリオ" panose="020B0604030504040204" pitchFamily="50" charset="-128"/>
              </a:rPr>
              <a:t>	</a:t>
            </a:r>
            <a:endParaRPr kumimoji="1" lang="en-US" altLang="ja-JP" sz="1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21888D5C-B6EC-33C7-E36A-D74DD62CB466}"/>
              </a:ext>
            </a:extLst>
          </p:cNvPr>
          <p:cNvSpPr txBox="1"/>
          <p:nvPr/>
        </p:nvSpPr>
        <p:spPr>
          <a:xfrm>
            <a:off x="6030660" y="1163164"/>
            <a:ext cx="4775673" cy="1200329"/>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講習時の操作</a:t>
            </a:r>
            <a:endParaRPr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endParaRPr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　・タップ時に</a:t>
            </a:r>
            <a:r>
              <a:rPr lang="ja-JP" altLang="en-US" sz="1200" b="1" dirty="0">
                <a:latin typeface="メイリオ" panose="020B0604030504040204" pitchFamily="50" charset="-128"/>
                <a:ea typeface="メイリオ" panose="020B0604030504040204" pitchFamily="50" charset="-128"/>
              </a:rPr>
              <a:t>時刻を</a:t>
            </a:r>
            <a:r>
              <a:rPr kumimoji="1" lang="ja-JP" altLang="en-US" sz="1200" b="1" dirty="0">
                <a:latin typeface="メイリオ" panose="020B0604030504040204" pitchFamily="50" charset="-128"/>
                <a:ea typeface="メイリオ" panose="020B0604030504040204" pitchFamily="50" charset="-128"/>
              </a:rPr>
              <a:t>自動入力にチェックを入れます。</a:t>
            </a:r>
            <a:endParaRPr kumimoji="1"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endParaRPr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任意設定</a:t>
            </a:r>
            <a:endParaRPr kumimoji="1" lang="en-US" altLang="ja-JP" sz="12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ja-JP" altLang="en-US" sz="1200" dirty="0">
                <a:latin typeface="メイリオ" panose="020B0604030504040204" pitchFamily="50" charset="-128"/>
                <a:ea typeface="メイリオ" panose="020B0604030504040204" pitchFamily="50" charset="-128"/>
              </a:rPr>
              <a:t>　・時刻書式を変更します。</a:t>
            </a:r>
            <a:endParaRPr lang="en-US" altLang="ja-JP" sz="1200" dirty="0">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0C73748-EF8E-8E6B-CC75-16920FF99376}"/>
              </a:ext>
            </a:extLst>
          </p:cNvPr>
          <p:cNvSpPr/>
          <p:nvPr/>
        </p:nvSpPr>
        <p:spPr>
          <a:xfrm>
            <a:off x="2207568" y="3251790"/>
            <a:ext cx="3456384" cy="1905402"/>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ustDataLst>
      <p:tags r:id="rId1"/>
    </p:custDataLst>
    <p:extLst>
      <p:ext uri="{BB962C8B-B14F-4D97-AF65-F5344CB8AC3E}">
        <p14:creationId xmlns:p14="http://schemas.microsoft.com/office/powerpoint/2010/main" val="1579746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18"/>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各クラスターの設定内容</a:t>
            </a:r>
          </a:p>
        </p:txBody>
      </p:sp>
      <p:sp>
        <p:nvSpPr>
          <p:cNvPr id="14" name="テキスト ボックス 13">
            <a:extLst>
              <a:ext uri="{FF2B5EF4-FFF2-40B4-BE49-F238E27FC236}">
                <a16:creationId xmlns:a16="http://schemas.microsoft.com/office/drawing/2014/main" id="{8820E5B4-BC8A-9ED2-1254-AB75D235E3E6}"/>
              </a:ext>
            </a:extLst>
          </p:cNvPr>
          <p:cNvSpPr txBox="1"/>
          <p:nvPr/>
        </p:nvSpPr>
        <p:spPr>
          <a:xfrm>
            <a:off x="5639543" y="1005539"/>
            <a:ext cx="5936349" cy="5155257"/>
          </a:xfrm>
          <a:prstGeom prst="rect">
            <a:avLst/>
          </a:prstGeom>
          <a:noFill/>
        </p:spPr>
        <p:txBody>
          <a:bodyPr wrap="square" rtlCol="0">
            <a:spAutoFit/>
          </a:bodyPr>
          <a:lstStyle/>
          <a:p>
            <a:pPr defTabSz="3763963">
              <a:lnSpc>
                <a:spcPct val="150000"/>
              </a:lnSpc>
              <a:tabLst>
                <a:tab pos="180975" algn="l"/>
                <a:tab pos="361950" algn="l"/>
              </a:tabLst>
            </a:pPr>
            <a:r>
              <a:rPr kumimoji="1"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①</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「ボタン形式」にチェック</a:t>
            </a:r>
            <a:endParaRPr kumimoji="1"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⇒ボタンが表示されるようになります。</a:t>
            </a:r>
            <a:endParaRPr lang="en-US" altLang="ja-JP" sz="1400" dirty="0">
              <a:latin typeface="メイリオ" panose="020B0604030504040204" pitchFamily="50" charset="-128"/>
              <a:ea typeface="メイリオ" panose="020B0604030504040204" pitchFamily="50" charset="-128"/>
            </a:endParaRPr>
          </a:p>
          <a:p>
            <a:pPr defTabSz="3763963">
              <a:tabLst>
                <a:tab pos="180975" algn="l"/>
                <a:tab pos="361950" algn="l"/>
              </a:tabLst>
            </a:pPr>
            <a:endParaRPr kumimoji="1" lang="en-US" altLang="ja-JP" sz="1400" dirty="0">
              <a:latin typeface="メイリオ" panose="020B0604030504040204" pitchFamily="50" charset="-128"/>
              <a:ea typeface="メイリオ" panose="020B0604030504040204" pitchFamily="50" charset="-128"/>
            </a:endParaRPr>
          </a:p>
          <a:p>
            <a:pPr defTabSz="3763963">
              <a:lnSpc>
                <a:spcPct val="150000"/>
              </a:lnSpc>
              <a:tabLst>
                <a:tab pos="180975" algn="l"/>
                <a:tab pos="361950" algn="l"/>
              </a:tabLst>
            </a:pPr>
            <a:r>
              <a:rPr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②</a:t>
            </a:r>
            <a:r>
              <a:rPr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「ボタン表示文字列」に任意の文字を入力</a:t>
            </a:r>
            <a:endParaRPr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⇒ボタンに表示される文字になります。</a:t>
            </a:r>
            <a:endParaRPr lang="en-US" altLang="ja-JP" sz="1400" dirty="0">
              <a:latin typeface="メイリオ" panose="020B0604030504040204" pitchFamily="50" charset="-128"/>
              <a:ea typeface="メイリオ" panose="020B0604030504040204" pitchFamily="50" charset="-128"/>
            </a:endParaRPr>
          </a:p>
          <a:p>
            <a:pPr defTabSz="3763963">
              <a:tabLst>
                <a:tab pos="180975" algn="l"/>
                <a:tab pos="361950" algn="l"/>
              </a:tabLst>
            </a:pPr>
            <a:endParaRPr lang="en-US" altLang="ja-JP" sz="1400" dirty="0">
              <a:latin typeface="メイリオ" panose="020B0604030504040204" pitchFamily="50" charset="-128"/>
              <a:ea typeface="メイリオ" panose="020B0604030504040204" pitchFamily="50" charset="-128"/>
            </a:endParaRPr>
          </a:p>
          <a:p>
            <a:pPr defTabSz="3763963">
              <a:lnSpc>
                <a:spcPct val="150000"/>
              </a:lnSpc>
              <a:tabLst>
                <a:tab pos="180975" algn="l"/>
                <a:tab pos="361950" algn="l"/>
              </a:tabLst>
            </a:pPr>
            <a:r>
              <a:rPr kumimoji="1"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③</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「背景色」に任意の色を選択</a:t>
            </a:r>
            <a:endParaRPr kumimoji="1"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⇒ボタンの色を決めます。</a:t>
            </a:r>
            <a:endParaRPr lang="en-US" altLang="ja-JP" sz="1400" dirty="0">
              <a:latin typeface="メイリオ" panose="020B0604030504040204" pitchFamily="50" charset="-128"/>
              <a:ea typeface="メイリオ" panose="020B0604030504040204" pitchFamily="50" charset="-128"/>
            </a:endParaRPr>
          </a:p>
          <a:p>
            <a:pPr defTabSz="3763963">
              <a:tabLst>
                <a:tab pos="180975" algn="l"/>
                <a:tab pos="361950" algn="l"/>
              </a:tabLst>
            </a:pPr>
            <a:endParaRPr kumimoji="1" lang="en-US" altLang="ja-JP" sz="1400" dirty="0">
              <a:latin typeface="メイリオ" panose="020B0604030504040204" pitchFamily="50" charset="-128"/>
              <a:ea typeface="メイリオ" panose="020B0604030504040204" pitchFamily="50" charset="-128"/>
            </a:endParaRPr>
          </a:p>
          <a:p>
            <a:pPr defTabSz="3763963">
              <a:lnSpc>
                <a:spcPct val="150000"/>
              </a:lnSpc>
              <a:tabLst>
                <a:tab pos="180975" algn="l"/>
                <a:tab pos="361950" algn="l"/>
              </a:tabLst>
            </a:pPr>
            <a:r>
              <a:rPr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④</a:t>
            </a:r>
            <a:r>
              <a:rPr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「文字縦配置指定」で「</a:t>
            </a:r>
            <a:r>
              <a:rPr lang="en-US" altLang="ja-JP" sz="1400" b="1" dirty="0">
                <a:latin typeface="メイリオ" panose="020B0604030504040204" pitchFamily="50" charset="-128"/>
                <a:ea typeface="メイリオ" panose="020B0604030504040204" pitchFamily="50" charset="-128"/>
              </a:rPr>
              <a:t>Center</a:t>
            </a:r>
            <a:r>
              <a:rPr lang="ja-JP" altLang="en-US" sz="1400" b="1" dirty="0">
                <a:latin typeface="メイリオ" panose="020B0604030504040204" pitchFamily="50" charset="-128"/>
                <a:ea typeface="メイリオ" panose="020B0604030504040204" pitchFamily="50" charset="-128"/>
              </a:rPr>
              <a:t>」を選択</a:t>
            </a:r>
            <a:endParaRPr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⇒ボタンに表示する文字の、クラスター内の位置を設定します。</a:t>
            </a:r>
            <a:endParaRPr lang="en-US" altLang="ja-JP" sz="1400" dirty="0">
              <a:latin typeface="メイリオ" panose="020B0604030504040204" pitchFamily="50" charset="-128"/>
              <a:ea typeface="メイリオ" panose="020B0604030504040204" pitchFamily="50" charset="-128"/>
            </a:endParaRPr>
          </a:p>
          <a:p>
            <a:pPr defTabSz="3763963">
              <a:tabLst>
                <a:tab pos="180975" algn="l"/>
                <a:tab pos="361950" algn="l"/>
              </a:tabLst>
            </a:pPr>
            <a:endParaRPr lang="en-US" altLang="ja-JP" sz="1400" dirty="0">
              <a:latin typeface="メイリオ" panose="020B0604030504040204" pitchFamily="50" charset="-128"/>
              <a:ea typeface="メイリオ" panose="020B0604030504040204" pitchFamily="50" charset="-128"/>
            </a:endParaRPr>
          </a:p>
          <a:p>
            <a:pPr defTabSz="3763963">
              <a:lnSpc>
                <a:spcPct val="150000"/>
              </a:lnSpc>
              <a:tabLst>
                <a:tab pos="180975" algn="l"/>
                <a:tab pos="361950" algn="l"/>
              </a:tabLst>
            </a:pPr>
            <a:r>
              <a:rPr kumimoji="1"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⑤</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「文字色」に任意の色を選択</a:t>
            </a:r>
            <a:endParaRPr kumimoji="1"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⇒ボタンに表示する文字の色を決めます。</a:t>
            </a:r>
            <a:endParaRPr lang="en-US" altLang="ja-JP" sz="1400" dirty="0">
              <a:latin typeface="メイリオ" panose="020B0604030504040204" pitchFamily="50" charset="-128"/>
              <a:ea typeface="メイリオ" panose="020B0604030504040204" pitchFamily="50" charset="-128"/>
            </a:endParaRPr>
          </a:p>
          <a:p>
            <a:pPr defTabSz="3763963">
              <a:tabLst>
                <a:tab pos="180975" algn="l"/>
                <a:tab pos="361950" algn="l"/>
              </a:tabLst>
            </a:pPr>
            <a:endParaRPr kumimoji="1" lang="en-US" altLang="ja-JP" sz="1400" dirty="0">
              <a:latin typeface="メイリオ" panose="020B0604030504040204" pitchFamily="50" charset="-128"/>
              <a:ea typeface="メイリオ" panose="020B0604030504040204" pitchFamily="50" charset="-128"/>
            </a:endParaRPr>
          </a:p>
          <a:p>
            <a:pPr defTabSz="3763963">
              <a:lnSpc>
                <a:spcPct val="150000"/>
              </a:lnSpc>
              <a:tabLst>
                <a:tab pos="180975" algn="l"/>
                <a:tab pos="361950" algn="l"/>
              </a:tabLst>
            </a:pPr>
            <a:r>
              <a:rPr kumimoji="1"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⑥</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「アクション種別」で「サーバー送信メニュー」を選択</a:t>
            </a:r>
            <a:endParaRPr kumimoji="1"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⇒ボタンの動作を決めます。</a:t>
            </a:r>
            <a:endParaRPr lang="en-US" altLang="ja-JP" sz="1400" dirty="0">
              <a:latin typeface="メイリオ" panose="020B0604030504040204" pitchFamily="50" charset="-128"/>
              <a:ea typeface="メイリオ" panose="020B0604030504040204" pitchFamily="50" charset="-128"/>
            </a:endParaRPr>
          </a:p>
          <a:p>
            <a:pPr defTabSz="3763963">
              <a:tabLst>
                <a:tab pos="180975" algn="l"/>
                <a:tab pos="361950" algn="l"/>
              </a:tabLst>
            </a:pPr>
            <a:endParaRPr kumimoji="1" lang="en-US" altLang="ja-JP" sz="1400" dirty="0">
              <a:latin typeface="メイリオ" panose="020B0604030504040204" pitchFamily="50" charset="-128"/>
              <a:ea typeface="メイリオ" panose="020B0604030504040204" pitchFamily="50" charset="-128"/>
            </a:endParaRPr>
          </a:p>
          <a:p>
            <a:pPr defTabSz="3763963">
              <a:lnSpc>
                <a:spcPct val="150000"/>
              </a:lnSpc>
              <a:tabLst>
                <a:tab pos="180975" algn="l"/>
                <a:tab pos="361950" algn="l"/>
              </a:tabLst>
            </a:pPr>
            <a:r>
              <a:rPr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⑦</a:t>
            </a:r>
            <a:r>
              <a:rPr lang="en-US" altLang="ja-JP" sz="14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「サーバー送信メニュー」で「サーバーに保存し編集終了」を選択</a:t>
            </a:r>
            <a:endParaRPr lang="en-US" altLang="ja-JP" sz="1400" b="1" dirty="0">
              <a:latin typeface="メイリオ" panose="020B0604030504040204" pitchFamily="50" charset="-128"/>
              <a:ea typeface="メイリオ" panose="020B0604030504040204" pitchFamily="50" charset="-128"/>
            </a:endParaRPr>
          </a:p>
          <a:p>
            <a:pPr defTabSz="3763963">
              <a:tabLst>
                <a:tab pos="180975" algn="l"/>
                <a:tab pos="361950" algn="l"/>
              </a:tabLst>
            </a:pPr>
            <a:r>
              <a:rPr kumimoji="1" lang="en-US" altLang="ja-JP" sz="1400" dirty="0">
                <a:latin typeface="メイリオ" panose="020B0604030504040204" pitchFamily="50" charset="-128"/>
                <a:ea typeface="メイリオ" panose="020B0604030504040204" pitchFamily="50" charset="-128"/>
              </a:rPr>
              <a:t>		</a:t>
            </a:r>
            <a:r>
              <a:rPr kumimoji="1" lang="ja-JP" altLang="en-US" sz="1400" dirty="0">
                <a:latin typeface="メイリオ" panose="020B0604030504040204" pitchFamily="50" charset="-128"/>
                <a:ea typeface="メイリオ" panose="020B0604030504040204" pitchFamily="50" charset="-128"/>
              </a:rPr>
              <a:t>　⇒保存操作の具体的な動作を決めます。</a:t>
            </a:r>
            <a:endParaRPr kumimoji="1" lang="en-US" altLang="ja-JP" sz="1400" dirty="0">
              <a:latin typeface="メイリオ" panose="020B0604030504040204" pitchFamily="50" charset="-128"/>
              <a:ea typeface="メイリオ" panose="020B0604030504040204" pitchFamily="50" charset="-128"/>
            </a:endParaRPr>
          </a:p>
        </p:txBody>
      </p:sp>
      <p:grpSp>
        <p:nvGrpSpPr>
          <p:cNvPr id="99" name="グループ化 98">
            <a:extLst>
              <a:ext uri="{FF2B5EF4-FFF2-40B4-BE49-F238E27FC236}">
                <a16:creationId xmlns:a16="http://schemas.microsoft.com/office/drawing/2014/main" id="{E9C5570D-C288-A0B7-0F24-E2525855144A}"/>
              </a:ext>
            </a:extLst>
          </p:cNvPr>
          <p:cNvGrpSpPr/>
          <p:nvPr/>
        </p:nvGrpSpPr>
        <p:grpSpPr>
          <a:xfrm>
            <a:off x="767408" y="1138425"/>
            <a:ext cx="4536504" cy="5199475"/>
            <a:chOff x="614669" y="1138425"/>
            <a:chExt cx="4701200" cy="5313098"/>
          </a:xfrm>
        </p:grpSpPr>
        <p:pic>
          <p:nvPicPr>
            <p:cNvPr id="90" name="図 89">
              <a:extLst>
                <a:ext uri="{FF2B5EF4-FFF2-40B4-BE49-F238E27FC236}">
                  <a16:creationId xmlns:a16="http://schemas.microsoft.com/office/drawing/2014/main" id="{B06669A1-FC09-70EA-5DCA-B999623E0C67}"/>
                </a:ext>
              </a:extLst>
            </p:cNvPr>
            <p:cNvPicPr>
              <a:picLocks noChangeAspect="1"/>
            </p:cNvPicPr>
            <p:nvPr/>
          </p:nvPicPr>
          <p:blipFill>
            <a:blip r:embed="rId4"/>
            <a:stretch>
              <a:fillRect/>
            </a:stretch>
          </p:blipFill>
          <p:spPr>
            <a:xfrm>
              <a:off x="810624" y="1138425"/>
              <a:ext cx="4373704" cy="4540639"/>
            </a:xfrm>
            <a:prstGeom prst="rect">
              <a:avLst/>
            </a:prstGeom>
            <a:ln>
              <a:solidFill>
                <a:schemeClr val="tx1"/>
              </a:solidFill>
            </a:ln>
          </p:spPr>
        </p:pic>
        <p:pic>
          <p:nvPicPr>
            <p:cNvPr id="98" name="図 97">
              <a:extLst>
                <a:ext uri="{FF2B5EF4-FFF2-40B4-BE49-F238E27FC236}">
                  <a16:creationId xmlns:a16="http://schemas.microsoft.com/office/drawing/2014/main" id="{EAEE917A-EC41-8247-890A-6EFEED48C2B9}"/>
                </a:ext>
              </a:extLst>
            </p:cNvPr>
            <p:cNvPicPr>
              <a:picLocks noChangeAspect="1"/>
            </p:cNvPicPr>
            <p:nvPr/>
          </p:nvPicPr>
          <p:blipFill>
            <a:blip r:embed="rId5"/>
            <a:srcRect t="40507"/>
            <a:stretch/>
          </p:blipFill>
          <p:spPr>
            <a:xfrm>
              <a:off x="810624" y="3750172"/>
              <a:ext cx="4374578" cy="2701351"/>
            </a:xfrm>
            <a:prstGeom prst="rect">
              <a:avLst/>
            </a:prstGeom>
            <a:ln>
              <a:solidFill>
                <a:schemeClr val="tx1"/>
              </a:solidFill>
            </a:ln>
          </p:spPr>
        </p:pic>
        <p:grpSp>
          <p:nvGrpSpPr>
            <p:cNvPr id="54" name="グループ化 53">
              <a:extLst>
                <a:ext uri="{FF2B5EF4-FFF2-40B4-BE49-F238E27FC236}">
                  <a16:creationId xmlns:a16="http://schemas.microsoft.com/office/drawing/2014/main" id="{E2A93D1A-5AB4-9527-9B50-B51E3175A36F}"/>
                </a:ext>
              </a:extLst>
            </p:cNvPr>
            <p:cNvGrpSpPr/>
            <p:nvPr/>
          </p:nvGrpSpPr>
          <p:grpSpPr>
            <a:xfrm>
              <a:off x="614669" y="3625694"/>
              <a:ext cx="4701200" cy="198624"/>
              <a:chOff x="5591511" y="6012381"/>
              <a:chExt cx="4034611" cy="152923"/>
            </a:xfrm>
            <a:solidFill>
              <a:schemeClr val="bg1"/>
            </a:solidFill>
          </p:grpSpPr>
          <p:sp>
            <p:nvSpPr>
              <p:cNvPr id="56" name="小波 55">
                <a:extLst>
                  <a:ext uri="{FF2B5EF4-FFF2-40B4-BE49-F238E27FC236}">
                    <a16:creationId xmlns:a16="http://schemas.microsoft.com/office/drawing/2014/main" id="{B0D039F1-B477-F6DD-F7DA-A79E461C7837}"/>
                  </a:ext>
                </a:extLst>
              </p:cNvPr>
              <p:cNvSpPr/>
              <p:nvPr/>
            </p:nvSpPr>
            <p:spPr>
              <a:xfrm>
                <a:off x="5591511" y="6012381"/>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小波 56">
                <a:extLst>
                  <a:ext uri="{FF2B5EF4-FFF2-40B4-BE49-F238E27FC236}">
                    <a16:creationId xmlns:a16="http://schemas.microsoft.com/office/drawing/2014/main" id="{1C9043E9-5000-34D4-FED3-AFF63A30A82B}"/>
                  </a:ext>
                </a:extLst>
              </p:cNvPr>
              <p:cNvSpPr/>
              <p:nvPr/>
            </p:nvSpPr>
            <p:spPr>
              <a:xfrm>
                <a:off x="5879976"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小波 57">
                <a:extLst>
                  <a:ext uri="{FF2B5EF4-FFF2-40B4-BE49-F238E27FC236}">
                    <a16:creationId xmlns:a16="http://schemas.microsoft.com/office/drawing/2014/main" id="{62CAD044-1CC4-9F8E-305D-B023FD01B40A}"/>
                  </a:ext>
                </a:extLst>
              </p:cNvPr>
              <p:cNvSpPr/>
              <p:nvPr/>
            </p:nvSpPr>
            <p:spPr>
              <a:xfrm>
                <a:off x="6168008"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小波 58">
                <a:extLst>
                  <a:ext uri="{FF2B5EF4-FFF2-40B4-BE49-F238E27FC236}">
                    <a16:creationId xmlns:a16="http://schemas.microsoft.com/office/drawing/2014/main" id="{496A7B5C-582B-CCA4-DF27-0230C5EEFA5F}"/>
                  </a:ext>
                </a:extLst>
              </p:cNvPr>
              <p:cNvSpPr/>
              <p:nvPr/>
            </p:nvSpPr>
            <p:spPr>
              <a:xfrm>
                <a:off x="6456905"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小波 59">
                <a:extLst>
                  <a:ext uri="{FF2B5EF4-FFF2-40B4-BE49-F238E27FC236}">
                    <a16:creationId xmlns:a16="http://schemas.microsoft.com/office/drawing/2014/main" id="{0A6731FD-AFF2-7C1A-D845-769C983B726D}"/>
                  </a:ext>
                </a:extLst>
              </p:cNvPr>
              <p:cNvSpPr/>
              <p:nvPr/>
            </p:nvSpPr>
            <p:spPr>
              <a:xfrm>
                <a:off x="6744072"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小波 60">
                <a:extLst>
                  <a:ext uri="{FF2B5EF4-FFF2-40B4-BE49-F238E27FC236}">
                    <a16:creationId xmlns:a16="http://schemas.microsoft.com/office/drawing/2014/main" id="{7A36745B-73D2-845A-21E6-596397EA38C0}"/>
                  </a:ext>
                </a:extLst>
              </p:cNvPr>
              <p:cNvSpPr/>
              <p:nvPr/>
            </p:nvSpPr>
            <p:spPr>
              <a:xfrm>
                <a:off x="7032969"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小波 61">
                <a:extLst>
                  <a:ext uri="{FF2B5EF4-FFF2-40B4-BE49-F238E27FC236}">
                    <a16:creationId xmlns:a16="http://schemas.microsoft.com/office/drawing/2014/main" id="{E7132F24-36FE-FFDE-A000-C3399FEBE262}"/>
                  </a:ext>
                </a:extLst>
              </p:cNvPr>
              <p:cNvSpPr/>
              <p:nvPr/>
            </p:nvSpPr>
            <p:spPr>
              <a:xfrm>
                <a:off x="7320136"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小波 62">
                <a:extLst>
                  <a:ext uri="{FF2B5EF4-FFF2-40B4-BE49-F238E27FC236}">
                    <a16:creationId xmlns:a16="http://schemas.microsoft.com/office/drawing/2014/main" id="{56AFB8B7-FC55-F726-D83E-B8C1E601C155}"/>
                  </a:ext>
                </a:extLst>
              </p:cNvPr>
              <p:cNvSpPr/>
              <p:nvPr/>
            </p:nvSpPr>
            <p:spPr>
              <a:xfrm>
                <a:off x="7609033"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小波 63">
                <a:extLst>
                  <a:ext uri="{FF2B5EF4-FFF2-40B4-BE49-F238E27FC236}">
                    <a16:creationId xmlns:a16="http://schemas.microsoft.com/office/drawing/2014/main" id="{02EBC195-5674-E49E-65DA-4700B523724E}"/>
                  </a:ext>
                </a:extLst>
              </p:cNvPr>
              <p:cNvSpPr/>
              <p:nvPr/>
            </p:nvSpPr>
            <p:spPr>
              <a:xfrm>
                <a:off x="7896200"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小波 64">
                <a:extLst>
                  <a:ext uri="{FF2B5EF4-FFF2-40B4-BE49-F238E27FC236}">
                    <a16:creationId xmlns:a16="http://schemas.microsoft.com/office/drawing/2014/main" id="{82D382FE-F614-7D6F-3240-78217F7CAD83}"/>
                  </a:ext>
                </a:extLst>
              </p:cNvPr>
              <p:cNvSpPr/>
              <p:nvPr/>
            </p:nvSpPr>
            <p:spPr>
              <a:xfrm>
                <a:off x="8185097"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小波 65">
                <a:extLst>
                  <a:ext uri="{FF2B5EF4-FFF2-40B4-BE49-F238E27FC236}">
                    <a16:creationId xmlns:a16="http://schemas.microsoft.com/office/drawing/2014/main" id="{7551C467-A8EC-021C-6D8B-1637A8957FFE}"/>
                  </a:ext>
                </a:extLst>
              </p:cNvPr>
              <p:cNvSpPr/>
              <p:nvPr/>
            </p:nvSpPr>
            <p:spPr>
              <a:xfrm>
                <a:off x="8472264"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小波 66">
                <a:extLst>
                  <a:ext uri="{FF2B5EF4-FFF2-40B4-BE49-F238E27FC236}">
                    <a16:creationId xmlns:a16="http://schemas.microsoft.com/office/drawing/2014/main" id="{750D7113-6F7E-FCD6-6175-65DC396AD441}"/>
                  </a:ext>
                </a:extLst>
              </p:cNvPr>
              <p:cNvSpPr/>
              <p:nvPr/>
            </p:nvSpPr>
            <p:spPr>
              <a:xfrm>
                <a:off x="8761161"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小波 67">
                <a:extLst>
                  <a:ext uri="{FF2B5EF4-FFF2-40B4-BE49-F238E27FC236}">
                    <a16:creationId xmlns:a16="http://schemas.microsoft.com/office/drawing/2014/main" id="{CBECBA13-B22C-2D25-FA81-0514D784E856}"/>
                  </a:ext>
                </a:extLst>
              </p:cNvPr>
              <p:cNvSpPr/>
              <p:nvPr/>
            </p:nvSpPr>
            <p:spPr>
              <a:xfrm>
                <a:off x="9048328"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小波 68">
                <a:extLst>
                  <a:ext uri="{FF2B5EF4-FFF2-40B4-BE49-F238E27FC236}">
                    <a16:creationId xmlns:a16="http://schemas.microsoft.com/office/drawing/2014/main" id="{5EB833AD-CC45-FCB6-1123-996C27D0C2D0}"/>
                  </a:ext>
                </a:extLst>
              </p:cNvPr>
              <p:cNvSpPr/>
              <p:nvPr/>
            </p:nvSpPr>
            <p:spPr>
              <a:xfrm>
                <a:off x="9337225"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84" name="テキスト ボックス 83">
            <a:extLst>
              <a:ext uri="{FF2B5EF4-FFF2-40B4-BE49-F238E27FC236}">
                <a16:creationId xmlns:a16="http://schemas.microsoft.com/office/drawing/2014/main" id="{FE553EDB-C7FC-46FB-44A4-A5BFF1D3E89E}"/>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③</a:t>
            </a:r>
            <a:r>
              <a:rPr kumimoji="1" lang="en-US" altLang="ja-JP" sz="1200" b="1" dirty="0">
                <a:latin typeface="メイリオ" panose="020B0604030504040204" pitchFamily="50" charset="-128"/>
                <a:ea typeface="メイリオ" panose="020B0604030504040204" pitchFamily="50" charset="-128"/>
              </a:rPr>
              <a:t>	</a:t>
            </a:r>
            <a:r>
              <a:rPr kumimoji="1" lang="ja-JP" altLang="en-US" sz="1200" b="1" dirty="0">
                <a:latin typeface="メイリオ" panose="020B0604030504040204" pitchFamily="50" charset="-128"/>
                <a:ea typeface="メイリオ" panose="020B0604030504040204" pitchFamily="50" charset="-128"/>
              </a:rPr>
              <a:t>クラスター名称：保存</a:t>
            </a:r>
            <a:endParaRPr kumimoji="1" lang="en-US" altLang="ja-JP" sz="1200" b="1" dirty="0">
              <a:latin typeface="メイリオ" panose="020B0604030504040204" pitchFamily="50" charset="-128"/>
              <a:ea typeface="メイリオ" panose="020B0604030504040204" pitchFamily="50" charset="-128"/>
            </a:endParaRPr>
          </a:p>
        </p:txBody>
      </p:sp>
      <p:sp>
        <p:nvSpPr>
          <p:cNvPr id="85" name="テキスト ボックス 84">
            <a:extLst>
              <a:ext uri="{FF2B5EF4-FFF2-40B4-BE49-F238E27FC236}">
                <a16:creationId xmlns:a16="http://schemas.microsoft.com/office/drawing/2014/main" id="{271EC1A5-1FE0-531B-2BDE-6771D54F8E32}"/>
              </a:ext>
            </a:extLst>
          </p:cNvPr>
          <p:cNvSpPr txBox="1"/>
          <p:nvPr/>
        </p:nvSpPr>
        <p:spPr>
          <a:xfrm>
            <a:off x="990213" y="3134785"/>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②</a:t>
            </a:r>
            <a:endParaRPr kumimoji="1" lang="en-US" altLang="ja-JP" sz="1200" b="1" dirty="0">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5F9E401C-0FE9-A420-A480-9AA27A9FFD76}"/>
              </a:ext>
            </a:extLst>
          </p:cNvPr>
          <p:cNvSpPr txBox="1"/>
          <p:nvPr/>
        </p:nvSpPr>
        <p:spPr>
          <a:xfrm>
            <a:off x="992716" y="3364260"/>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③</a:t>
            </a:r>
            <a:endParaRPr kumimoji="1" lang="en-US" altLang="ja-JP" sz="12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FE23F2B0-9578-17B7-66FF-615CD8E43938}"/>
              </a:ext>
            </a:extLst>
          </p:cNvPr>
          <p:cNvSpPr txBox="1"/>
          <p:nvPr/>
        </p:nvSpPr>
        <p:spPr>
          <a:xfrm>
            <a:off x="990213" y="2972018"/>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①</a:t>
            </a:r>
            <a:endParaRPr kumimoji="1" lang="en-US" altLang="ja-JP" sz="1200" b="1" dirty="0">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60D79B33-CA32-09A6-DD5D-69F297D55A3C}"/>
              </a:ext>
            </a:extLst>
          </p:cNvPr>
          <p:cNvSpPr txBox="1"/>
          <p:nvPr/>
        </p:nvSpPr>
        <p:spPr>
          <a:xfrm>
            <a:off x="990213" y="3819939"/>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④</a:t>
            </a:r>
            <a:endParaRPr kumimoji="1" lang="en-US" altLang="ja-JP" sz="1200" b="1" dirty="0">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4AC8D7EB-D507-A412-587C-E2DE22470A4C}"/>
              </a:ext>
            </a:extLst>
          </p:cNvPr>
          <p:cNvSpPr txBox="1"/>
          <p:nvPr/>
        </p:nvSpPr>
        <p:spPr>
          <a:xfrm>
            <a:off x="990213" y="4625467"/>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⑤</a:t>
            </a:r>
            <a:endParaRPr kumimoji="1" lang="en-US" altLang="ja-JP" sz="1200" b="1" dirty="0">
              <a:latin typeface="メイリオ" panose="020B0604030504040204" pitchFamily="50" charset="-128"/>
              <a:ea typeface="メイリオ" panose="020B0604030504040204" pitchFamily="50" charset="-128"/>
            </a:endParaRPr>
          </a:p>
        </p:txBody>
      </p:sp>
      <p:sp>
        <p:nvSpPr>
          <p:cNvPr id="103" name="テキスト ボックス 102">
            <a:extLst>
              <a:ext uri="{FF2B5EF4-FFF2-40B4-BE49-F238E27FC236}">
                <a16:creationId xmlns:a16="http://schemas.microsoft.com/office/drawing/2014/main" id="{A36C78DB-383D-009A-70E0-560E1A86E05E}"/>
              </a:ext>
            </a:extLst>
          </p:cNvPr>
          <p:cNvSpPr txBox="1"/>
          <p:nvPr/>
        </p:nvSpPr>
        <p:spPr>
          <a:xfrm>
            <a:off x="990213" y="5310621"/>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⑥</a:t>
            </a:r>
            <a:endParaRPr kumimoji="1" lang="en-US" altLang="ja-JP" sz="1200" b="1" dirty="0">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EF35F618-BC43-34F0-F23A-84F214F3A51A}"/>
              </a:ext>
            </a:extLst>
          </p:cNvPr>
          <p:cNvSpPr txBox="1"/>
          <p:nvPr/>
        </p:nvSpPr>
        <p:spPr>
          <a:xfrm>
            <a:off x="990213" y="5586007"/>
            <a:ext cx="330488"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⑦</a:t>
            </a:r>
            <a:endParaRPr kumimoji="1" lang="en-US" altLang="ja-JP" sz="1200" b="1" dirty="0">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168102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335360" y="3262672"/>
            <a:ext cx="11521280" cy="0"/>
          </a:xfrm>
          <a:prstGeom prst="line">
            <a:avLst/>
          </a:prstGeom>
          <a:ln w="317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2558D4E1-5CBA-24CC-4AEF-8FF35A5AA10F}"/>
              </a:ext>
            </a:extLst>
          </p:cNvPr>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CAE216D3-EFBF-778E-B3D3-D5CBEA22266B}"/>
              </a:ext>
            </a:extLst>
          </p:cNvPr>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帳票定義の改訂</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FBF176CB-F153-D4F0-567F-BB9DF60F8BE0}"/>
              </a:ext>
            </a:extLst>
          </p:cNvPr>
          <p:cNvSpPr/>
          <p:nvPr/>
        </p:nvSpPr>
        <p:spPr>
          <a:xfrm>
            <a:off x="263352" y="3356992"/>
            <a:ext cx="11521280" cy="461665"/>
          </a:xfrm>
          <a:prstGeom prst="rect">
            <a:avLst/>
          </a:prstGeom>
        </p:spPr>
        <p:txBody>
          <a:bodyPr wrap="square">
            <a:spAutoFit/>
          </a:bodyPr>
          <a:lstStyle/>
          <a:p>
            <a:r>
              <a:rPr lang="ja-JP" altLang="en-US"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④カーボンコピー</a:t>
            </a:r>
            <a:endParaRPr lang="en-US" altLang="ja-JP" sz="2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3971421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60523FA2-D06E-74C6-AD86-7C7B8D5E6296}"/>
              </a:ext>
            </a:extLst>
          </p:cNvPr>
          <p:cNvPicPr>
            <a:picLocks noChangeAspect="1"/>
          </p:cNvPicPr>
          <p:nvPr/>
        </p:nvPicPr>
        <p:blipFill>
          <a:blip r:embed="rId4"/>
          <a:srcRect t="49348"/>
          <a:stretch/>
        </p:blipFill>
        <p:spPr>
          <a:xfrm>
            <a:off x="6231362" y="3178785"/>
            <a:ext cx="5355871" cy="1589899"/>
          </a:xfrm>
          <a:prstGeom prst="rect">
            <a:avLst/>
          </a:prstGeom>
        </p:spPr>
      </p:pic>
      <p:pic>
        <p:nvPicPr>
          <p:cNvPr id="10" name="図 9">
            <a:extLst>
              <a:ext uri="{FF2B5EF4-FFF2-40B4-BE49-F238E27FC236}">
                <a16:creationId xmlns:a16="http://schemas.microsoft.com/office/drawing/2014/main" id="{EA08ABB5-E8B3-2D8A-315E-1C9B23F14FC8}"/>
              </a:ext>
            </a:extLst>
          </p:cNvPr>
          <p:cNvPicPr>
            <a:picLocks noChangeAspect="1"/>
          </p:cNvPicPr>
          <p:nvPr/>
        </p:nvPicPr>
        <p:blipFill>
          <a:blip r:embed="rId4"/>
          <a:srcRect b="49348"/>
          <a:stretch/>
        </p:blipFill>
        <p:spPr>
          <a:xfrm>
            <a:off x="875491" y="3178785"/>
            <a:ext cx="5355871" cy="1589899"/>
          </a:xfrm>
          <a:prstGeom prst="rect">
            <a:avLst/>
          </a:prstGeom>
        </p:spPr>
      </p:pic>
      <p:sp>
        <p:nvSpPr>
          <p:cNvPr id="19" name="テキスト ボックス 18"/>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別のクラスターへの入力値コピー設定</a:t>
            </a:r>
          </a:p>
        </p:txBody>
      </p:sp>
      <p:sp>
        <p:nvSpPr>
          <p:cNvPr id="9" name="テキスト ボックス 8"/>
          <p:cNvSpPr txBox="1"/>
          <p:nvPr/>
        </p:nvSpPr>
        <p:spPr>
          <a:xfrm>
            <a:off x="983432" y="908720"/>
            <a:ext cx="10225136" cy="1358064"/>
          </a:xfrm>
          <a:prstGeom prst="rect">
            <a:avLst/>
          </a:prstGeom>
          <a:noFill/>
        </p:spPr>
        <p:txBody>
          <a:bodyPr wrap="square" rtlCol="0">
            <a:spAutoFit/>
          </a:bodyPr>
          <a:lstStyle/>
          <a:p>
            <a:pPr marL="269875" indent="-269875" defTabSz="8070850">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あるクラスターに入力した値を、別のクラスターに自動的に入力（コピー）することができます。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69875" indent="-269875" defTabSz="8070850">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同シート内のクラスターだけでなく、別シート内のクラスターにもコピーするように設定もできます。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69875" indent="-269875" defTabSz="8070850">
              <a:lnSpc>
                <a:spcPct val="150000"/>
              </a:lnSpc>
              <a:buClr>
                <a:schemeClr val="accent5">
                  <a:lumMod val="75000"/>
                </a:schemeClr>
              </a:buClr>
              <a:tabLst>
                <a:tab pos="269875" algn="l"/>
                <a:tab pos="541338" algn="l"/>
              </a:tabLst>
            </a:pP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69875" indent="-269875" defTabSz="8070850">
              <a:lnSpc>
                <a:spcPct val="150000"/>
              </a:lnSpc>
              <a:buClr>
                <a:schemeClr val="accent5">
                  <a:lumMod val="75000"/>
                </a:schemeClr>
              </a:buClr>
              <a:tabLst>
                <a:tab pos="269875" algn="l"/>
                <a:tab pos="541338" algn="l"/>
              </a:tabLst>
            </a:pP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配送伝票などにあるカーボン紙を使った内容の複写のイメージ</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テキスト ボックス 3"/>
          <p:cNvSpPr txBox="1"/>
          <p:nvPr/>
        </p:nvSpPr>
        <p:spPr>
          <a:xfrm>
            <a:off x="5347400" y="2958315"/>
            <a:ext cx="4752124"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カーボンコピー設定の例</a:t>
            </a:r>
          </a:p>
        </p:txBody>
      </p:sp>
      <p:pic>
        <p:nvPicPr>
          <p:cNvPr id="151" name="Picture 5" descr="C:\Users\TsutsuiWin7\Desktop\ジャスチャー\ドラッグ、フリック.pn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rot="20550467" flipH="1">
            <a:off x="2251460" y="4576320"/>
            <a:ext cx="578075" cy="40091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8" name="正方形/長方形 157"/>
          <p:cNvSpPr/>
          <p:nvPr/>
        </p:nvSpPr>
        <p:spPr>
          <a:xfrm>
            <a:off x="2805673" y="4653669"/>
            <a:ext cx="1504260" cy="246221"/>
          </a:xfrm>
          <a:prstGeom prst="rect">
            <a:avLst/>
          </a:prstGeom>
        </p:spPr>
        <p:txBody>
          <a:bodyPr wrap="square">
            <a:spAutoFit/>
          </a:bodyPr>
          <a:lstStyle/>
          <a:p>
            <a:pPr algn="ctr"/>
            <a:r>
              <a:rPr lang="ja-JP" altLang="en-US" sz="1000" dirty="0">
                <a:latin typeface="メイリオ" pitchFamily="50" charset="-128"/>
                <a:ea typeface="メイリオ" pitchFamily="50" charset="-128"/>
                <a:cs typeface="メイリオ" pitchFamily="50" charset="-128"/>
              </a:rPr>
              <a:t>シート１</a:t>
            </a:r>
          </a:p>
        </p:txBody>
      </p:sp>
      <p:sp>
        <p:nvSpPr>
          <p:cNvPr id="159" name="正方形/長方形 158"/>
          <p:cNvSpPr/>
          <p:nvPr/>
        </p:nvSpPr>
        <p:spPr>
          <a:xfrm>
            <a:off x="8161544" y="4653669"/>
            <a:ext cx="1489958" cy="246221"/>
          </a:xfrm>
          <a:prstGeom prst="rect">
            <a:avLst/>
          </a:prstGeom>
        </p:spPr>
        <p:txBody>
          <a:bodyPr wrap="square">
            <a:spAutoFit/>
          </a:bodyPr>
          <a:lstStyle/>
          <a:p>
            <a:pPr algn="ctr"/>
            <a:r>
              <a:rPr lang="ja-JP" altLang="en-US" sz="1000" dirty="0">
                <a:latin typeface="メイリオ" pitchFamily="50" charset="-128"/>
                <a:ea typeface="メイリオ" pitchFamily="50" charset="-128"/>
                <a:cs typeface="メイリオ" pitchFamily="50" charset="-128"/>
              </a:rPr>
              <a:t>シート２</a:t>
            </a:r>
          </a:p>
        </p:txBody>
      </p:sp>
      <p:sp>
        <p:nvSpPr>
          <p:cNvPr id="162" name="四角形吹き出し 161"/>
          <p:cNvSpPr/>
          <p:nvPr/>
        </p:nvSpPr>
        <p:spPr>
          <a:xfrm>
            <a:off x="8040216" y="2710023"/>
            <a:ext cx="2193897" cy="504056"/>
          </a:xfrm>
          <a:prstGeom prst="wedgeRectCallout">
            <a:avLst>
              <a:gd name="adj1" fmla="val -10093"/>
              <a:gd name="adj2" fmla="val 123198"/>
            </a:avLst>
          </a:prstGeom>
          <a:solidFill>
            <a:schemeClr val="accent5">
              <a:lumMod val="5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1200" b="1" dirty="0">
                <a:solidFill>
                  <a:schemeClr val="bg1"/>
                </a:solidFill>
                <a:latin typeface="メイリオ" pitchFamily="50" charset="-128"/>
                <a:ea typeface="メイリオ" pitchFamily="50" charset="-128"/>
                <a:cs typeface="メイリオ" pitchFamily="50" charset="-128"/>
              </a:rPr>
              <a:t>同一内容の控えをすぐに作成することができます。</a:t>
            </a:r>
          </a:p>
        </p:txBody>
      </p:sp>
      <p:sp>
        <p:nvSpPr>
          <p:cNvPr id="12" name="四角形吹き出し 161">
            <a:extLst>
              <a:ext uri="{FF2B5EF4-FFF2-40B4-BE49-F238E27FC236}">
                <a16:creationId xmlns:a16="http://schemas.microsoft.com/office/drawing/2014/main" id="{C96AF771-F146-5FCC-2609-0DBA9B5E31F6}"/>
              </a:ext>
            </a:extLst>
          </p:cNvPr>
          <p:cNvSpPr/>
          <p:nvPr/>
        </p:nvSpPr>
        <p:spPr>
          <a:xfrm>
            <a:off x="2894346" y="2731258"/>
            <a:ext cx="1675024" cy="504056"/>
          </a:xfrm>
          <a:prstGeom prst="wedgeRectCallout">
            <a:avLst>
              <a:gd name="adj1" fmla="val -10093"/>
              <a:gd name="adj2" fmla="val 123198"/>
            </a:avLst>
          </a:prstGeom>
          <a:solidFill>
            <a:schemeClr val="accent5">
              <a:lumMod val="5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1200" b="1" dirty="0">
                <a:solidFill>
                  <a:schemeClr val="bg1"/>
                </a:solidFill>
                <a:latin typeface="メイリオ" pitchFamily="50" charset="-128"/>
                <a:ea typeface="メイリオ" pitchFamily="50" charset="-128"/>
                <a:cs typeface="メイリオ" pitchFamily="50" charset="-128"/>
              </a:rPr>
              <a:t>クラスターへの入力</a:t>
            </a:r>
          </a:p>
        </p:txBody>
      </p:sp>
    </p:spTree>
    <p:custDataLst>
      <p:tags r:id="rId1"/>
    </p:custDataLst>
    <p:extLst>
      <p:ext uri="{BB962C8B-B14F-4D97-AF65-F5344CB8AC3E}">
        <p14:creationId xmlns:p14="http://schemas.microsoft.com/office/powerpoint/2010/main" val="33122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図 22">
            <a:extLst>
              <a:ext uri="{FF2B5EF4-FFF2-40B4-BE49-F238E27FC236}">
                <a16:creationId xmlns:a16="http://schemas.microsoft.com/office/drawing/2014/main" id="{F80B5E05-A75A-DC1D-8958-4A460BEB2A4E}"/>
              </a:ext>
            </a:extLst>
          </p:cNvPr>
          <p:cNvPicPr>
            <a:picLocks noChangeAspect="1"/>
          </p:cNvPicPr>
          <p:nvPr/>
        </p:nvPicPr>
        <p:blipFill>
          <a:blip r:embed="rId4"/>
          <a:stretch>
            <a:fillRect/>
          </a:stretch>
        </p:blipFill>
        <p:spPr>
          <a:xfrm>
            <a:off x="1001194" y="1760464"/>
            <a:ext cx="7192636" cy="4084407"/>
          </a:xfrm>
          <a:prstGeom prst="rect">
            <a:avLst/>
          </a:prstGeom>
          <a:ln>
            <a:solidFill>
              <a:schemeClr val="tx1"/>
            </a:solidFill>
          </a:ln>
        </p:spPr>
      </p:pic>
      <p:sp>
        <p:nvSpPr>
          <p:cNvPr id="8" name="角丸四角形 7"/>
          <p:cNvSpPr/>
          <p:nvPr/>
        </p:nvSpPr>
        <p:spPr>
          <a:xfrm>
            <a:off x="2261474" y="3280870"/>
            <a:ext cx="851768" cy="281600"/>
          </a:xfrm>
          <a:prstGeom prst="roundRect">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0" name="四角形吹き出し 9"/>
          <p:cNvSpPr/>
          <p:nvPr/>
        </p:nvSpPr>
        <p:spPr>
          <a:xfrm>
            <a:off x="1242934" y="3898447"/>
            <a:ext cx="1877103" cy="490708"/>
          </a:xfrm>
          <a:prstGeom prst="wedgeRectCallout">
            <a:avLst>
              <a:gd name="adj1" fmla="val 23424"/>
              <a:gd name="adj2" fmla="val -98138"/>
            </a:avLst>
          </a:prstGeom>
          <a:solidFill>
            <a:schemeClr val="accent5">
              <a:lumMod val="50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tIns="72000" bIns="36000" rtlCol="0" anchor="ctr">
            <a:noAutofit/>
          </a:bodyPr>
          <a:lstStyle/>
          <a:p>
            <a:r>
              <a:rPr lang="ja-JP" altLang="en-US" sz="1200" b="1" dirty="0">
                <a:latin typeface="メイリオ" pitchFamily="50" charset="-128"/>
                <a:ea typeface="メイリオ" pitchFamily="50" charset="-128"/>
                <a:cs typeface="メイリオ" pitchFamily="50" charset="-128"/>
              </a:rPr>
              <a:t>クラスターモードは</a:t>
            </a:r>
            <a:endParaRPr lang="en-US" altLang="ja-JP" sz="1200" b="1" dirty="0">
              <a:latin typeface="メイリオ" pitchFamily="50" charset="-128"/>
              <a:ea typeface="メイリオ" pitchFamily="50" charset="-128"/>
              <a:cs typeface="メイリオ" pitchFamily="50" charset="-128"/>
            </a:endParaRPr>
          </a:p>
          <a:p>
            <a:r>
              <a:rPr lang="ja-JP" altLang="en-US" sz="1200" b="1" dirty="0">
                <a:latin typeface="メイリオ" pitchFamily="50" charset="-128"/>
                <a:ea typeface="メイリオ" pitchFamily="50" charset="-128"/>
                <a:cs typeface="メイリオ" pitchFamily="50" charset="-128"/>
              </a:rPr>
              <a:t>「カーボンコピー設定」</a:t>
            </a:r>
          </a:p>
        </p:txBody>
      </p:sp>
      <p:sp>
        <p:nvSpPr>
          <p:cNvPr id="14" name="角丸四角形 13"/>
          <p:cNvSpPr/>
          <p:nvPr/>
        </p:nvSpPr>
        <p:spPr>
          <a:xfrm>
            <a:off x="3833492" y="2506715"/>
            <a:ext cx="704743" cy="288648"/>
          </a:xfrm>
          <a:prstGeom prst="roundRect">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7" name="四角形吹き出し 16"/>
          <p:cNvSpPr/>
          <p:nvPr/>
        </p:nvSpPr>
        <p:spPr>
          <a:xfrm>
            <a:off x="5790331" y="1953934"/>
            <a:ext cx="1872208" cy="496526"/>
          </a:xfrm>
          <a:prstGeom prst="wedgeRectCallout">
            <a:avLst>
              <a:gd name="adj1" fmla="val -62198"/>
              <a:gd name="adj2" fmla="val 28006"/>
            </a:avLst>
          </a:prstGeom>
          <a:solidFill>
            <a:schemeClr val="accent5">
              <a:lumMod val="50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tIns="72000" bIns="36000" rtlCol="0" anchor="ctr">
            <a:noAutofit/>
          </a:bodyPr>
          <a:lstStyle/>
          <a:p>
            <a:r>
              <a:rPr lang="ja-JP" altLang="en-US" sz="1200" b="1" dirty="0">
                <a:latin typeface="メイリオ" pitchFamily="50" charset="-128"/>
                <a:ea typeface="メイリオ" pitchFamily="50" charset="-128"/>
                <a:cs typeface="メイリオ" pitchFamily="50" charset="-128"/>
              </a:rPr>
              <a:t>コピー元のクラスターを</a:t>
            </a:r>
            <a:endParaRPr lang="en-US" altLang="ja-JP" sz="1200" b="1" dirty="0">
              <a:latin typeface="メイリオ" pitchFamily="50" charset="-128"/>
              <a:ea typeface="メイリオ" pitchFamily="50" charset="-128"/>
              <a:cs typeface="メイリオ" pitchFamily="50" charset="-128"/>
            </a:endParaRPr>
          </a:p>
          <a:p>
            <a:r>
              <a:rPr lang="ja-JP" altLang="en-US" sz="1200" b="1" dirty="0">
                <a:latin typeface="メイリオ" pitchFamily="50" charset="-128"/>
                <a:ea typeface="メイリオ" pitchFamily="50" charset="-128"/>
                <a:cs typeface="メイリオ" pitchFamily="50" charset="-128"/>
              </a:rPr>
              <a:t>クリック</a:t>
            </a:r>
          </a:p>
        </p:txBody>
      </p:sp>
      <p:sp>
        <p:nvSpPr>
          <p:cNvPr id="18" name="テキスト ボックス 17"/>
          <p:cNvSpPr txBox="1"/>
          <p:nvPr/>
        </p:nvSpPr>
        <p:spPr>
          <a:xfrm>
            <a:off x="983432" y="1276998"/>
            <a:ext cx="10225136" cy="388568"/>
          </a:xfrm>
          <a:prstGeom prst="rect">
            <a:avLst/>
          </a:prstGeom>
          <a:noFill/>
        </p:spPr>
        <p:txBody>
          <a:bodyPr wrap="square" rtlCol="0">
            <a:spAutoFit/>
          </a:bodyPr>
          <a:lstStyle/>
          <a:p>
            <a:pPr marL="269875" indent="-269875" defTabSz="8428038">
              <a:lnSpc>
                <a:spcPct val="150000"/>
              </a:lnSpc>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「カーボンコピー設定」は同一のクラスター種別に対してのみ設定が可能です。</a:t>
            </a:r>
          </a:p>
        </p:txBody>
      </p:sp>
      <p:sp>
        <p:nvSpPr>
          <p:cNvPr id="13" name="テキスト ボックス 12"/>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カーボンコピー 設定方法</a:t>
            </a:r>
          </a:p>
        </p:txBody>
      </p:sp>
      <p:sp>
        <p:nvSpPr>
          <p:cNvPr id="20" name="正方形/長方形 19"/>
          <p:cNvSpPr/>
          <p:nvPr/>
        </p:nvSpPr>
        <p:spPr>
          <a:xfrm>
            <a:off x="750934" y="899428"/>
            <a:ext cx="10669066"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クラスターモードを「カーボンコピー設定」に設定します。</a:t>
            </a:r>
          </a:p>
        </p:txBody>
      </p:sp>
      <p:sp>
        <p:nvSpPr>
          <p:cNvPr id="7" name="角丸四角形 16">
            <a:extLst>
              <a:ext uri="{FF2B5EF4-FFF2-40B4-BE49-F238E27FC236}">
                <a16:creationId xmlns:a16="http://schemas.microsoft.com/office/drawing/2014/main" id="{0CBB57A7-7060-1D73-2ADC-D5B07284DBB5}"/>
              </a:ext>
            </a:extLst>
          </p:cNvPr>
          <p:cNvSpPr/>
          <p:nvPr/>
        </p:nvSpPr>
        <p:spPr>
          <a:xfrm>
            <a:off x="1011651" y="2278101"/>
            <a:ext cx="1249823" cy="1074566"/>
          </a:xfrm>
          <a:prstGeom prst="roundRect">
            <a:avLst>
              <a:gd name="adj" fmla="val 4953"/>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27A941B6-498E-020F-3949-32C8D70CD764}"/>
              </a:ext>
            </a:extLst>
          </p:cNvPr>
          <p:cNvSpPr txBox="1"/>
          <p:nvPr/>
        </p:nvSpPr>
        <p:spPr>
          <a:xfrm>
            <a:off x="1599465" y="5939770"/>
            <a:ext cx="3600400" cy="276999"/>
          </a:xfrm>
          <a:prstGeom prst="rect">
            <a:avLst/>
          </a:prstGeom>
          <a:noFill/>
        </p:spPr>
        <p:txBody>
          <a:bodyPr wrap="square" rtlCol="0">
            <a:spAutoFit/>
          </a:bodyPr>
          <a:lstStyle/>
          <a:p>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カーボンコピー先がシートを跨ぐことも可能</a:t>
            </a:r>
            <a:endParaRPr lang="en-US" altLang="ja-JP" sz="1200" b="1" dirty="0">
              <a:latin typeface="メイリオ" panose="020B0604030504040204" pitchFamily="50" charset="-128"/>
              <a:ea typeface="メイリオ" panose="020B0604030504040204" pitchFamily="50" charset="-128"/>
            </a:endParaRPr>
          </a:p>
        </p:txBody>
      </p:sp>
      <p:sp>
        <p:nvSpPr>
          <p:cNvPr id="3" name="四角形吹き出し 16">
            <a:extLst>
              <a:ext uri="{FF2B5EF4-FFF2-40B4-BE49-F238E27FC236}">
                <a16:creationId xmlns:a16="http://schemas.microsoft.com/office/drawing/2014/main" id="{3027A283-030D-3991-2DBB-63E0DAAA2C7F}"/>
              </a:ext>
            </a:extLst>
          </p:cNvPr>
          <p:cNvSpPr/>
          <p:nvPr/>
        </p:nvSpPr>
        <p:spPr>
          <a:xfrm>
            <a:off x="5785313" y="4551982"/>
            <a:ext cx="1872208" cy="496526"/>
          </a:xfrm>
          <a:prstGeom prst="wedgeRectCallout">
            <a:avLst>
              <a:gd name="adj1" fmla="val -105528"/>
              <a:gd name="adj2" fmla="val 9440"/>
            </a:avLst>
          </a:prstGeom>
          <a:solidFill>
            <a:schemeClr val="accent5">
              <a:lumMod val="50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tIns="72000" bIns="36000" rtlCol="0" anchor="ctr">
            <a:noAutofit/>
          </a:bodyPr>
          <a:lstStyle/>
          <a:p>
            <a:r>
              <a:rPr lang="ja-JP" altLang="en-US" sz="1200" b="1" dirty="0">
                <a:latin typeface="メイリオ" pitchFamily="50" charset="-128"/>
                <a:ea typeface="メイリオ" pitchFamily="50" charset="-128"/>
                <a:cs typeface="メイリオ" pitchFamily="50" charset="-128"/>
              </a:rPr>
              <a:t>コピー先のクラスターを</a:t>
            </a:r>
            <a:endParaRPr lang="en-US" altLang="ja-JP" sz="1200" b="1" dirty="0">
              <a:latin typeface="メイリオ" pitchFamily="50" charset="-128"/>
              <a:ea typeface="メイリオ" pitchFamily="50" charset="-128"/>
              <a:cs typeface="メイリオ" pitchFamily="50" charset="-128"/>
            </a:endParaRPr>
          </a:p>
          <a:p>
            <a:r>
              <a:rPr lang="ja-JP" altLang="en-US" sz="1200" b="1" dirty="0">
                <a:latin typeface="メイリオ" pitchFamily="50" charset="-128"/>
                <a:ea typeface="メイリオ" pitchFamily="50" charset="-128"/>
                <a:cs typeface="メイリオ" pitchFamily="50" charset="-128"/>
              </a:rPr>
              <a:t>クリック</a:t>
            </a:r>
          </a:p>
        </p:txBody>
      </p:sp>
      <p:sp>
        <p:nvSpPr>
          <p:cNvPr id="12" name="角丸四角形 13">
            <a:extLst>
              <a:ext uri="{FF2B5EF4-FFF2-40B4-BE49-F238E27FC236}">
                <a16:creationId xmlns:a16="http://schemas.microsoft.com/office/drawing/2014/main" id="{B4242772-6D80-DDFF-F8F4-24E288A48EC3}"/>
              </a:ext>
            </a:extLst>
          </p:cNvPr>
          <p:cNvSpPr/>
          <p:nvPr/>
        </p:nvSpPr>
        <p:spPr>
          <a:xfrm>
            <a:off x="3833492" y="4646292"/>
            <a:ext cx="704743" cy="298585"/>
          </a:xfrm>
          <a:prstGeom prst="roundRect">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38DEBD06-959B-08EB-BABB-7DECE5B83A14}"/>
              </a:ext>
            </a:extLst>
          </p:cNvPr>
          <p:cNvPicPr>
            <a:picLocks noChangeAspect="1"/>
          </p:cNvPicPr>
          <p:nvPr/>
        </p:nvPicPr>
        <p:blipFill>
          <a:blip r:embed="rId5"/>
          <a:stretch>
            <a:fillRect/>
          </a:stretch>
        </p:blipFill>
        <p:spPr>
          <a:xfrm>
            <a:off x="8400390" y="1951468"/>
            <a:ext cx="2625738" cy="3789040"/>
          </a:xfrm>
          <a:prstGeom prst="rect">
            <a:avLst/>
          </a:prstGeom>
          <a:ln>
            <a:solidFill>
              <a:schemeClr val="tx1"/>
            </a:solidFill>
          </a:ln>
        </p:spPr>
      </p:pic>
      <p:sp>
        <p:nvSpPr>
          <p:cNvPr id="5" name="テキスト ボックス 4">
            <a:extLst>
              <a:ext uri="{FF2B5EF4-FFF2-40B4-BE49-F238E27FC236}">
                <a16:creationId xmlns:a16="http://schemas.microsoft.com/office/drawing/2014/main" id="{7CFD9ED3-B0B6-ECCC-8625-0846CDDC5BBA}"/>
              </a:ext>
            </a:extLst>
          </p:cNvPr>
          <p:cNvSpPr txBox="1"/>
          <p:nvPr/>
        </p:nvSpPr>
        <p:spPr>
          <a:xfrm>
            <a:off x="7913059" y="5853774"/>
            <a:ext cx="3600400" cy="276999"/>
          </a:xfrm>
          <a:prstGeom prst="rect">
            <a:avLst/>
          </a:prstGeom>
          <a:noFill/>
        </p:spPr>
        <p:txBody>
          <a:bodyPr wrap="square" rtlCol="0">
            <a:spAutoFit/>
          </a:bodyPr>
          <a:lstStyle/>
          <a:p>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残りの箇所もカーボンコピー設定を行います。</a:t>
            </a:r>
            <a:endParaRPr lang="en-US" altLang="ja-JP" sz="1200" b="1" dirty="0">
              <a:latin typeface="メイリオ" panose="020B0604030504040204" pitchFamily="50" charset="-128"/>
              <a:ea typeface="メイリオ" panose="020B0604030504040204" pitchFamily="50" charset="-128"/>
            </a:endParaRPr>
          </a:p>
        </p:txBody>
      </p:sp>
      <p:sp>
        <p:nvSpPr>
          <p:cNvPr id="6" name="角丸四角形 13">
            <a:extLst>
              <a:ext uri="{FF2B5EF4-FFF2-40B4-BE49-F238E27FC236}">
                <a16:creationId xmlns:a16="http://schemas.microsoft.com/office/drawing/2014/main" id="{936C4FD7-63D7-20C5-89FA-36E4088D9F7C}"/>
              </a:ext>
            </a:extLst>
          </p:cNvPr>
          <p:cNvSpPr/>
          <p:nvPr/>
        </p:nvSpPr>
        <p:spPr>
          <a:xfrm>
            <a:off x="10272464" y="3041482"/>
            <a:ext cx="704743" cy="747558"/>
          </a:xfrm>
          <a:prstGeom prst="roundRect">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1" name="角丸四角形 13">
            <a:extLst>
              <a:ext uri="{FF2B5EF4-FFF2-40B4-BE49-F238E27FC236}">
                <a16:creationId xmlns:a16="http://schemas.microsoft.com/office/drawing/2014/main" id="{ACB8A3FA-6C5F-AEC2-B893-F86C6953019E}"/>
              </a:ext>
            </a:extLst>
          </p:cNvPr>
          <p:cNvSpPr/>
          <p:nvPr/>
        </p:nvSpPr>
        <p:spPr>
          <a:xfrm>
            <a:off x="9088536" y="4808896"/>
            <a:ext cx="704743" cy="772106"/>
          </a:xfrm>
          <a:prstGeom prst="roundRect">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4231964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2DCB8-FF29-2856-6BCF-B9B16EEC4786}"/>
            </a:ext>
          </a:extLst>
        </p:cNvPr>
        <p:cNvGrpSpPr/>
        <p:nvPr/>
      </p:nvGrpSpPr>
      <p:grpSpPr>
        <a:xfrm>
          <a:off x="0" y="0"/>
          <a:ext cx="0" cy="0"/>
          <a:chOff x="0" y="0"/>
          <a:chExt cx="0" cy="0"/>
        </a:xfrm>
      </p:grpSpPr>
      <p:sp>
        <p:nvSpPr>
          <p:cNvPr id="18" name="テキスト ボックス 17">
            <a:extLst>
              <a:ext uri="{FF2B5EF4-FFF2-40B4-BE49-F238E27FC236}">
                <a16:creationId xmlns:a16="http://schemas.microsoft.com/office/drawing/2014/main" id="{DC0B25E9-AE2D-50AC-EA5A-9F9691739B4E}"/>
              </a:ext>
            </a:extLst>
          </p:cNvPr>
          <p:cNvSpPr txBox="1"/>
          <p:nvPr/>
        </p:nvSpPr>
        <p:spPr>
          <a:xfrm>
            <a:off x="983432" y="1276998"/>
            <a:ext cx="10225136" cy="711733"/>
          </a:xfrm>
          <a:prstGeom prst="rect">
            <a:avLst/>
          </a:prstGeom>
          <a:noFill/>
        </p:spPr>
        <p:txBody>
          <a:bodyPr wrap="square" rtlCol="0">
            <a:spAutoFit/>
          </a:bodyPr>
          <a:lstStyle/>
          <a:p>
            <a:pPr marL="269875" indent="-269875" defTabSz="8428038">
              <a:lnSpc>
                <a:spcPct val="150000"/>
              </a:lnSpc>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クラスターモードがカーボンコピー設定の場合、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クラスター一覧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カーボンコピー一覧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へと変化します。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marL="269875" indent="-269875" defTabSz="8428038">
              <a:lnSpc>
                <a:spcPct val="150000"/>
              </a:lnSpc>
              <a:buClr>
                <a:schemeClr val="accent5">
                  <a:lumMod val="75000"/>
                </a:schemeClr>
              </a:buClr>
              <a:tabLst>
                <a:tab pos="269875" algn="l"/>
              </a:tabLst>
            </a:pP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カーボンコピーされた値の編集操作についても設定を行うことができます。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12">
            <a:extLst>
              <a:ext uri="{FF2B5EF4-FFF2-40B4-BE49-F238E27FC236}">
                <a16:creationId xmlns:a16="http://schemas.microsoft.com/office/drawing/2014/main" id="{7B1803E3-5491-AD7D-364B-C5046B6A7730}"/>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カーボンコピー 設定方法</a:t>
            </a:r>
          </a:p>
        </p:txBody>
      </p:sp>
      <p:sp>
        <p:nvSpPr>
          <p:cNvPr id="20" name="正方形/長方形 19">
            <a:extLst>
              <a:ext uri="{FF2B5EF4-FFF2-40B4-BE49-F238E27FC236}">
                <a16:creationId xmlns:a16="http://schemas.microsoft.com/office/drawing/2014/main" id="{6143AE8A-EAAE-3EC9-703E-EA3F3D3E83AC}"/>
              </a:ext>
            </a:extLst>
          </p:cNvPr>
          <p:cNvSpPr/>
          <p:nvPr/>
        </p:nvSpPr>
        <p:spPr>
          <a:xfrm>
            <a:off x="750934" y="899428"/>
            <a:ext cx="10669066" cy="369332"/>
          </a:xfrm>
          <a:prstGeom prst="rect">
            <a:avLst/>
          </a:prstGeom>
        </p:spPr>
        <p:txBody>
          <a:bodyPr wrap="square">
            <a:spAutoFit/>
          </a:bodyPr>
          <a:lstStyle/>
          <a:p>
            <a:r>
              <a:rPr lang="ja-JP" altLang="en-US" b="1" dirty="0">
                <a:solidFill>
                  <a:schemeClr val="accent5">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カーボンコピー一覧　</a:t>
            </a:r>
          </a:p>
        </p:txBody>
      </p:sp>
      <p:pic>
        <p:nvPicPr>
          <p:cNvPr id="2" name="図 1">
            <a:extLst>
              <a:ext uri="{FF2B5EF4-FFF2-40B4-BE49-F238E27FC236}">
                <a16:creationId xmlns:a16="http://schemas.microsoft.com/office/drawing/2014/main" id="{E221C8C9-6B6C-1B40-4DA6-FDDEAA3C5A6B}"/>
              </a:ext>
            </a:extLst>
          </p:cNvPr>
          <p:cNvPicPr>
            <a:picLocks noChangeAspect="1"/>
          </p:cNvPicPr>
          <p:nvPr/>
        </p:nvPicPr>
        <p:blipFill>
          <a:blip r:embed="rId4"/>
          <a:stretch>
            <a:fillRect/>
          </a:stretch>
        </p:blipFill>
        <p:spPr>
          <a:xfrm>
            <a:off x="3359696" y="2283922"/>
            <a:ext cx="5043837" cy="2906052"/>
          </a:xfrm>
          <a:prstGeom prst="rect">
            <a:avLst/>
          </a:prstGeom>
          <a:ln>
            <a:solidFill>
              <a:schemeClr val="tx1"/>
            </a:solidFill>
          </a:ln>
        </p:spPr>
      </p:pic>
      <p:sp>
        <p:nvSpPr>
          <p:cNvPr id="4" name="四角形吹き出し 16">
            <a:extLst>
              <a:ext uri="{FF2B5EF4-FFF2-40B4-BE49-F238E27FC236}">
                <a16:creationId xmlns:a16="http://schemas.microsoft.com/office/drawing/2014/main" id="{61837F07-2A75-8E71-60A4-1A4CF32A5D4A}"/>
              </a:ext>
            </a:extLst>
          </p:cNvPr>
          <p:cNvSpPr/>
          <p:nvPr/>
        </p:nvSpPr>
        <p:spPr>
          <a:xfrm>
            <a:off x="5149363" y="3240422"/>
            <a:ext cx="1872208" cy="496526"/>
          </a:xfrm>
          <a:prstGeom prst="wedgeRectCallout">
            <a:avLst>
              <a:gd name="adj1" fmla="val -39414"/>
              <a:gd name="adj2" fmla="val 92536"/>
            </a:avLst>
          </a:prstGeom>
          <a:solidFill>
            <a:schemeClr val="accent5">
              <a:lumMod val="50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tIns="72000" bIns="36000" rtlCol="0" anchor="ctr">
            <a:noAutofit/>
          </a:bodyPr>
          <a:lstStyle/>
          <a:p>
            <a:pPr algn="ctr"/>
            <a:r>
              <a:rPr lang="ja-JP" altLang="en-US" sz="1200" b="1" dirty="0">
                <a:latin typeface="メイリオ" pitchFamily="50" charset="-128"/>
                <a:ea typeface="メイリオ" pitchFamily="50" charset="-128"/>
                <a:cs typeface="メイリオ" pitchFamily="50" charset="-128"/>
              </a:rPr>
              <a:t>右クリックメニュー</a:t>
            </a:r>
          </a:p>
        </p:txBody>
      </p:sp>
    </p:spTree>
    <p:custDataLst>
      <p:tags r:id="rId1"/>
    </p:custDataLst>
    <p:extLst>
      <p:ext uri="{BB962C8B-B14F-4D97-AF65-F5344CB8AC3E}">
        <p14:creationId xmlns:p14="http://schemas.microsoft.com/office/powerpoint/2010/main" val="1978079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帳票名称自動作成</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160290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テーブル, カレンダー&#10;&#10;AI によって生成されたコンテンツは間違っている可能性があります。">
            <a:extLst>
              <a:ext uri="{FF2B5EF4-FFF2-40B4-BE49-F238E27FC236}">
                <a16:creationId xmlns:a16="http://schemas.microsoft.com/office/drawing/2014/main" id="{6975F112-7361-D933-4693-94F91451888A}"/>
              </a:ext>
            </a:extLst>
          </p:cNvPr>
          <p:cNvPicPr>
            <a:picLocks noChangeAspect="1"/>
          </p:cNvPicPr>
          <p:nvPr/>
        </p:nvPicPr>
        <p:blipFill>
          <a:blip r:embed="rId2"/>
          <a:stretch>
            <a:fillRect/>
          </a:stretch>
        </p:blipFill>
        <p:spPr>
          <a:xfrm>
            <a:off x="4545800" y="3490960"/>
            <a:ext cx="1005927" cy="1377815"/>
          </a:xfrm>
          <a:prstGeom prst="rect">
            <a:avLst/>
          </a:prstGeom>
        </p:spPr>
      </p:pic>
      <p:sp>
        <p:nvSpPr>
          <p:cNvPr id="6" name="テキスト ボックス 5"/>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rPr>
              <a:t>帳票名称自動作成　機能概要</a:t>
            </a:r>
            <a:endParaRPr lang="ja-JP" altLang="en-US" sz="2400" b="1" dirty="0">
              <a:solidFill>
                <a:schemeClr val="bg1"/>
              </a:solidFill>
              <a:latin typeface="メイリオ" pitchFamily="50" charset="-128"/>
              <a:ea typeface="メイリオ" pitchFamily="50" charset="-128"/>
              <a:cs typeface="メイリオ" pitchFamily="50" charset="-128"/>
            </a:endParaRPr>
          </a:p>
        </p:txBody>
      </p:sp>
      <p:sp>
        <p:nvSpPr>
          <p:cNvPr id="10" name="右矢印 39">
            <a:extLst>
              <a:ext uri="{FF2B5EF4-FFF2-40B4-BE49-F238E27FC236}">
                <a16:creationId xmlns:a16="http://schemas.microsoft.com/office/drawing/2014/main" id="{7639F734-EEC9-4D1C-8A85-1AE363DD9002}"/>
              </a:ext>
            </a:extLst>
          </p:cNvPr>
          <p:cNvSpPr/>
          <p:nvPr/>
        </p:nvSpPr>
        <p:spPr>
          <a:xfrm>
            <a:off x="6371170" y="3374828"/>
            <a:ext cx="846188" cy="839972"/>
          </a:xfrm>
          <a:prstGeom prst="rightArrow">
            <a:avLst/>
          </a:prstGeom>
          <a:solidFill>
            <a:schemeClr val="accent4">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B787F075-46F1-44CE-F6EC-DDCBAA0F0F6D}"/>
              </a:ext>
            </a:extLst>
          </p:cNvPr>
          <p:cNvSpPr txBox="1"/>
          <p:nvPr/>
        </p:nvSpPr>
        <p:spPr>
          <a:xfrm>
            <a:off x="983432" y="1276998"/>
            <a:ext cx="10225136" cy="604012"/>
          </a:xfrm>
          <a:prstGeom prst="rect">
            <a:avLst/>
          </a:prstGeom>
          <a:noFill/>
        </p:spPr>
        <p:txBody>
          <a:bodyPr wrap="square" rtlCol="0">
            <a:spAutoFit/>
          </a:bodyPr>
          <a:lstStyle/>
          <a:p>
            <a:pPr marL="534988" indent="-534988" defTabSz="8340725">
              <a:buClr>
                <a:schemeClr val="accent5">
                  <a:lumMod val="75000"/>
                </a:schemeClr>
              </a:buClr>
              <a:tabLst>
                <a:tab pos="1809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個々の入力帳票が名称で区別できるように、入力帳票を保存する際にファイル名を指定した条件で自動作成できます。</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534988" indent="-534988" defTabSz="8340725">
              <a:lnSpc>
                <a:spcPct val="150000"/>
              </a:lnSpc>
              <a:buClr>
                <a:schemeClr val="accent5">
                  <a:lumMod val="75000"/>
                </a:schemeClr>
              </a:buClr>
              <a:tabLst>
                <a:tab pos="180975" algn="l"/>
                <a:tab pos="541338" algn="l"/>
              </a:tabLst>
            </a:pPr>
            <a:r>
              <a:rPr lang="en-US" altLang="ja-JP" sz="1400" dirty="0">
                <a:solidFill>
                  <a:srgbClr val="FF0000"/>
                </a:solidFill>
                <a:latin typeface="メイリオ" panose="020B0604030504040204" pitchFamily="50" charset="-128"/>
                <a:ea typeface="メイリオ" panose="020B0604030504040204" pitchFamily="50" charset="-128"/>
                <a:cs typeface="Meiryo UI" pitchFamily="50" charset="-128"/>
              </a:rPr>
              <a:t>※</a:t>
            </a:r>
            <a:r>
              <a:rPr lang="ja-JP" altLang="en-US" sz="1400" dirty="0">
                <a:solidFill>
                  <a:srgbClr val="FF0000"/>
                </a:solidFill>
                <a:latin typeface="メイリオ" panose="020B0604030504040204" pitchFamily="50" charset="-128"/>
                <a:ea typeface="メイリオ" panose="020B0604030504040204" pitchFamily="50" charset="-128"/>
                <a:cs typeface="Meiryo UI" pitchFamily="50" charset="-128"/>
              </a:rPr>
              <a:t>サーバーへ保存した時のみ動作、ローカル保存時は帳票定義名となります。</a:t>
            </a:r>
            <a:endParaRPr lang="en-US" altLang="ja-JP" sz="1400" dirty="0">
              <a:solidFill>
                <a:srgbClr val="FF0000"/>
              </a:solidFill>
              <a:latin typeface="メイリオ" panose="020B0604030504040204" pitchFamily="50" charset="-128"/>
              <a:ea typeface="メイリオ" panose="020B0604030504040204" pitchFamily="50" charset="-128"/>
              <a:cs typeface="Meiryo UI" pitchFamily="50" charset="-128"/>
            </a:endParaRPr>
          </a:p>
        </p:txBody>
      </p:sp>
      <p:sp>
        <p:nvSpPr>
          <p:cNvPr id="8" name="正方形/長方形 7">
            <a:extLst>
              <a:ext uri="{FF2B5EF4-FFF2-40B4-BE49-F238E27FC236}">
                <a16:creationId xmlns:a16="http://schemas.microsoft.com/office/drawing/2014/main" id="{D1BE43B5-6155-7D0E-AC09-033FE28E780F}"/>
              </a:ext>
            </a:extLst>
          </p:cNvPr>
          <p:cNvSpPr/>
          <p:nvPr/>
        </p:nvSpPr>
        <p:spPr>
          <a:xfrm>
            <a:off x="7187076" y="4771039"/>
            <a:ext cx="3589444" cy="461665"/>
          </a:xfrm>
          <a:prstGeom prst="rect">
            <a:avLst/>
          </a:prstGeom>
        </p:spPr>
        <p:txBody>
          <a:bodyPr wrap="none">
            <a:spAutoFit/>
          </a:bodyPr>
          <a:lstStyle/>
          <a:p>
            <a:pPr algn="ctr"/>
            <a:r>
              <a:rPr lang="ja-JP" altLang="en-US" sz="1200" b="1" dirty="0">
                <a:latin typeface="メイリオ" panose="020B0604030504040204" pitchFamily="50" charset="-128"/>
                <a:ea typeface="メイリオ" panose="020B0604030504040204" pitchFamily="50" charset="-128"/>
              </a:rPr>
              <a:t>入力帳票の名称</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latin typeface="メイリオ" panose="020B0604030504040204" pitchFamily="50" charset="-128"/>
                <a:ea typeface="メイリオ" panose="020B0604030504040204" pitchFamily="50" charset="-128"/>
              </a:rPr>
              <a:t>2025</a:t>
            </a:r>
            <a:r>
              <a:rPr lang="ja-JP" altLang="en-US" sz="1200" b="1" dirty="0">
                <a:latin typeface="メイリオ" panose="020B0604030504040204" pitchFamily="50" charset="-128"/>
                <a:ea typeface="メイリオ" panose="020B0604030504040204" pitchFamily="50" charset="-128"/>
              </a:rPr>
              <a:t>年</a:t>
            </a:r>
            <a:r>
              <a:rPr lang="en-US" altLang="ja-JP" sz="1200" b="1" dirty="0">
                <a:latin typeface="メイリオ" panose="020B0604030504040204" pitchFamily="50" charset="-128"/>
                <a:ea typeface="メイリオ" panose="020B0604030504040204" pitchFamily="50" charset="-128"/>
              </a:rPr>
              <a:t>04</a:t>
            </a:r>
            <a:r>
              <a:rPr lang="ja-JP" altLang="en-US" sz="1200" b="1" dirty="0">
                <a:latin typeface="メイリオ" panose="020B0604030504040204" pitchFamily="50" charset="-128"/>
                <a:ea typeface="メイリオ" panose="020B0604030504040204" pitchFamily="50" charset="-128"/>
              </a:rPr>
              <a:t>月</a:t>
            </a:r>
            <a:r>
              <a:rPr lang="en-US" altLang="ja-JP" sz="1200" b="1" dirty="0">
                <a:latin typeface="メイリオ" panose="020B0604030504040204" pitchFamily="50" charset="-128"/>
                <a:ea typeface="メイリオ" panose="020B0604030504040204" pitchFamily="50" charset="-128"/>
              </a:rPr>
              <a:t>01</a:t>
            </a:r>
            <a:r>
              <a:rPr lang="ja-JP" altLang="en-US" sz="1200" b="1" dirty="0">
                <a:latin typeface="メイリオ" panose="020B0604030504040204" pitchFamily="50" charset="-128"/>
                <a:ea typeface="メイリオ" panose="020B0604030504040204" pitchFamily="50" charset="-128"/>
              </a:rPr>
              <a:t>日</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演習用定義</a:t>
            </a:r>
            <a:r>
              <a:rPr lang="en-US" altLang="ja-JP" sz="1200" b="1" dirty="0">
                <a:latin typeface="メイリオ" panose="020B0604030504040204" pitchFamily="50" charset="-128"/>
                <a:ea typeface="メイリオ" panose="020B0604030504040204" pitchFamily="50" charset="-128"/>
              </a:rPr>
              <a:t>51_</a:t>
            </a:r>
            <a:r>
              <a:rPr lang="ja-JP" altLang="en-US" sz="1200" b="1" dirty="0">
                <a:latin typeface="メイリオ" panose="020B0604030504040204" pitchFamily="50" charset="-128"/>
                <a:ea typeface="メイリオ" panose="020B0604030504040204" pitchFamily="50" charset="-128"/>
              </a:rPr>
              <a:t>シムトップス</a:t>
            </a:r>
          </a:p>
        </p:txBody>
      </p:sp>
      <p:sp>
        <p:nvSpPr>
          <p:cNvPr id="18" name="正方形/長方形 17">
            <a:extLst>
              <a:ext uri="{FF2B5EF4-FFF2-40B4-BE49-F238E27FC236}">
                <a16:creationId xmlns:a16="http://schemas.microsoft.com/office/drawing/2014/main" id="{FDA5CD36-6558-A79E-8A6D-C0B8A5057162}"/>
              </a:ext>
            </a:extLst>
          </p:cNvPr>
          <p:cNvSpPr/>
          <p:nvPr/>
        </p:nvSpPr>
        <p:spPr>
          <a:xfrm>
            <a:off x="1756622" y="2352889"/>
            <a:ext cx="4339378" cy="7758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入力帳票の命名規則を</a:t>
            </a:r>
            <a:endParaRPr kumimoji="1" lang="en-US" altLang="ja-JP" sz="14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400" b="1" dirty="0">
                <a:solidFill>
                  <a:schemeClr val="bg1"/>
                </a:solidFill>
                <a:latin typeface="メイリオ" panose="020B0604030504040204" pitchFamily="50" charset="-128"/>
                <a:ea typeface="メイリオ" panose="020B0604030504040204" pitchFamily="50" charset="-128"/>
              </a:rPr>
              <a:t>作成日</a:t>
            </a:r>
            <a:r>
              <a:rPr kumimoji="1" lang="en-US" altLang="ja-JP" sz="1400" b="1" dirty="0">
                <a:solidFill>
                  <a:schemeClr val="bg1"/>
                </a:solidFill>
                <a:latin typeface="メイリオ" panose="020B0604030504040204" pitchFamily="50" charset="-128"/>
                <a:ea typeface="メイリオ" panose="020B0604030504040204" pitchFamily="50" charset="-128"/>
              </a:rPr>
              <a:t>_</a:t>
            </a:r>
            <a:r>
              <a:rPr lang="ja-JP" altLang="en-US" sz="1400" b="1" dirty="0">
                <a:solidFill>
                  <a:schemeClr val="bg1"/>
                </a:solidFill>
                <a:latin typeface="メイリオ" panose="020B0604030504040204" pitchFamily="50" charset="-128"/>
                <a:ea typeface="メイリオ" panose="020B0604030504040204" pitchFamily="50" charset="-128"/>
              </a:rPr>
              <a:t>帳票</a:t>
            </a:r>
            <a:r>
              <a:rPr kumimoji="1" lang="ja-JP" altLang="en-US" sz="1400" b="1" dirty="0">
                <a:solidFill>
                  <a:schemeClr val="bg1"/>
                </a:solidFill>
                <a:latin typeface="メイリオ" panose="020B0604030504040204" pitchFamily="50" charset="-128"/>
                <a:ea typeface="メイリオ" panose="020B0604030504040204" pitchFamily="50" charset="-128"/>
              </a:rPr>
              <a:t>定義名</a:t>
            </a:r>
            <a:r>
              <a:rPr kumimoji="1" lang="en-US" altLang="ja-JP" sz="1400" b="1" dirty="0">
                <a:solidFill>
                  <a:schemeClr val="bg1"/>
                </a:solidFill>
                <a:latin typeface="メイリオ" panose="020B0604030504040204" pitchFamily="50" charset="-128"/>
                <a:ea typeface="メイリオ" panose="020B0604030504040204" pitchFamily="50" charset="-128"/>
              </a:rPr>
              <a:t>_</a:t>
            </a:r>
            <a:r>
              <a:rPr kumimoji="1" lang="ja-JP" altLang="en-US" sz="1400" b="1" dirty="0">
                <a:solidFill>
                  <a:schemeClr val="bg1"/>
                </a:solidFill>
                <a:latin typeface="メイリオ" panose="020B0604030504040204" pitchFamily="50" charset="-128"/>
                <a:ea typeface="メイリオ" panose="020B0604030504040204" pitchFamily="50" charset="-128"/>
              </a:rPr>
              <a:t>クラスター入力値</a:t>
            </a:r>
            <a:r>
              <a:rPr lang="ja-JP" altLang="en-US" sz="1400" b="1" dirty="0">
                <a:solidFill>
                  <a:schemeClr val="bg1"/>
                </a:solidFill>
                <a:latin typeface="メイリオ" panose="020B0604030504040204" pitchFamily="50" charset="-128"/>
                <a:ea typeface="メイリオ" panose="020B0604030504040204" pitchFamily="50" charset="-128"/>
              </a:rPr>
              <a:t>と設定</a:t>
            </a:r>
            <a:endParaRPr kumimoji="1" lang="en-US" altLang="ja-JP" sz="1400" b="1"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694E363D-BD9B-678A-B344-592F92FBB069}"/>
              </a:ext>
            </a:extLst>
          </p:cNvPr>
          <p:cNvSpPr/>
          <p:nvPr/>
        </p:nvSpPr>
        <p:spPr>
          <a:xfrm>
            <a:off x="6023992" y="4341513"/>
            <a:ext cx="1473750" cy="276999"/>
          </a:xfrm>
          <a:prstGeom prst="rect">
            <a:avLst/>
          </a:prstGeom>
        </p:spPr>
        <p:txBody>
          <a:bodyPr wrap="square">
            <a:spAutoFit/>
          </a:bodyPr>
          <a:lstStyle/>
          <a:p>
            <a:pPr algn="ctr"/>
            <a:r>
              <a:rPr lang="ja-JP" altLang="en-US" sz="1200" dirty="0">
                <a:latin typeface="メイリオ" panose="020B0604030504040204" pitchFamily="50" charset="-128"/>
                <a:ea typeface="メイリオ" panose="020B0604030504040204" pitchFamily="50" charset="-128"/>
              </a:rPr>
              <a:t>サーバーに保存</a:t>
            </a:r>
            <a:endParaRPr lang="en-US" altLang="ja-JP" sz="1200" dirty="0">
              <a:latin typeface="メイリオ" panose="020B0604030504040204" pitchFamily="50" charset="-128"/>
              <a:ea typeface="メイリオ" panose="020B0604030504040204" pitchFamily="50" charset="-128"/>
            </a:endParaRPr>
          </a:p>
        </p:txBody>
      </p:sp>
      <p:sp>
        <p:nvSpPr>
          <p:cNvPr id="31" name="四角形吹き出し 22">
            <a:extLst>
              <a:ext uri="{FF2B5EF4-FFF2-40B4-BE49-F238E27FC236}">
                <a16:creationId xmlns:a16="http://schemas.microsoft.com/office/drawing/2014/main" id="{E0C6BAB5-6BC3-B4CC-DCAD-42EC358AD1D5}"/>
              </a:ext>
            </a:extLst>
          </p:cNvPr>
          <p:cNvSpPr/>
          <p:nvPr/>
        </p:nvSpPr>
        <p:spPr>
          <a:xfrm>
            <a:off x="1485210" y="3490960"/>
            <a:ext cx="2474045" cy="419924"/>
          </a:xfrm>
          <a:prstGeom prst="wedgeRectCallout">
            <a:avLst>
              <a:gd name="adj1" fmla="val 75843"/>
              <a:gd name="adj2" fmla="val 33118"/>
            </a:avLst>
          </a:prstGeom>
          <a:solidFill>
            <a:schemeClr val="bg1">
              <a:lumMod val="85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marL="269875" indent="-269875" algn="ctr" defTabSz="1971675">
              <a:tabLst>
                <a:tab pos="269875" algn="l"/>
              </a:tabLst>
            </a:pP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作成日：「</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25</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年</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04</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月</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01</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日」</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2" name="四角形吹き出し 22">
            <a:extLst>
              <a:ext uri="{FF2B5EF4-FFF2-40B4-BE49-F238E27FC236}">
                <a16:creationId xmlns:a16="http://schemas.microsoft.com/office/drawing/2014/main" id="{520CE86B-4048-C75A-94F1-33B39B6211E5}"/>
              </a:ext>
            </a:extLst>
          </p:cNvPr>
          <p:cNvSpPr/>
          <p:nvPr/>
        </p:nvSpPr>
        <p:spPr>
          <a:xfrm>
            <a:off x="1487488" y="4008005"/>
            <a:ext cx="2474045" cy="413590"/>
          </a:xfrm>
          <a:prstGeom prst="wedgeRectCallout">
            <a:avLst>
              <a:gd name="adj1" fmla="val 75205"/>
              <a:gd name="adj2" fmla="val -3474"/>
            </a:avLst>
          </a:prstGeom>
          <a:solidFill>
            <a:schemeClr val="bg1">
              <a:lumMod val="85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marL="269875" indent="-269875" algn="ctr" defTabSz="1971675">
              <a:tabLst>
                <a:tab pos="269875" algn="l"/>
              </a:tabLst>
            </a:pP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定義名称：</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「演習用定義</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_51</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p>
        </p:txBody>
      </p:sp>
      <p:sp>
        <p:nvSpPr>
          <p:cNvPr id="33" name="四角形吹き出し 22">
            <a:extLst>
              <a:ext uri="{FF2B5EF4-FFF2-40B4-BE49-F238E27FC236}">
                <a16:creationId xmlns:a16="http://schemas.microsoft.com/office/drawing/2014/main" id="{C692504F-B57E-FBE3-3F48-8856173D1147}"/>
              </a:ext>
            </a:extLst>
          </p:cNvPr>
          <p:cNvSpPr/>
          <p:nvPr/>
        </p:nvSpPr>
        <p:spPr>
          <a:xfrm>
            <a:off x="1485210" y="4523291"/>
            <a:ext cx="2476323" cy="428226"/>
          </a:xfrm>
          <a:prstGeom prst="wedgeRectCallout">
            <a:avLst>
              <a:gd name="adj1" fmla="val 76671"/>
              <a:gd name="adj2" fmla="val -42561"/>
            </a:avLst>
          </a:prstGeom>
          <a:solidFill>
            <a:schemeClr val="bg1">
              <a:lumMod val="85000"/>
            </a:schemeClr>
          </a:solidFill>
          <a:ln>
            <a:solidFill>
              <a:schemeClr val="tx1">
                <a:lumMod val="75000"/>
                <a:lumOff val="2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marL="269875" indent="-269875" algn="ctr" defTabSz="1971675">
              <a:tabLst>
                <a:tab pos="269875" algn="l"/>
              </a:tabLst>
            </a:pP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入力値：</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「シムトップス」</a:t>
            </a:r>
          </a:p>
        </p:txBody>
      </p:sp>
      <p:sp>
        <p:nvSpPr>
          <p:cNvPr id="34" name="正方形/長方形 33">
            <a:extLst>
              <a:ext uri="{FF2B5EF4-FFF2-40B4-BE49-F238E27FC236}">
                <a16:creationId xmlns:a16="http://schemas.microsoft.com/office/drawing/2014/main" id="{5A586E0A-6447-F00D-3E5F-BDC988C2A01F}"/>
              </a:ext>
            </a:extLst>
          </p:cNvPr>
          <p:cNvSpPr/>
          <p:nvPr/>
        </p:nvSpPr>
        <p:spPr>
          <a:xfrm>
            <a:off x="7550536" y="2348880"/>
            <a:ext cx="2884842" cy="7758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メイリオ" panose="020B0604030504040204" pitchFamily="50" charset="-128"/>
                <a:ea typeface="メイリオ" panose="020B0604030504040204" pitchFamily="50" charset="-128"/>
              </a:rPr>
              <a:t>指定した条件で</a:t>
            </a:r>
            <a:endParaRPr lang="en-US" altLang="ja-JP" sz="1400" b="1" dirty="0">
              <a:solidFill>
                <a:schemeClr val="bg1"/>
              </a:solidFill>
              <a:latin typeface="メイリオ" panose="020B0604030504040204" pitchFamily="50" charset="-128"/>
              <a:ea typeface="メイリオ" panose="020B0604030504040204" pitchFamily="50" charset="-128"/>
            </a:endParaRPr>
          </a:p>
          <a:p>
            <a:pPr algn="ctr"/>
            <a:r>
              <a:rPr lang="ja-JP" altLang="en-US" sz="1400" b="1" dirty="0">
                <a:solidFill>
                  <a:schemeClr val="bg1"/>
                </a:solidFill>
                <a:latin typeface="メイリオ" panose="020B0604030504040204" pitchFamily="50" charset="-128"/>
                <a:ea typeface="メイリオ" panose="020B0604030504040204" pitchFamily="50" charset="-128"/>
              </a:rPr>
              <a:t>入力帳票の名称が生成される</a:t>
            </a:r>
            <a:endParaRPr lang="en-US" altLang="ja-JP" sz="14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882BEF4D-C219-99A6-76E4-E38B4D0A87E2}"/>
              </a:ext>
            </a:extLst>
          </p:cNvPr>
          <p:cNvSpPr/>
          <p:nvPr/>
        </p:nvSpPr>
        <p:spPr>
          <a:xfrm>
            <a:off x="767408" y="899428"/>
            <a:ext cx="10009112" cy="369332"/>
          </a:xfrm>
          <a:prstGeom prst="rect">
            <a:avLst/>
          </a:prstGeom>
        </p:spPr>
        <p:txBody>
          <a:bodyPr wrap="square">
            <a:spAutoFit/>
          </a:bodyPr>
          <a:lstStyle/>
          <a:p>
            <a:pPr marL="541338" indent="-541338" defTabSz="8610600">
              <a:buNone/>
              <a:tabLst>
                <a:tab pos="269875" algn="l"/>
                <a:tab pos="541338" algn="l"/>
                <a:tab pos="803275" algn="l"/>
              </a:tabLst>
            </a:pPr>
            <a:r>
              <a:rPr lang="ja-JP" altLang="en-US" sz="1800" b="1" dirty="0">
                <a:solidFill>
                  <a:schemeClr val="accent5">
                    <a:lumMod val="50000"/>
                  </a:schemeClr>
                </a:solidFill>
                <a:latin typeface="メイリオ" panose="020B0604030504040204" pitchFamily="50" charset="-128"/>
                <a:ea typeface="メイリオ" panose="020B0604030504040204" pitchFamily="50" charset="-128"/>
              </a:rPr>
              <a:t>入力帳票の保存時に、あらかじめ設定した命名規則で帳票名が作成されます</a:t>
            </a:r>
            <a:endParaRPr lang="en-US" altLang="ja-JP" sz="1800" b="1" dirty="0">
              <a:solidFill>
                <a:schemeClr val="accent5">
                  <a:lumMod val="50000"/>
                </a:schemeClr>
              </a:solidFill>
              <a:latin typeface="メイリオ" panose="020B0604030504040204" pitchFamily="50" charset="-128"/>
              <a:ea typeface="メイリオ" panose="020B0604030504040204" pitchFamily="50" charset="-128"/>
            </a:endParaRPr>
          </a:p>
        </p:txBody>
      </p:sp>
      <p:pic>
        <p:nvPicPr>
          <p:cNvPr id="3" name="図 2" descr="アイコン&#10;&#10;AI によって生成されたコンテンツは間違っている可能性があります。">
            <a:extLst>
              <a:ext uri="{FF2B5EF4-FFF2-40B4-BE49-F238E27FC236}">
                <a16:creationId xmlns:a16="http://schemas.microsoft.com/office/drawing/2014/main" id="{494DADDE-8C85-7C89-FEB3-A9901EC6E0AD}"/>
              </a:ext>
            </a:extLst>
          </p:cNvPr>
          <p:cNvPicPr>
            <a:picLocks noChangeAspect="1"/>
          </p:cNvPicPr>
          <p:nvPr/>
        </p:nvPicPr>
        <p:blipFill>
          <a:blip r:embed="rId3"/>
          <a:stretch>
            <a:fillRect/>
          </a:stretch>
        </p:blipFill>
        <p:spPr>
          <a:xfrm>
            <a:off x="8563151" y="3490960"/>
            <a:ext cx="859611" cy="1121761"/>
          </a:xfrm>
          <a:prstGeom prst="rect">
            <a:avLst/>
          </a:prstGeom>
        </p:spPr>
      </p:pic>
    </p:spTree>
    <p:extLst>
      <p:ext uri="{BB962C8B-B14F-4D97-AF65-F5344CB8AC3E}">
        <p14:creationId xmlns:p14="http://schemas.microsoft.com/office/powerpoint/2010/main" val="368302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1C6D-52AD-9EEA-E5D9-C3FCC4786255}"/>
            </a:ext>
          </a:extLst>
        </p:cNvPr>
        <p:cNvGrpSpPr/>
        <p:nvPr/>
      </p:nvGrpSpPr>
      <p:grpSpPr>
        <a:xfrm>
          <a:off x="0" y="0"/>
          <a:ext cx="0" cy="0"/>
          <a:chOff x="0" y="0"/>
          <a:chExt cx="0" cy="0"/>
        </a:xfrm>
      </p:grpSpPr>
      <p:pic>
        <p:nvPicPr>
          <p:cNvPr id="9" name="図 8" descr="テーブル, カレンダー&#10;&#10;AI によって生成されたコンテンツは間違っている可能性があります。">
            <a:extLst>
              <a:ext uri="{FF2B5EF4-FFF2-40B4-BE49-F238E27FC236}">
                <a16:creationId xmlns:a16="http://schemas.microsoft.com/office/drawing/2014/main" id="{61CDC58F-9928-EDCC-4A17-B70F8FD42B46}"/>
              </a:ext>
            </a:extLst>
          </p:cNvPr>
          <p:cNvPicPr>
            <a:picLocks noChangeAspect="1"/>
          </p:cNvPicPr>
          <p:nvPr/>
        </p:nvPicPr>
        <p:blipFill>
          <a:blip r:embed="rId2"/>
          <a:stretch>
            <a:fillRect/>
          </a:stretch>
        </p:blipFill>
        <p:spPr>
          <a:xfrm>
            <a:off x="1668697" y="2550566"/>
            <a:ext cx="730278" cy="1000260"/>
          </a:xfrm>
          <a:prstGeom prst="rect">
            <a:avLst/>
          </a:prstGeom>
        </p:spPr>
      </p:pic>
      <p:sp>
        <p:nvSpPr>
          <p:cNvPr id="6" name="テキスト ボックス 5">
            <a:extLst>
              <a:ext uri="{FF2B5EF4-FFF2-40B4-BE49-F238E27FC236}">
                <a16:creationId xmlns:a16="http://schemas.microsoft.com/office/drawing/2014/main" id="{66256B8E-428B-B70B-5955-EDE88C1FD1CB}"/>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rPr>
              <a:t>帳票名称自動作成　機能概要</a:t>
            </a:r>
            <a:endParaRPr lang="ja-JP" altLang="en-US" sz="2400" b="1" dirty="0">
              <a:solidFill>
                <a:schemeClr val="bg1"/>
              </a:solidFill>
              <a:latin typeface="メイリオ" pitchFamily="50" charset="-128"/>
              <a:ea typeface="メイリオ" pitchFamily="50" charset="-128"/>
              <a:cs typeface="メイリオ" pitchFamily="50" charset="-128"/>
            </a:endParaRPr>
          </a:p>
        </p:txBody>
      </p:sp>
      <p:sp>
        <p:nvSpPr>
          <p:cNvPr id="10" name="右矢印 39">
            <a:extLst>
              <a:ext uri="{FF2B5EF4-FFF2-40B4-BE49-F238E27FC236}">
                <a16:creationId xmlns:a16="http://schemas.microsoft.com/office/drawing/2014/main" id="{0E80EA84-8FCE-26F0-C9E8-A220AC597710}"/>
              </a:ext>
            </a:extLst>
          </p:cNvPr>
          <p:cNvSpPr/>
          <p:nvPr/>
        </p:nvSpPr>
        <p:spPr>
          <a:xfrm>
            <a:off x="5015880" y="3328330"/>
            <a:ext cx="846188" cy="839972"/>
          </a:xfrm>
          <a:prstGeom prst="rightArrow">
            <a:avLst/>
          </a:prstGeom>
          <a:solidFill>
            <a:schemeClr val="accent4">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A8424902-06E1-2B20-A093-2AFDFF3718F4}"/>
              </a:ext>
            </a:extLst>
          </p:cNvPr>
          <p:cNvSpPr txBox="1"/>
          <p:nvPr/>
        </p:nvSpPr>
        <p:spPr>
          <a:xfrm>
            <a:off x="983432" y="1276998"/>
            <a:ext cx="10225136" cy="307777"/>
          </a:xfrm>
          <a:prstGeom prst="rect">
            <a:avLst/>
          </a:prstGeom>
          <a:noFill/>
        </p:spPr>
        <p:txBody>
          <a:bodyPr wrap="square" rtlCol="0">
            <a:spAutoFit/>
          </a:bodyPr>
          <a:lstStyle/>
          <a:p>
            <a:pPr marL="534988" indent="-534988" defTabSz="8340725">
              <a:buClr>
                <a:schemeClr val="accent5">
                  <a:lumMod val="75000"/>
                </a:schemeClr>
              </a:buClr>
              <a:tabLst>
                <a:tab pos="1809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帳票定義側で設定を行った内容で、サーバーに保存した際自動で入力帳票名称が設定されます。</a:t>
            </a:r>
            <a:endParaRPr lang="en-US" altLang="ja-JP" sz="1400" dirty="0">
              <a:solidFill>
                <a:srgbClr val="FF0000"/>
              </a:solidFill>
              <a:latin typeface="メイリオ" panose="020B0604030504040204" pitchFamily="50" charset="-128"/>
              <a:ea typeface="メイリオ" panose="020B0604030504040204" pitchFamily="50" charset="-128"/>
              <a:cs typeface="Meiryo UI" pitchFamily="50" charset="-128"/>
            </a:endParaRPr>
          </a:p>
        </p:txBody>
      </p:sp>
      <p:sp>
        <p:nvSpPr>
          <p:cNvPr id="13" name="正方形/長方形 12">
            <a:extLst>
              <a:ext uri="{FF2B5EF4-FFF2-40B4-BE49-F238E27FC236}">
                <a16:creationId xmlns:a16="http://schemas.microsoft.com/office/drawing/2014/main" id="{33AB847D-7C82-5D35-4C2A-880574E3FB8F}"/>
              </a:ext>
            </a:extLst>
          </p:cNvPr>
          <p:cNvSpPr/>
          <p:nvPr/>
        </p:nvSpPr>
        <p:spPr>
          <a:xfrm>
            <a:off x="767408" y="899428"/>
            <a:ext cx="10009112" cy="369332"/>
          </a:xfrm>
          <a:prstGeom prst="rect">
            <a:avLst/>
          </a:prstGeom>
        </p:spPr>
        <p:txBody>
          <a:bodyPr wrap="square">
            <a:spAutoFit/>
          </a:bodyPr>
          <a:lstStyle/>
          <a:p>
            <a:pPr marL="541338" indent="-541338" defTabSz="8610600">
              <a:buNone/>
              <a:tabLst>
                <a:tab pos="269875" algn="l"/>
                <a:tab pos="541338" algn="l"/>
                <a:tab pos="803275" algn="l"/>
              </a:tabLst>
            </a:pPr>
            <a:r>
              <a:rPr lang="ja-JP" altLang="en-US" sz="1800" b="1" dirty="0">
                <a:solidFill>
                  <a:schemeClr val="accent5">
                    <a:lumMod val="50000"/>
                  </a:schemeClr>
                </a:solidFill>
                <a:latin typeface="メイリオ" panose="020B0604030504040204" pitchFamily="50" charset="-128"/>
                <a:ea typeface="メイリオ" panose="020B0604030504040204" pitchFamily="50" charset="-128"/>
              </a:rPr>
              <a:t>動作イメージ</a:t>
            </a:r>
            <a:endParaRPr lang="en-US" altLang="ja-JP" sz="18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00" name="正方形/長方形 199">
            <a:extLst>
              <a:ext uri="{FF2B5EF4-FFF2-40B4-BE49-F238E27FC236}">
                <a16:creationId xmlns:a16="http://schemas.microsoft.com/office/drawing/2014/main" id="{1AAF10C0-10C2-7C5A-EC35-0E01CCF1A55E}"/>
              </a:ext>
            </a:extLst>
          </p:cNvPr>
          <p:cNvSpPr/>
          <p:nvPr/>
        </p:nvSpPr>
        <p:spPr>
          <a:xfrm>
            <a:off x="3257764" y="2795250"/>
            <a:ext cx="1261884" cy="276999"/>
          </a:xfrm>
          <a:prstGeom prst="rect">
            <a:avLst/>
          </a:prstGeom>
        </p:spPr>
        <p:txBody>
          <a:bodyPr wrap="none">
            <a:spAutoFit/>
          </a:bodyPr>
          <a:lstStyle/>
          <a:p>
            <a:pPr algn="ctr"/>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修理報告書</a:t>
            </a:r>
            <a:r>
              <a:rPr lang="en-US" altLang="ja-JP" sz="1200" b="1" dirty="0">
                <a:latin typeface="メイリオ" panose="020B0604030504040204" pitchFamily="50" charset="-128"/>
                <a:ea typeface="メイリオ" panose="020B0604030504040204" pitchFamily="50" charset="-128"/>
              </a:rPr>
              <a:t>】</a:t>
            </a:r>
            <a:endParaRPr lang="ja-JP" altLang="en-US" sz="1200" b="1" dirty="0">
              <a:latin typeface="メイリオ" panose="020B0604030504040204" pitchFamily="50" charset="-128"/>
              <a:ea typeface="メイリオ" panose="020B0604030504040204" pitchFamily="50" charset="-128"/>
            </a:endParaRPr>
          </a:p>
        </p:txBody>
      </p:sp>
      <p:sp>
        <p:nvSpPr>
          <p:cNvPr id="201" name="正方形/長方形 200">
            <a:extLst>
              <a:ext uri="{FF2B5EF4-FFF2-40B4-BE49-F238E27FC236}">
                <a16:creationId xmlns:a16="http://schemas.microsoft.com/office/drawing/2014/main" id="{AA31525E-A875-9E9E-3F8C-46E423BD438A}"/>
              </a:ext>
            </a:extLst>
          </p:cNvPr>
          <p:cNvSpPr/>
          <p:nvPr/>
        </p:nvSpPr>
        <p:spPr>
          <a:xfrm>
            <a:off x="3219420" y="4034686"/>
            <a:ext cx="1261884" cy="276999"/>
          </a:xfrm>
          <a:prstGeom prst="rect">
            <a:avLst/>
          </a:prstGeom>
        </p:spPr>
        <p:txBody>
          <a:bodyPr wrap="none">
            <a:spAutoFit/>
          </a:bodyPr>
          <a:lstStyle/>
          <a:p>
            <a:pPr algn="ctr"/>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修理報告書</a:t>
            </a:r>
            <a:r>
              <a:rPr lang="en-US" altLang="ja-JP" sz="1200" b="1" dirty="0">
                <a:latin typeface="メイリオ" panose="020B0604030504040204" pitchFamily="50" charset="-128"/>
                <a:ea typeface="メイリオ" panose="020B0604030504040204" pitchFamily="50" charset="-128"/>
              </a:rPr>
              <a:t>】</a:t>
            </a:r>
            <a:endParaRPr lang="ja-JP" altLang="en-US" sz="1200" b="1" dirty="0">
              <a:latin typeface="メイリオ" panose="020B0604030504040204" pitchFamily="50" charset="-128"/>
              <a:ea typeface="メイリオ" panose="020B0604030504040204" pitchFamily="50" charset="-128"/>
            </a:endParaRPr>
          </a:p>
        </p:txBody>
      </p:sp>
      <p:sp>
        <p:nvSpPr>
          <p:cNvPr id="202" name="正方形/長方形 201">
            <a:extLst>
              <a:ext uri="{FF2B5EF4-FFF2-40B4-BE49-F238E27FC236}">
                <a16:creationId xmlns:a16="http://schemas.microsoft.com/office/drawing/2014/main" id="{91A874A8-C6D6-2253-607B-F74F78F2196A}"/>
              </a:ext>
            </a:extLst>
          </p:cNvPr>
          <p:cNvSpPr/>
          <p:nvPr/>
        </p:nvSpPr>
        <p:spPr>
          <a:xfrm>
            <a:off x="3251614" y="5285992"/>
            <a:ext cx="1261884" cy="276999"/>
          </a:xfrm>
          <a:prstGeom prst="rect">
            <a:avLst/>
          </a:prstGeom>
        </p:spPr>
        <p:txBody>
          <a:bodyPr wrap="none">
            <a:spAutoFit/>
          </a:bodyPr>
          <a:lstStyle/>
          <a:p>
            <a:pPr algn="ctr"/>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修理報告書</a:t>
            </a:r>
            <a:r>
              <a:rPr lang="en-US" altLang="ja-JP" sz="1200" b="1" dirty="0">
                <a:latin typeface="メイリオ" panose="020B0604030504040204" pitchFamily="50" charset="-128"/>
                <a:ea typeface="メイリオ" panose="020B0604030504040204" pitchFamily="50" charset="-128"/>
              </a:rPr>
              <a:t>】</a:t>
            </a:r>
            <a:endParaRPr lang="ja-JP" altLang="en-US" sz="1200" b="1" dirty="0">
              <a:latin typeface="メイリオ" panose="020B0604030504040204" pitchFamily="50" charset="-128"/>
              <a:ea typeface="メイリオ" panose="020B0604030504040204" pitchFamily="50" charset="-128"/>
            </a:endParaRPr>
          </a:p>
        </p:txBody>
      </p:sp>
      <p:sp>
        <p:nvSpPr>
          <p:cNvPr id="234" name="正方形/長方形 233">
            <a:extLst>
              <a:ext uri="{FF2B5EF4-FFF2-40B4-BE49-F238E27FC236}">
                <a16:creationId xmlns:a16="http://schemas.microsoft.com/office/drawing/2014/main" id="{C78B5B18-4BD0-AB88-E1FB-203C4A0D544D}"/>
              </a:ext>
            </a:extLst>
          </p:cNvPr>
          <p:cNvSpPr/>
          <p:nvPr/>
        </p:nvSpPr>
        <p:spPr>
          <a:xfrm>
            <a:off x="8545020" y="2917945"/>
            <a:ext cx="2557111" cy="276999"/>
          </a:xfrm>
          <a:prstGeom prst="rect">
            <a:avLst/>
          </a:prstGeom>
        </p:spPr>
        <p:txBody>
          <a:bodyPr wrap="none">
            <a:spAutoFit/>
          </a:bodyPr>
          <a:lstStyle/>
          <a:p>
            <a:pPr algn="ctr"/>
            <a:r>
              <a:rPr lang="en-US" altLang="ja-JP" sz="1200" b="1" dirty="0">
                <a:latin typeface="メイリオ" panose="020B0604030504040204" pitchFamily="50" charset="-128"/>
                <a:ea typeface="メイリオ" panose="020B0604030504040204" pitchFamily="50" charset="-128"/>
              </a:rPr>
              <a:t>2026</a:t>
            </a:r>
            <a:r>
              <a:rPr lang="ja-JP" altLang="en-US" sz="1200" b="1" dirty="0">
                <a:latin typeface="メイリオ" panose="020B0604030504040204" pitchFamily="50" charset="-128"/>
                <a:ea typeface="メイリオ" panose="020B0604030504040204" pitchFamily="50" charset="-128"/>
              </a:rPr>
              <a:t>年</a:t>
            </a:r>
            <a:r>
              <a:rPr lang="en-US" altLang="ja-JP" sz="1200" b="1" dirty="0">
                <a:latin typeface="メイリオ" panose="020B0604030504040204" pitchFamily="50" charset="-128"/>
                <a:ea typeface="メイリオ" panose="020B0604030504040204" pitchFamily="50" charset="-128"/>
              </a:rPr>
              <a:t>1</a:t>
            </a:r>
            <a:r>
              <a:rPr lang="ja-JP" altLang="en-US" sz="1200" b="1" dirty="0">
                <a:latin typeface="メイリオ" panose="020B0604030504040204" pitchFamily="50" charset="-128"/>
                <a:ea typeface="メイリオ" panose="020B0604030504040204" pitchFamily="50" charset="-128"/>
              </a:rPr>
              <a:t>月</a:t>
            </a:r>
            <a:r>
              <a:rPr lang="en-US" altLang="ja-JP" sz="1200" b="1" dirty="0">
                <a:latin typeface="メイリオ" panose="020B0604030504040204" pitchFamily="50" charset="-128"/>
                <a:ea typeface="メイリオ" panose="020B0604030504040204" pitchFamily="50" charset="-128"/>
              </a:rPr>
              <a:t>1</a:t>
            </a:r>
            <a:r>
              <a:rPr lang="ja-JP" altLang="en-US" sz="1200" b="1" dirty="0">
                <a:latin typeface="メイリオ" panose="020B0604030504040204" pitchFamily="50" charset="-128"/>
                <a:ea typeface="メイリオ" panose="020B0604030504040204" pitchFamily="50" charset="-128"/>
              </a:rPr>
              <a:t>日</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修理報告書</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伊藤</a:t>
            </a:r>
          </a:p>
        </p:txBody>
      </p:sp>
      <p:sp>
        <p:nvSpPr>
          <p:cNvPr id="235" name="正方形/長方形 234">
            <a:extLst>
              <a:ext uri="{FF2B5EF4-FFF2-40B4-BE49-F238E27FC236}">
                <a16:creationId xmlns:a16="http://schemas.microsoft.com/office/drawing/2014/main" id="{D2EFA573-B225-06CD-E895-4842FC503F37}"/>
              </a:ext>
            </a:extLst>
          </p:cNvPr>
          <p:cNvSpPr/>
          <p:nvPr/>
        </p:nvSpPr>
        <p:spPr>
          <a:xfrm>
            <a:off x="8545020" y="4110974"/>
            <a:ext cx="2557111" cy="276999"/>
          </a:xfrm>
          <a:prstGeom prst="rect">
            <a:avLst/>
          </a:prstGeom>
        </p:spPr>
        <p:txBody>
          <a:bodyPr wrap="none">
            <a:spAutoFit/>
          </a:bodyPr>
          <a:lstStyle/>
          <a:p>
            <a:pPr algn="ctr"/>
            <a:r>
              <a:rPr lang="en-US" altLang="ja-JP" sz="1200" b="1" dirty="0">
                <a:latin typeface="メイリオ" panose="020B0604030504040204" pitchFamily="50" charset="-128"/>
                <a:ea typeface="メイリオ" panose="020B0604030504040204" pitchFamily="50" charset="-128"/>
              </a:rPr>
              <a:t>2026</a:t>
            </a:r>
            <a:r>
              <a:rPr lang="ja-JP" altLang="en-US" sz="1200" b="1" dirty="0">
                <a:latin typeface="メイリオ" panose="020B0604030504040204" pitchFamily="50" charset="-128"/>
                <a:ea typeface="メイリオ" panose="020B0604030504040204" pitchFamily="50" charset="-128"/>
              </a:rPr>
              <a:t>年</a:t>
            </a:r>
            <a:r>
              <a:rPr lang="en-US" altLang="ja-JP" sz="1200" b="1" dirty="0">
                <a:latin typeface="メイリオ" panose="020B0604030504040204" pitchFamily="50" charset="-128"/>
                <a:ea typeface="メイリオ" panose="020B0604030504040204" pitchFamily="50" charset="-128"/>
              </a:rPr>
              <a:t>1</a:t>
            </a:r>
            <a:r>
              <a:rPr lang="ja-JP" altLang="en-US" sz="1200" b="1" dirty="0">
                <a:latin typeface="メイリオ" panose="020B0604030504040204" pitchFamily="50" charset="-128"/>
                <a:ea typeface="メイリオ" panose="020B0604030504040204" pitchFamily="50" charset="-128"/>
              </a:rPr>
              <a:t>月</a:t>
            </a:r>
            <a:r>
              <a:rPr lang="en-US" altLang="ja-JP" sz="1200" b="1" dirty="0">
                <a:latin typeface="メイリオ" panose="020B0604030504040204" pitchFamily="50" charset="-128"/>
                <a:ea typeface="メイリオ" panose="020B0604030504040204" pitchFamily="50" charset="-128"/>
              </a:rPr>
              <a:t>2</a:t>
            </a:r>
            <a:r>
              <a:rPr lang="ja-JP" altLang="en-US" sz="1200" b="1" dirty="0">
                <a:latin typeface="メイリオ" panose="020B0604030504040204" pitchFamily="50" charset="-128"/>
                <a:ea typeface="メイリオ" panose="020B0604030504040204" pitchFamily="50" charset="-128"/>
              </a:rPr>
              <a:t>日</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修理報告書</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佐藤</a:t>
            </a:r>
          </a:p>
        </p:txBody>
      </p:sp>
      <p:sp>
        <p:nvSpPr>
          <p:cNvPr id="236" name="正方形/長方形 235">
            <a:extLst>
              <a:ext uri="{FF2B5EF4-FFF2-40B4-BE49-F238E27FC236}">
                <a16:creationId xmlns:a16="http://schemas.microsoft.com/office/drawing/2014/main" id="{4B9A6246-98E4-8AC4-D980-633AAF6CDDE6}"/>
              </a:ext>
            </a:extLst>
          </p:cNvPr>
          <p:cNvSpPr/>
          <p:nvPr/>
        </p:nvSpPr>
        <p:spPr>
          <a:xfrm>
            <a:off x="8545019" y="5304003"/>
            <a:ext cx="2557111" cy="276999"/>
          </a:xfrm>
          <a:prstGeom prst="rect">
            <a:avLst/>
          </a:prstGeom>
        </p:spPr>
        <p:txBody>
          <a:bodyPr wrap="none">
            <a:spAutoFit/>
          </a:bodyPr>
          <a:lstStyle/>
          <a:p>
            <a:pPr algn="ctr"/>
            <a:r>
              <a:rPr lang="en-US" altLang="ja-JP" sz="1200" b="1" dirty="0">
                <a:latin typeface="メイリオ" panose="020B0604030504040204" pitchFamily="50" charset="-128"/>
                <a:ea typeface="メイリオ" panose="020B0604030504040204" pitchFamily="50" charset="-128"/>
              </a:rPr>
              <a:t>2026</a:t>
            </a:r>
            <a:r>
              <a:rPr lang="ja-JP" altLang="en-US" sz="1200" b="1" dirty="0">
                <a:latin typeface="メイリオ" panose="020B0604030504040204" pitchFamily="50" charset="-128"/>
                <a:ea typeface="メイリオ" panose="020B0604030504040204" pitchFamily="50" charset="-128"/>
              </a:rPr>
              <a:t>年</a:t>
            </a:r>
            <a:r>
              <a:rPr lang="en-US" altLang="ja-JP" sz="1200" b="1" dirty="0">
                <a:latin typeface="メイリオ" panose="020B0604030504040204" pitchFamily="50" charset="-128"/>
                <a:ea typeface="メイリオ" panose="020B0604030504040204" pitchFamily="50" charset="-128"/>
              </a:rPr>
              <a:t>1</a:t>
            </a:r>
            <a:r>
              <a:rPr lang="ja-JP" altLang="en-US" sz="1200" b="1" dirty="0">
                <a:latin typeface="メイリオ" panose="020B0604030504040204" pitchFamily="50" charset="-128"/>
                <a:ea typeface="メイリオ" panose="020B0604030504040204" pitchFamily="50" charset="-128"/>
              </a:rPr>
              <a:t>月</a:t>
            </a:r>
            <a:r>
              <a:rPr lang="en-US" altLang="ja-JP" sz="1200" b="1" dirty="0">
                <a:latin typeface="メイリオ" panose="020B0604030504040204" pitchFamily="50" charset="-128"/>
                <a:ea typeface="メイリオ" panose="020B0604030504040204" pitchFamily="50" charset="-128"/>
              </a:rPr>
              <a:t>3</a:t>
            </a:r>
            <a:r>
              <a:rPr lang="ja-JP" altLang="en-US" sz="1200" b="1" dirty="0">
                <a:latin typeface="メイリオ" panose="020B0604030504040204" pitchFamily="50" charset="-128"/>
                <a:ea typeface="メイリオ" panose="020B0604030504040204" pitchFamily="50" charset="-128"/>
              </a:rPr>
              <a:t>日</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修理報告書</a:t>
            </a:r>
            <a:r>
              <a:rPr lang="en-US" altLang="ja-JP" sz="1200" b="1" dirty="0">
                <a:latin typeface="メイリオ" panose="020B0604030504040204" pitchFamily="50" charset="-128"/>
                <a:ea typeface="メイリオ" panose="020B0604030504040204" pitchFamily="50" charset="-128"/>
              </a:rPr>
              <a:t>_</a:t>
            </a:r>
            <a:r>
              <a:rPr lang="ja-JP" altLang="en-US" sz="1200" b="1" dirty="0">
                <a:latin typeface="メイリオ" panose="020B0604030504040204" pitchFamily="50" charset="-128"/>
                <a:ea typeface="メイリオ" panose="020B0604030504040204" pitchFamily="50" charset="-128"/>
              </a:rPr>
              <a:t>後藤</a:t>
            </a:r>
          </a:p>
        </p:txBody>
      </p:sp>
      <p:sp>
        <p:nvSpPr>
          <p:cNvPr id="237" name="正方形/長方形 236">
            <a:extLst>
              <a:ext uri="{FF2B5EF4-FFF2-40B4-BE49-F238E27FC236}">
                <a16:creationId xmlns:a16="http://schemas.microsoft.com/office/drawing/2014/main" id="{0EF22923-7FB2-66C9-C0FD-2DA3B856288F}"/>
              </a:ext>
            </a:extLst>
          </p:cNvPr>
          <p:cNvSpPr/>
          <p:nvPr/>
        </p:nvSpPr>
        <p:spPr>
          <a:xfrm>
            <a:off x="6851690" y="1770910"/>
            <a:ext cx="4256424" cy="64494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帳票名称自動作成設定時</a:t>
            </a:r>
            <a:endParaRPr lang="en-US" altLang="ja-JP" sz="1400" b="1" dirty="0">
              <a:latin typeface="メイリオ" panose="020B0604030504040204" pitchFamily="50" charset="-128"/>
              <a:ea typeface="メイリオ" panose="020B0604030504040204" pitchFamily="50" charset="-128"/>
            </a:endParaRPr>
          </a:p>
          <a:p>
            <a:pPr algn="ctr"/>
            <a:r>
              <a:rPr lang="en-US" altLang="ja-JP" sz="1400" b="1" dirty="0">
                <a:latin typeface="メイリオ" panose="020B0604030504040204" pitchFamily="50" charset="-128"/>
                <a:ea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rPr>
              <a:t>作成日</a:t>
            </a:r>
            <a:r>
              <a:rPr lang="en-US" altLang="ja-JP" sz="1400" b="1" dirty="0">
                <a:latin typeface="メイリオ" panose="020B0604030504040204" pitchFamily="50" charset="-128"/>
                <a:ea typeface="メイリオ" panose="020B0604030504040204" pitchFamily="50" charset="-128"/>
              </a:rPr>
              <a:t>】_【</a:t>
            </a:r>
            <a:r>
              <a:rPr lang="ja-JP" altLang="en-US" sz="1400" b="1" dirty="0">
                <a:latin typeface="メイリオ" panose="020B0604030504040204" pitchFamily="50" charset="-128"/>
                <a:ea typeface="メイリオ" panose="020B0604030504040204" pitchFamily="50" charset="-128"/>
              </a:rPr>
              <a:t>帳票定義名称</a:t>
            </a:r>
            <a:r>
              <a:rPr lang="en-US" altLang="ja-JP" sz="1400" b="1" dirty="0">
                <a:latin typeface="メイリオ" panose="020B0604030504040204" pitchFamily="50" charset="-128"/>
                <a:ea typeface="メイリオ" panose="020B0604030504040204" pitchFamily="50" charset="-128"/>
              </a:rPr>
              <a:t>】_【</a:t>
            </a:r>
            <a:r>
              <a:rPr lang="ja-JP" altLang="en-US" sz="1400" b="1" dirty="0">
                <a:latin typeface="メイリオ" panose="020B0604030504040204" pitchFamily="50" charset="-128"/>
                <a:ea typeface="メイリオ" panose="020B0604030504040204" pitchFamily="50" charset="-128"/>
              </a:rPr>
              <a:t>クラスター値</a:t>
            </a:r>
            <a:r>
              <a:rPr lang="en-US" altLang="ja-JP" sz="1400" b="1" dirty="0">
                <a:latin typeface="メイリオ" panose="020B0604030504040204" pitchFamily="50" charset="-128"/>
                <a:ea typeface="メイリオ" panose="020B0604030504040204" pitchFamily="50" charset="-128"/>
              </a:rPr>
              <a:t>】</a:t>
            </a:r>
          </a:p>
        </p:txBody>
      </p:sp>
      <p:sp>
        <p:nvSpPr>
          <p:cNvPr id="238" name="正方形/長方形 237">
            <a:extLst>
              <a:ext uri="{FF2B5EF4-FFF2-40B4-BE49-F238E27FC236}">
                <a16:creationId xmlns:a16="http://schemas.microsoft.com/office/drawing/2014/main" id="{D3115C6C-C59F-A44F-C5DA-5C15FD40C8E1}"/>
              </a:ext>
            </a:extLst>
          </p:cNvPr>
          <p:cNvSpPr/>
          <p:nvPr/>
        </p:nvSpPr>
        <p:spPr>
          <a:xfrm>
            <a:off x="1783853" y="1724629"/>
            <a:ext cx="2533168" cy="64494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機能未設定時</a:t>
            </a:r>
            <a:endParaRPr lang="en-US" altLang="ja-JP" sz="1400" b="1" dirty="0">
              <a:latin typeface="メイリオ" panose="020B0604030504040204" pitchFamily="50" charset="-128"/>
              <a:ea typeface="メイリオ" panose="020B0604030504040204" pitchFamily="50" charset="-128"/>
            </a:endParaRPr>
          </a:p>
          <a:p>
            <a:pPr algn="ct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帳票定義名称</a:t>
            </a:r>
            <a:r>
              <a:rPr lang="en-US" altLang="ja-JP" sz="1400" dirty="0">
                <a:latin typeface="メイリオ" panose="020B0604030504040204" pitchFamily="50" charset="-128"/>
                <a:ea typeface="メイリオ" panose="020B0604030504040204" pitchFamily="50" charset="-128"/>
              </a:rPr>
              <a:t>】</a:t>
            </a:r>
          </a:p>
        </p:txBody>
      </p:sp>
      <p:pic>
        <p:nvPicPr>
          <p:cNvPr id="11" name="図 10" descr="テーブル, カレンダー&#10;&#10;AI によって生成されたコンテンツは間違っている可能性があります。">
            <a:extLst>
              <a:ext uri="{FF2B5EF4-FFF2-40B4-BE49-F238E27FC236}">
                <a16:creationId xmlns:a16="http://schemas.microsoft.com/office/drawing/2014/main" id="{33D85007-BE2D-D413-40EA-3AB39DC3DD03}"/>
              </a:ext>
            </a:extLst>
          </p:cNvPr>
          <p:cNvPicPr>
            <a:picLocks noChangeAspect="1"/>
          </p:cNvPicPr>
          <p:nvPr/>
        </p:nvPicPr>
        <p:blipFill>
          <a:blip r:embed="rId2"/>
          <a:stretch>
            <a:fillRect/>
          </a:stretch>
        </p:blipFill>
        <p:spPr>
          <a:xfrm>
            <a:off x="1668697" y="3676426"/>
            <a:ext cx="730278" cy="1000260"/>
          </a:xfrm>
          <a:prstGeom prst="rect">
            <a:avLst/>
          </a:prstGeom>
        </p:spPr>
      </p:pic>
      <p:pic>
        <p:nvPicPr>
          <p:cNvPr id="14" name="図 13" descr="テーブル, カレンダー&#10;&#10;AI によって生成されたコンテンツは間違っている可能性があります。">
            <a:extLst>
              <a:ext uri="{FF2B5EF4-FFF2-40B4-BE49-F238E27FC236}">
                <a16:creationId xmlns:a16="http://schemas.microsoft.com/office/drawing/2014/main" id="{05B7CB20-A617-8052-E59C-49EF5E0E3684}"/>
              </a:ext>
            </a:extLst>
          </p:cNvPr>
          <p:cNvPicPr>
            <a:picLocks noChangeAspect="1"/>
          </p:cNvPicPr>
          <p:nvPr/>
        </p:nvPicPr>
        <p:blipFill>
          <a:blip r:embed="rId2"/>
          <a:stretch>
            <a:fillRect/>
          </a:stretch>
        </p:blipFill>
        <p:spPr>
          <a:xfrm>
            <a:off x="1668697" y="4875809"/>
            <a:ext cx="730278" cy="1000260"/>
          </a:xfrm>
          <a:prstGeom prst="rect">
            <a:avLst/>
          </a:prstGeom>
        </p:spPr>
      </p:pic>
      <p:pic>
        <p:nvPicPr>
          <p:cNvPr id="8" name="図 7" descr="アイコン&#10;&#10;AI によって生成されたコンテンツは間違っている可能性があります。">
            <a:extLst>
              <a:ext uri="{FF2B5EF4-FFF2-40B4-BE49-F238E27FC236}">
                <a16:creationId xmlns:a16="http://schemas.microsoft.com/office/drawing/2014/main" id="{18B5F7D0-5997-405B-20C6-3710C7F6CA71}"/>
              </a:ext>
            </a:extLst>
          </p:cNvPr>
          <p:cNvPicPr>
            <a:picLocks noChangeAspect="1"/>
          </p:cNvPicPr>
          <p:nvPr/>
        </p:nvPicPr>
        <p:blipFill>
          <a:blip r:embed="rId3"/>
          <a:stretch>
            <a:fillRect/>
          </a:stretch>
        </p:blipFill>
        <p:spPr>
          <a:xfrm>
            <a:off x="2509079" y="2688544"/>
            <a:ext cx="632430" cy="825298"/>
          </a:xfrm>
          <a:prstGeom prst="rect">
            <a:avLst/>
          </a:prstGeom>
        </p:spPr>
      </p:pic>
      <p:pic>
        <p:nvPicPr>
          <p:cNvPr id="12" name="図 11" descr="アイコン&#10;&#10;AI によって生成されたコンテンツは間違っている可能性があります。">
            <a:extLst>
              <a:ext uri="{FF2B5EF4-FFF2-40B4-BE49-F238E27FC236}">
                <a16:creationId xmlns:a16="http://schemas.microsoft.com/office/drawing/2014/main" id="{044F6918-5EDD-2AF7-D8B1-FBDDD4B777CB}"/>
              </a:ext>
            </a:extLst>
          </p:cNvPr>
          <p:cNvPicPr>
            <a:picLocks noChangeAspect="1"/>
          </p:cNvPicPr>
          <p:nvPr/>
        </p:nvPicPr>
        <p:blipFill>
          <a:blip r:embed="rId3"/>
          <a:stretch>
            <a:fillRect/>
          </a:stretch>
        </p:blipFill>
        <p:spPr>
          <a:xfrm>
            <a:off x="2509079" y="3831530"/>
            <a:ext cx="632430" cy="825298"/>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153275FA-1296-57BE-8DC4-5667A4458822}"/>
              </a:ext>
            </a:extLst>
          </p:cNvPr>
          <p:cNvPicPr>
            <a:picLocks noChangeAspect="1"/>
          </p:cNvPicPr>
          <p:nvPr/>
        </p:nvPicPr>
        <p:blipFill>
          <a:blip r:embed="rId3"/>
          <a:stretch>
            <a:fillRect/>
          </a:stretch>
        </p:blipFill>
        <p:spPr>
          <a:xfrm>
            <a:off x="2509079" y="5011842"/>
            <a:ext cx="632430" cy="825298"/>
          </a:xfrm>
          <a:prstGeom prst="rect">
            <a:avLst/>
          </a:prstGeom>
        </p:spPr>
      </p:pic>
      <p:pic>
        <p:nvPicPr>
          <p:cNvPr id="245" name="図 244" descr="挿絵 が含まれている画像&#10;&#10;AI によって生成されたコンテンツは間違っている可能性があります。">
            <a:extLst>
              <a:ext uri="{FF2B5EF4-FFF2-40B4-BE49-F238E27FC236}">
                <a16:creationId xmlns:a16="http://schemas.microsoft.com/office/drawing/2014/main" id="{6105A1B7-66C8-0CBF-90AE-67F9ACA589C8}"/>
              </a:ext>
            </a:extLst>
          </p:cNvPr>
          <p:cNvPicPr>
            <a:picLocks noChangeAspect="1"/>
          </p:cNvPicPr>
          <p:nvPr/>
        </p:nvPicPr>
        <p:blipFill>
          <a:blip r:embed="rId4"/>
          <a:stretch>
            <a:fillRect/>
          </a:stretch>
        </p:blipFill>
        <p:spPr>
          <a:xfrm>
            <a:off x="1070257" y="4785625"/>
            <a:ext cx="605769" cy="1081227"/>
          </a:xfrm>
          <a:prstGeom prst="rect">
            <a:avLst/>
          </a:prstGeom>
        </p:spPr>
      </p:pic>
      <p:pic>
        <p:nvPicPr>
          <p:cNvPr id="246" name="図 245" descr="挿絵, 抽象 が含まれている画像&#10;&#10;AI によって生成されたコンテンツは間違っている可能性があります。">
            <a:extLst>
              <a:ext uri="{FF2B5EF4-FFF2-40B4-BE49-F238E27FC236}">
                <a16:creationId xmlns:a16="http://schemas.microsoft.com/office/drawing/2014/main" id="{27445329-1FDD-5F5F-3BB8-92C50E793239}"/>
              </a:ext>
            </a:extLst>
          </p:cNvPr>
          <p:cNvPicPr>
            <a:picLocks noChangeAspect="1"/>
          </p:cNvPicPr>
          <p:nvPr/>
        </p:nvPicPr>
        <p:blipFill>
          <a:blip r:embed="rId5"/>
          <a:stretch>
            <a:fillRect/>
          </a:stretch>
        </p:blipFill>
        <p:spPr>
          <a:xfrm>
            <a:off x="1127581" y="3609629"/>
            <a:ext cx="547657" cy="1081227"/>
          </a:xfrm>
          <a:prstGeom prst="rect">
            <a:avLst/>
          </a:prstGeom>
        </p:spPr>
      </p:pic>
      <p:pic>
        <p:nvPicPr>
          <p:cNvPr id="247" name="図 246" descr="挿絵, 抽象 が含まれている画像&#10;&#10;AI によって生成されたコンテンツは間違っている可能性があります。">
            <a:extLst>
              <a:ext uri="{FF2B5EF4-FFF2-40B4-BE49-F238E27FC236}">
                <a16:creationId xmlns:a16="http://schemas.microsoft.com/office/drawing/2014/main" id="{CF4BA26E-7EDE-7E7E-09A8-ED86D4172218}"/>
              </a:ext>
            </a:extLst>
          </p:cNvPr>
          <p:cNvPicPr>
            <a:picLocks noChangeAspect="1"/>
          </p:cNvPicPr>
          <p:nvPr/>
        </p:nvPicPr>
        <p:blipFill>
          <a:blip r:embed="rId6"/>
          <a:stretch>
            <a:fillRect/>
          </a:stretch>
        </p:blipFill>
        <p:spPr>
          <a:xfrm>
            <a:off x="1127581" y="2444910"/>
            <a:ext cx="547657" cy="1081227"/>
          </a:xfrm>
          <a:prstGeom prst="rect">
            <a:avLst/>
          </a:prstGeom>
        </p:spPr>
      </p:pic>
      <p:pic>
        <p:nvPicPr>
          <p:cNvPr id="193" name="図 192" descr="テーブル, カレンダー&#10;&#10;AI によって生成されたコンテンツは間違っている可能性があります。">
            <a:extLst>
              <a:ext uri="{FF2B5EF4-FFF2-40B4-BE49-F238E27FC236}">
                <a16:creationId xmlns:a16="http://schemas.microsoft.com/office/drawing/2014/main" id="{9004A430-D709-F2CF-543F-0BBB690D14FA}"/>
              </a:ext>
            </a:extLst>
          </p:cNvPr>
          <p:cNvPicPr>
            <a:picLocks noChangeAspect="1"/>
          </p:cNvPicPr>
          <p:nvPr/>
        </p:nvPicPr>
        <p:blipFill>
          <a:blip r:embed="rId2"/>
          <a:stretch>
            <a:fillRect/>
          </a:stretch>
        </p:blipFill>
        <p:spPr>
          <a:xfrm>
            <a:off x="7006161" y="2542667"/>
            <a:ext cx="730278" cy="1000260"/>
          </a:xfrm>
          <a:prstGeom prst="rect">
            <a:avLst/>
          </a:prstGeom>
        </p:spPr>
      </p:pic>
      <p:pic>
        <p:nvPicPr>
          <p:cNvPr id="194" name="図 193" descr="テーブル, カレンダー&#10;&#10;AI によって生成されたコンテンツは間違っている可能性があります。">
            <a:extLst>
              <a:ext uri="{FF2B5EF4-FFF2-40B4-BE49-F238E27FC236}">
                <a16:creationId xmlns:a16="http://schemas.microsoft.com/office/drawing/2014/main" id="{2237A714-B3DE-AACD-7E7B-736498B04B54}"/>
              </a:ext>
            </a:extLst>
          </p:cNvPr>
          <p:cNvPicPr>
            <a:picLocks noChangeAspect="1"/>
          </p:cNvPicPr>
          <p:nvPr/>
        </p:nvPicPr>
        <p:blipFill>
          <a:blip r:embed="rId2"/>
          <a:stretch>
            <a:fillRect/>
          </a:stretch>
        </p:blipFill>
        <p:spPr>
          <a:xfrm>
            <a:off x="7006161" y="3668527"/>
            <a:ext cx="730278" cy="1000260"/>
          </a:xfrm>
          <a:prstGeom prst="rect">
            <a:avLst/>
          </a:prstGeom>
        </p:spPr>
      </p:pic>
      <p:pic>
        <p:nvPicPr>
          <p:cNvPr id="195" name="図 194" descr="テーブル, カレンダー&#10;&#10;AI によって生成されたコンテンツは間違っている可能性があります。">
            <a:extLst>
              <a:ext uri="{FF2B5EF4-FFF2-40B4-BE49-F238E27FC236}">
                <a16:creationId xmlns:a16="http://schemas.microsoft.com/office/drawing/2014/main" id="{24D6AE25-B3F9-F241-794A-AE53332B9305}"/>
              </a:ext>
            </a:extLst>
          </p:cNvPr>
          <p:cNvPicPr>
            <a:picLocks noChangeAspect="1"/>
          </p:cNvPicPr>
          <p:nvPr/>
        </p:nvPicPr>
        <p:blipFill>
          <a:blip r:embed="rId2"/>
          <a:stretch>
            <a:fillRect/>
          </a:stretch>
        </p:blipFill>
        <p:spPr>
          <a:xfrm>
            <a:off x="7006161" y="4867910"/>
            <a:ext cx="730278" cy="1000260"/>
          </a:xfrm>
          <a:prstGeom prst="rect">
            <a:avLst/>
          </a:prstGeom>
        </p:spPr>
      </p:pic>
      <p:pic>
        <p:nvPicPr>
          <p:cNvPr id="196" name="図 195" descr="アイコン&#10;&#10;AI によって生成されたコンテンツは間違っている可能性があります。">
            <a:extLst>
              <a:ext uri="{FF2B5EF4-FFF2-40B4-BE49-F238E27FC236}">
                <a16:creationId xmlns:a16="http://schemas.microsoft.com/office/drawing/2014/main" id="{81110BA4-ACFD-FE49-435F-945E3412FD50}"/>
              </a:ext>
            </a:extLst>
          </p:cNvPr>
          <p:cNvPicPr>
            <a:picLocks noChangeAspect="1"/>
          </p:cNvPicPr>
          <p:nvPr/>
        </p:nvPicPr>
        <p:blipFill>
          <a:blip r:embed="rId3"/>
          <a:stretch>
            <a:fillRect/>
          </a:stretch>
        </p:blipFill>
        <p:spPr>
          <a:xfrm>
            <a:off x="7846543" y="2680645"/>
            <a:ext cx="632430" cy="825298"/>
          </a:xfrm>
          <a:prstGeom prst="rect">
            <a:avLst/>
          </a:prstGeom>
        </p:spPr>
      </p:pic>
      <p:pic>
        <p:nvPicPr>
          <p:cNvPr id="197" name="図 196" descr="アイコン&#10;&#10;AI によって生成されたコンテンツは間違っている可能性があります。">
            <a:extLst>
              <a:ext uri="{FF2B5EF4-FFF2-40B4-BE49-F238E27FC236}">
                <a16:creationId xmlns:a16="http://schemas.microsoft.com/office/drawing/2014/main" id="{363A295D-6C02-CD66-6B18-A9DA84FF8186}"/>
              </a:ext>
            </a:extLst>
          </p:cNvPr>
          <p:cNvPicPr>
            <a:picLocks noChangeAspect="1"/>
          </p:cNvPicPr>
          <p:nvPr/>
        </p:nvPicPr>
        <p:blipFill>
          <a:blip r:embed="rId3"/>
          <a:stretch>
            <a:fillRect/>
          </a:stretch>
        </p:blipFill>
        <p:spPr>
          <a:xfrm>
            <a:off x="7846543" y="3823631"/>
            <a:ext cx="632430" cy="825298"/>
          </a:xfrm>
          <a:prstGeom prst="rect">
            <a:avLst/>
          </a:prstGeom>
        </p:spPr>
      </p:pic>
      <p:pic>
        <p:nvPicPr>
          <p:cNvPr id="198" name="図 197" descr="アイコン&#10;&#10;AI によって生成されたコンテンツは間違っている可能性があります。">
            <a:extLst>
              <a:ext uri="{FF2B5EF4-FFF2-40B4-BE49-F238E27FC236}">
                <a16:creationId xmlns:a16="http://schemas.microsoft.com/office/drawing/2014/main" id="{C889D813-E960-E130-E493-4F82C82C4409}"/>
              </a:ext>
            </a:extLst>
          </p:cNvPr>
          <p:cNvPicPr>
            <a:picLocks noChangeAspect="1"/>
          </p:cNvPicPr>
          <p:nvPr/>
        </p:nvPicPr>
        <p:blipFill>
          <a:blip r:embed="rId3"/>
          <a:stretch>
            <a:fillRect/>
          </a:stretch>
        </p:blipFill>
        <p:spPr>
          <a:xfrm>
            <a:off x="7846543" y="5003943"/>
            <a:ext cx="632430" cy="825298"/>
          </a:xfrm>
          <a:prstGeom prst="rect">
            <a:avLst/>
          </a:prstGeom>
        </p:spPr>
      </p:pic>
      <p:pic>
        <p:nvPicPr>
          <p:cNvPr id="199" name="図 198" descr="挿絵 が含まれている画像&#10;&#10;AI によって生成されたコンテンツは間違っている可能性があります。">
            <a:extLst>
              <a:ext uri="{FF2B5EF4-FFF2-40B4-BE49-F238E27FC236}">
                <a16:creationId xmlns:a16="http://schemas.microsoft.com/office/drawing/2014/main" id="{CC1FC7DA-CCF5-1440-9303-D49C27DB1264}"/>
              </a:ext>
            </a:extLst>
          </p:cNvPr>
          <p:cNvPicPr>
            <a:picLocks noChangeAspect="1"/>
          </p:cNvPicPr>
          <p:nvPr/>
        </p:nvPicPr>
        <p:blipFill>
          <a:blip r:embed="rId4"/>
          <a:stretch>
            <a:fillRect/>
          </a:stretch>
        </p:blipFill>
        <p:spPr>
          <a:xfrm>
            <a:off x="6407721" y="4777726"/>
            <a:ext cx="605769" cy="1081227"/>
          </a:xfrm>
          <a:prstGeom prst="rect">
            <a:avLst/>
          </a:prstGeom>
        </p:spPr>
      </p:pic>
      <p:pic>
        <p:nvPicPr>
          <p:cNvPr id="203" name="図 202" descr="挿絵, 抽象 が含まれている画像&#10;&#10;AI によって生成されたコンテンツは間違っている可能性があります。">
            <a:extLst>
              <a:ext uri="{FF2B5EF4-FFF2-40B4-BE49-F238E27FC236}">
                <a16:creationId xmlns:a16="http://schemas.microsoft.com/office/drawing/2014/main" id="{3EF5149C-AE55-61F4-AE93-33DD0B03BEA4}"/>
              </a:ext>
            </a:extLst>
          </p:cNvPr>
          <p:cNvPicPr>
            <a:picLocks noChangeAspect="1"/>
          </p:cNvPicPr>
          <p:nvPr/>
        </p:nvPicPr>
        <p:blipFill>
          <a:blip r:embed="rId5"/>
          <a:stretch>
            <a:fillRect/>
          </a:stretch>
        </p:blipFill>
        <p:spPr>
          <a:xfrm>
            <a:off x="6465045" y="3601730"/>
            <a:ext cx="547657" cy="1081227"/>
          </a:xfrm>
          <a:prstGeom prst="rect">
            <a:avLst/>
          </a:prstGeom>
        </p:spPr>
      </p:pic>
      <p:pic>
        <p:nvPicPr>
          <p:cNvPr id="256" name="図 255" descr="挿絵, 抽象 が含まれている画像&#10;&#10;AI によって生成されたコンテンツは間違っている可能性があります。">
            <a:extLst>
              <a:ext uri="{FF2B5EF4-FFF2-40B4-BE49-F238E27FC236}">
                <a16:creationId xmlns:a16="http://schemas.microsoft.com/office/drawing/2014/main" id="{E37B556F-CF26-571C-1E98-66BC10C42B39}"/>
              </a:ext>
            </a:extLst>
          </p:cNvPr>
          <p:cNvPicPr>
            <a:picLocks noChangeAspect="1"/>
          </p:cNvPicPr>
          <p:nvPr/>
        </p:nvPicPr>
        <p:blipFill>
          <a:blip r:embed="rId6"/>
          <a:stretch>
            <a:fillRect/>
          </a:stretch>
        </p:blipFill>
        <p:spPr>
          <a:xfrm>
            <a:off x="6465045" y="2437011"/>
            <a:ext cx="547657" cy="1081227"/>
          </a:xfrm>
          <a:prstGeom prst="rect">
            <a:avLst/>
          </a:prstGeom>
        </p:spPr>
      </p:pic>
    </p:spTree>
    <p:extLst>
      <p:ext uri="{BB962C8B-B14F-4D97-AF65-F5344CB8AC3E}">
        <p14:creationId xmlns:p14="http://schemas.microsoft.com/office/powerpoint/2010/main" val="1824179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モニター画面に映るウェブサイトのスクリーンショット&#10;&#10;AI 生成コンテンツは誤りを含む可能性があります。">
            <a:extLst>
              <a:ext uri="{FF2B5EF4-FFF2-40B4-BE49-F238E27FC236}">
                <a16:creationId xmlns:a16="http://schemas.microsoft.com/office/drawing/2014/main" id="{EB2CEB92-263E-EC56-3659-520B46CF9496}"/>
              </a:ext>
            </a:extLst>
          </p:cNvPr>
          <p:cNvPicPr>
            <a:picLocks noChangeAspect="1"/>
          </p:cNvPicPr>
          <p:nvPr/>
        </p:nvPicPr>
        <p:blipFill>
          <a:blip r:embed="rId4"/>
          <a:stretch>
            <a:fillRect/>
          </a:stretch>
        </p:blipFill>
        <p:spPr>
          <a:xfrm>
            <a:off x="1498654" y="1844824"/>
            <a:ext cx="9357363" cy="3052074"/>
          </a:xfrm>
          <a:prstGeom prst="rect">
            <a:avLst/>
          </a:prstGeom>
          <a:ln>
            <a:solidFill>
              <a:schemeClr val="tx1"/>
            </a:solidFill>
          </a:ln>
        </p:spPr>
      </p:pic>
      <p:sp>
        <p:nvSpPr>
          <p:cNvPr id="12" name="正方形/長方形 11"/>
          <p:cNvSpPr/>
          <p:nvPr/>
        </p:nvSpPr>
        <p:spPr>
          <a:xfrm>
            <a:off x="2423592" y="2105096"/>
            <a:ext cx="1224136" cy="387799"/>
          </a:xfrm>
          <a:prstGeom prst="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cs typeface="Meiryo UI" pitchFamily="50" charset="-128"/>
            </a:endParaRPr>
          </a:p>
        </p:txBody>
      </p:sp>
      <p:sp>
        <p:nvSpPr>
          <p:cNvPr id="13" name="テキスト ボックス 12"/>
          <p:cNvSpPr txBox="1"/>
          <p:nvPr/>
        </p:nvSpPr>
        <p:spPr>
          <a:xfrm>
            <a:off x="983432" y="836712"/>
            <a:ext cx="10225136" cy="711733"/>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「帳票定義情報設定」タブ画面の上部にある「帳票名称自動作成設定」で行います。</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541338" indent="-541338"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「設定」ボタンをクリックすると、帳票名称自動作成設定画面が起動します。</a:t>
            </a:r>
            <a:endParaRPr lang="en-US" altLang="ja-JP" sz="1400" dirty="0">
              <a:latin typeface="メイリオ" panose="020B0604030504040204" pitchFamily="50" charset="-128"/>
              <a:ea typeface="メイリオ" panose="020B0604030504040204" pitchFamily="50" charset="-128"/>
              <a:cs typeface="Meiryo UI" pitchFamily="50" charset="-128"/>
            </a:endParaRPr>
          </a:p>
        </p:txBody>
      </p:sp>
      <p:sp>
        <p:nvSpPr>
          <p:cNvPr id="15" name="角丸四角形 10">
            <a:extLst>
              <a:ext uri="{FF2B5EF4-FFF2-40B4-BE49-F238E27FC236}">
                <a16:creationId xmlns:a16="http://schemas.microsoft.com/office/drawing/2014/main" id="{8E4E3927-9FC0-4E75-A9D8-2E6350C9BD56}"/>
              </a:ext>
            </a:extLst>
          </p:cNvPr>
          <p:cNvSpPr/>
          <p:nvPr/>
        </p:nvSpPr>
        <p:spPr>
          <a:xfrm>
            <a:off x="7838966" y="4417721"/>
            <a:ext cx="1065346" cy="243762"/>
          </a:xfrm>
          <a:prstGeom prst="roundRect">
            <a:avLst>
              <a:gd name="adj" fmla="val 8632"/>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1" name="四角形吹き出し 10"/>
          <p:cNvSpPr/>
          <p:nvPr/>
        </p:nvSpPr>
        <p:spPr>
          <a:xfrm>
            <a:off x="8751512" y="3334747"/>
            <a:ext cx="1820150" cy="390632"/>
          </a:xfrm>
          <a:prstGeom prst="wedgeRectCallout">
            <a:avLst>
              <a:gd name="adj1" fmla="val -62992"/>
              <a:gd name="adj2" fmla="val 190358"/>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cs typeface="Meiryo UI" pitchFamily="50" charset="-128"/>
              </a:rPr>
              <a:t>設定ボタンをクリック</a:t>
            </a:r>
            <a:endParaRPr lang="en-US" altLang="ja-JP" sz="1200" b="1" dirty="0">
              <a:latin typeface="メイリオ" panose="020B0604030504040204" pitchFamily="50" charset="-128"/>
              <a:ea typeface="メイリオ" panose="020B0604030504040204" pitchFamily="50" charset="-128"/>
              <a:cs typeface="Meiryo UI" pitchFamily="50" charset="-128"/>
            </a:endParaRPr>
          </a:p>
        </p:txBody>
      </p:sp>
      <p:sp>
        <p:nvSpPr>
          <p:cNvPr id="6" name="テキスト ボックス 5">
            <a:extLst>
              <a:ext uri="{FF2B5EF4-FFF2-40B4-BE49-F238E27FC236}">
                <a16:creationId xmlns:a16="http://schemas.microsoft.com/office/drawing/2014/main" id="{D0DBC774-4A26-141B-25B5-B81D57543DE4}"/>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帳票名称自動作成　設定手順</a:t>
            </a: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　①設定画面の起動</a:t>
            </a:r>
            <a:endParaRPr lang="en-US" altLang="ja-JP"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線吹き出し 1 (枠付き) 24">
            <a:extLst>
              <a:ext uri="{FF2B5EF4-FFF2-40B4-BE49-F238E27FC236}">
                <a16:creationId xmlns:a16="http://schemas.microsoft.com/office/drawing/2014/main" id="{F6AD7420-4FE7-750F-C8AF-B4A34EE83F56}"/>
              </a:ext>
            </a:extLst>
          </p:cNvPr>
          <p:cNvSpPr/>
          <p:nvPr/>
        </p:nvSpPr>
        <p:spPr>
          <a:xfrm>
            <a:off x="1343472" y="5589240"/>
            <a:ext cx="9512545" cy="618219"/>
          </a:xfrm>
          <a:prstGeom prst="rect">
            <a:avLst/>
          </a:prstGeom>
          <a:solidFill>
            <a:srgbClr val="FFFFFF"/>
          </a:solidFill>
          <a:ln>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spAutoFit/>
          </a:bodyPr>
          <a:lstStyle/>
          <a:p>
            <a:pPr defTabSz="4933950">
              <a:tabLst>
                <a:tab pos="271463" algn="l"/>
              </a:tabLst>
            </a:pPr>
            <a:r>
              <a:rPr lang="ja-JP" altLang="en-US" sz="1400" b="1" dirty="0">
                <a:solidFill>
                  <a:schemeClr val="tx1"/>
                </a:solidFill>
                <a:latin typeface="メイリオ" panose="020B0604030504040204" pitchFamily="50" charset="-128"/>
                <a:ea typeface="メイリオ" panose="020B0604030504040204" pitchFamily="50" charset="-128"/>
              </a:rPr>
              <a:t>講習時の操作</a:t>
            </a:r>
            <a:endParaRPr lang="en-US" altLang="ja-JP" sz="1400" b="1"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r>
              <a:rPr lang="ja-JP" altLang="en-US" sz="1200" dirty="0">
                <a:solidFill>
                  <a:schemeClr val="tx1"/>
                </a:solidFill>
                <a:latin typeface="メイリオ" panose="020B0604030504040204" pitchFamily="50" charset="-128"/>
                <a:ea typeface="メイリオ" panose="020B0604030504040204" pitchFamily="50" charset="-128"/>
              </a:rPr>
              <a:t>上記の操作を行います。</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2443574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93A3FCD-5C5F-8A2A-D3E6-5967443A58D2}"/>
              </a:ext>
            </a:extLst>
          </p:cNvPr>
          <p:cNvPicPr>
            <a:picLocks noChangeAspect="1"/>
          </p:cNvPicPr>
          <p:nvPr/>
        </p:nvPicPr>
        <p:blipFill>
          <a:blip r:embed="rId4"/>
          <a:stretch>
            <a:fillRect/>
          </a:stretch>
        </p:blipFill>
        <p:spPr>
          <a:xfrm>
            <a:off x="1415480" y="1703504"/>
            <a:ext cx="4752527" cy="3578849"/>
          </a:xfrm>
          <a:prstGeom prst="rect">
            <a:avLst/>
          </a:prstGeom>
          <a:ln>
            <a:solidFill>
              <a:schemeClr val="tx1">
                <a:lumMod val="50000"/>
                <a:lumOff val="50000"/>
              </a:schemeClr>
            </a:solidFill>
          </a:ln>
        </p:spPr>
      </p:pic>
      <p:sp>
        <p:nvSpPr>
          <p:cNvPr id="23" name="四角形吹き出し 22"/>
          <p:cNvSpPr/>
          <p:nvPr/>
        </p:nvSpPr>
        <p:spPr>
          <a:xfrm>
            <a:off x="1192060" y="4494043"/>
            <a:ext cx="1666301" cy="711229"/>
          </a:xfrm>
          <a:prstGeom prst="wedgeRectCallout">
            <a:avLst>
              <a:gd name="adj1" fmla="val -19203"/>
              <a:gd name="adj2" fmla="val -223496"/>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r>
              <a:rPr lang="ja-JP" altLang="en-US" sz="1100" b="1" dirty="0">
                <a:latin typeface="メイリオ" panose="020B0604030504040204" pitchFamily="50" charset="-128"/>
                <a:ea typeface="メイリオ" panose="020B0604030504040204" pitchFamily="50" charset="-128"/>
                <a:cs typeface="Meiryo UI" pitchFamily="50" charset="-128"/>
              </a:rPr>
              <a:t>表示順を変更する場合、</a:t>
            </a:r>
            <a:endParaRPr lang="en-US" altLang="ja-JP" sz="1100" b="1" dirty="0">
              <a:latin typeface="メイリオ" panose="020B0604030504040204" pitchFamily="50" charset="-128"/>
              <a:ea typeface="メイリオ" panose="020B0604030504040204" pitchFamily="50" charset="-128"/>
              <a:cs typeface="Meiryo UI" pitchFamily="50" charset="-128"/>
            </a:endParaRPr>
          </a:p>
          <a:p>
            <a:r>
              <a:rPr lang="ja-JP" altLang="en-US" sz="1100" b="1" dirty="0">
                <a:latin typeface="メイリオ" panose="020B0604030504040204" pitchFamily="50" charset="-128"/>
                <a:ea typeface="メイリオ" panose="020B0604030504040204" pitchFamily="50" charset="-128"/>
                <a:cs typeface="Meiryo UI" pitchFamily="50" charset="-128"/>
              </a:rPr>
              <a:t>該当の項目を選択し</a:t>
            </a:r>
            <a:endParaRPr lang="en-US" altLang="ja-JP" sz="1100" b="1" dirty="0">
              <a:latin typeface="メイリオ" panose="020B0604030504040204" pitchFamily="50" charset="-128"/>
              <a:ea typeface="メイリオ" panose="020B0604030504040204" pitchFamily="50" charset="-128"/>
              <a:cs typeface="Meiryo UI" pitchFamily="50" charset="-128"/>
            </a:endParaRPr>
          </a:p>
          <a:p>
            <a:r>
              <a:rPr lang="ja-JP" altLang="en-US" sz="1100" b="1" dirty="0">
                <a:latin typeface="メイリオ" panose="020B0604030504040204" pitchFamily="50" charset="-128"/>
                <a:ea typeface="メイリオ" panose="020B0604030504040204" pitchFamily="50" charset="-128"/>
                <a:cs typeface="Meiryo UI" pitchFamily="50" charset="-128"/>
              </a:rPr>
              <a:t>上下に移動させます</a:t>
            </a:r>
            <a:endParaRPr lang="en-US" altLang="ja-JP" sz="1100" b="1" dirty="0">
              <a:latin typeface="メイリオ" panose="020B0604030504040204" pitchFamily="50" charset="-128"/>
              <a:ea typeface="メイリオ" panose="020B0604030504040204" pitchFamily="50" charset="-128"/>
              <a:cs typeface="Meiryo UI" pitchFamily="50" charset="-128"/>
            </a:endParaRPr>
          </a:p>
        </p:txBody>
      </p:sp>
      <p:sp>
        <p:nvSpPr>
          <p:cNvPr id="12" name="四角形吹き出し 11"/>
          <p:cNvSpPr/>
          <p:nvPr/>
        </p:nvSpPr>
        <p:spPr>
          <a:xfrm>
            <a:off x="6791366" y="1852265"/>
            <a:ext cx="3553106" cy="618219"/>
          </a:xfrm>
          <a:prstGeom prst="wedgeRectCallout">
            <a:avLst>
              <a:gd name="adj1" fmla="val -87154"/>
              <a:gd name="adj2" fmla="val -9589"/>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r>
              <a:rPr lang="ja-JP" altLang="en-US" sz="1200" b="1" dirty="0">
                <a:latin typeface="メイリオ" panose="020B0604030504040204" pitchFamily="50" charset="-128"/>
                <a:ea typeface="メイリオ" panose="020B0604030504040204" pitchFamily="50" charset="-128"/>
                <a:cs typeface="Meiryo UI" pitchFamily="50" charset="-128"/>
              </a:rPr>
              <a:t>設定内容をプレビュー表示します</a:t>
            </a:r>
            <a:endParaRPr lang="en-US" altLang="ja-JP" sz="1200" b="1" dirty="0">
              <a:latin typeface="メイリオ" panose="020B0604030504040204" pitchFamily="50" charset="-128"/>
              <a:ea typeface="メイリオ" panose="020B0604030504040204" pitchFamily="50" charset="-128"/>
              <a:cs typeface="Meiryo UI" pitchFamily="50" charset="-128"/>
            </a:endParaRPr>
          </a:p>
          <a:p>
            <a:r>
              <a:rPr lang="en-US" altLang="ja-JP" sz="1200" dirty="0">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未設定時は、帳票定義名称が表示されます</a:t>
            </a:r>
            <a:endParaRPr lang="en-US" altLang="ja-JP" sz="1200" dirty="0">
              <a:latin typeface="メイリオ" panose="020B0604030504040204" pitchFamily="50" charset="-128"/>
              <a:ea typeface="メイリオ" panose="020B0604030504040204" pitchFamily="50" charset="-128"/>
              <a:cs typeface="Meiryo UI" pitchFamily="50" charset="-128"/>
            </a:endParaRPr>
          </a:p>
        </p:txBody>
      </p:sp>
      <p:sp>
        <p:nvSpPr>
          <p:cNvPr id="14" name="四角形吹き出し 13"/>
          <p:cNvSpPr/>
          <p:nvPr/>
        </p:nvSpPr>
        <p:spPr>
          <a:xfrm>
            <a:off x="6791366" y="3333288"/>
            <a:ext cx="3212711" cy="1008112"/>
          </a:xfrm>
          <a:prstGeom prst="wedgeRectCallout">
            <a:avLst>
              <a:gd name="adj1" fmla="val -144345"/>
              <a:gd name="adj2" fmla="val -47308"/>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defTabSz="2957513">
              <a:tabLst>
                <a:tab pos="180975" algn="l"/>
              </a:tabLst>
            </a:pPr>
            <a:r>
              <a:rPr lang="ja-JP" altLang="en-US" sz="1100" b="1" dirty="0">
                <a:latin typeface="メイリオ" panose="020B0604030504040204" pitchFamily="50" charset="-128"/>
                <a:ea typeface="メイリオ" panose="020B0604030504040204" pitchFamily="50" charset="-128"/>
                <a:cs typeface="Meiryo UI" pitchFamily="50" charset="-128"/>
              </a:rPr>
              <a:t>名称を作成する際のルールを設定します</a:t>
            </a:r>
            <a:endParaRPr lang="en-US" altLang="ja-JP" sz="1100" b="1" dirty="0">
              <a:latin typeface="メイリオ" panose="020B0604030504040204" pitchFamily="50" charset="-128"/>
              <a:ea typeface="メイリオ" panose="020B0604030504040204" pitchFamily="50" charset="-128"/>
              <a:cs typeface="Meiryo UI" pitchFamily="50" charset="-128"/>
            </a:endParaRPr>
          </a:p>
          <a:p>
            <a:pPr defTabSz="2957513">
              <a:tabLst>
                <a:tab pos="180975" algn="l"/>
              </a:tabLst>
            </a:pPr>
            <a:r>
              <a:rPr lang="ja-JP" altLang="en-US" sz="1100" b="1" dirty="0">
                <a:latin typeface="メイリオ" panose="020B0604030504040204" pitchFamily="50" charset="-128"/>
                <a:ea typeface="メイリオ" panose="020B0604030504040204" pitchFamily="50" charset="-128"/>
                <a:cs typeface="Meiryo UI" pitchFamily="50" charset="-128"/>
              </a:rPr>
              <a:t>「</a:t>
            </a:r>
            <a:r>
              <a:rPr lang="en-US" altLang="ja-JP" sz="1100" b="1" dirty="0">
                <a:latin typeface="メイリオ" panose="020B0604030504040204" pitchFamily="50" charset="-128"/>
                <a:ea typeface="メイリオ" panose="020B0604030504040204" pitchFamily="50" charset="-128"/>
                <a:cs typeface="Meiryo UI" pitchFamily="50" charset="-128"/>
              </a:rPr>
              <a:t>Type</a:t>
            </a:r>
            <a:r>
              <a:rPr lang="ja-JP" altLang="en-US" sz="1100" b="1" dirty="0">
                <a:latin typeface="メイリオ" panose="020B0604030504040204" pitchFamily="50" charset="-128"/>
                <a:ea typeface="メイリオ" panose="020B0604030504040204" pitchFamily="50" charset="-128"/>
                <a:cs typeface="Meiryo UI" pitchFamily="50" charset="-128"/>
              </a:rPr>
              <a:t>（左側）」と「</a:t>
            </a:r>
            <a:r>
              <a:rPr lang="en-US" altLang="ja-JP" sz="1100" b="1" dirty="0">
                <a:latin typeface="メイリオ" panose="020B0604030504040204" pitchFamily="50" charset="-128"/>
                <a:ea typeface="メイリオ" panose="020B0604030504040204" pitchFamily="50" charset="-128"/>
                <a:cs typeface="Meiryo UI" pitchFamily="50" charset="-128"/>
              </a:rPr>
              <a:t>Value</a:t>
            </a:r>
            <a:r>
              <a:rPr lang="ja-JP" altLang="en-US" sz="1100" b="1" dirty="0">
                <a:latin typeface="メイリオ" panose="020B0604030504040204" pitchFamily="50" charset="-128"/>
                <a:ea typeface="メイリオ" panose="020B0604030504040204" pitchFamily="50" charset="-128"/>
                <a:cs typeface="Meiryo UI" pitchFamily="50" charset="-128"/>
              </a:rPr>
              <a:t>（右側）」からルールを指定し、「</a:t>
            </a:r>
            <a:r>
              <a:rPr lang="en-US" altLang="ja-JP" sz="1100" b="1" dirty="0">
                <a:latin typeface="メイリオ" panose="020B0604030504040204" pitchFamily="50" charset="-128"/>
                <a:ea typeface="メイリオ" panose="020B0604030504040204" pitchFamily="50" charset="-128"/>
                <a:cs typeface="Meiryo UI" pitchFamily="50" charset="-128"/>
              </a:rPr>
              <a:t>+</a:t>
            </a:r>
            <a:r>
              <a:rPr lang="ja-JP" altLang="en-US" sz="1100" b="1" dirty="0">
                <a:latin typeface="メイリオ" panose="020B0604030504040204" pitchFamily="50" charset="-128"/>
                <a:ea typeface="メイリオ" panose="020B0604030504040204" pitchFamily="50" charset="-128"/>
                <a:cs typeface="Meiryo UI" pitchFamily="50" charset="-128"/>
              </a:rPr>
              <a:t>」ボタンで設定します</a:t>
            </a:r>
            <a:endParaRPr lang="en-US" altLang="ja-JP" sz="1100" b="1" dirty="0">
              <a:latin typeface="メイリオ" panose="020B0604030504040204" pitchFamily="50" charset="-128"/>
              <a:ea typeface="メイリオ" panose="020B0604030504040204" pitchFamily="50" charset="-128"/>
              <a:cs typeface="Meiryo UI" pitchFamily="50" charset="-128"/>
            </a:endParaRPr>
          </a:p>
        </p:txBody>
      </p:sp>
      <p:sp>
        <p:nvSpPr>
          <p:cNvPr id="21" name="四角形吹き出し 20"/>
          <p:cNvSpPr/>
          <p:nvPr/>
        </p:nvSpPr>
        <p:spPr>
          <a:xfrm>
            <a:off x="6793530" y="2639268"/>
            <a:ext cx="3550941" cy="454293"/>
          </a:xfrm>
          <a:prstGeom prst="wedgeRectCallout">
            <a:avLst>
              <a:gd name="adj1" fmla="val -72351"/>
              <a:gd name="adj2" fmla="val -40095"/>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r>
              <a:rPr lang="ja-JP" altLang="en-US" sz="1200" b="1" dirty="0">
                <a:latin typeface="メイリオ" panose="020B0604030504040204" pitchFamily="50" charset="-128"/>
                <a:ea typeface="メイリオ" panose="020B0604030504040204" pitchFamily="50" charset="-128"/>
                <a:cs typeface="Meiryo UI" pitchFamily="50" charset="-128"/>
              </a:rPr>
              <a:t>設定したルールを削除します</a:t>
            </a:r>
            <a:endParaRPr lang="en-US" altLang="ja-JP" sz="1200" b="1" dirty="0">
              <a:latin typeface="メイリオ" panose="020B0604030504040204" pitchFamily="50" charset="-128"/>
              <a:ea typeface="メイリオ" panose="020B0604030504040204" pitchFamily="50" charset="-128"/>
              <a:cs typeface="Meiryo UI" pitchFamily="50" charset="-128"/>
            </a:endParaRPr>
          </a:p>
        </p:txBody>
      </p:sp>
      <p:sp>
        <p:nvSpPr>
          <p:cNvPr id="2" name="テキスト ボックス 1">
            <a:extLst>
              <a:ext uri="{FF2B5EF4-FFF2-40B4-BE49-F238E27FC236}">
                <a16:creationId xmlns:a16="http://schemas.microsoft.com/office/drawing/2014/main" id="{2D64FED4-2876-DCDD-CD36-49D63E8D7CBA}"/>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帳票名称自動作成　設定手順</a:t>
            </a: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　②設定画面の操作</a:t>
            </a:r>
            <a:endParaRPr lang="en-US" altLang="ja-JP"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99373A6B-291B-8412-EA4D-24F1319B851E}"/>
              </a:ext>
            </a:extLst>
          </p:cNvPr>
          <p:cNvSpPr txBox="1"/>
          <p:nvPr/>
        </p:nvSpPr>
        <p:spPr>
          <a:xfrm>
            <a:off x="983432" y="836712"/>
            <a:ext cx="10225136" cy="711733"/>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入力帳票の名称として使用する「情報の種類」と「書式」や「使用する具体的な情報の内容」といった条件を設定します。</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541338" indent="-541338"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設定した内容を反映したプレビューで、確認できます。</a:t>
            </a:r>
            <a:endParaRPr lang="en-US" altLang="ja-JP" sz="1400" dirty="0">
              <a:latin typeface="メイリオ" panose="020B0604030504040204" pitchFamily="50" charset="-128"/>
              <a:ea typeface="メイリオ" panose="020B0604030504040204" pitchFamily="50" charset="-128"/>
              <a:cs typeface="Meiryo UI" pitchFamily="50" charset="-128"/>
            </a:endParaRPr>
          </a:p>
        </p:txBody>
      </p:sp>
      <p:sp>
        <p:nvSpPr>
          <p:cNvPr id="7" name="線吹き出し 1 (枠付き) 24">
            <a:extLst>
              <a:ext uri="{FF2B5EF4-FFF2-40B4-BE49-F238E27FC236}">
                <a16:creationId xmlns:a16="http://schemas.microsoft.com/office/drawing/2014/main" id="{824110B1-DB3B-9A6D-CCF5-841FD39483ED}"/>
              </a:ext>
            </a:extLst>
          </p:cNvPr>
          <p:cNvSpPr/>
          <p:nvPr/>
        </p:nvSpPr>
        <p:spPr>
          <a:xfrm>
            <a:off x="1343472" y="5589240"/>
            <a:ext cx="9512545" cy="618219"/>
          </a:xfrm>
          <a:prstGeom prst="rect">
            <a:avLst/>
          </a:prstGeom>
          <a:solidFill>
            <a:srgbClr val="FFFFFF"/>
          </a:solidFill>
          <a:ln>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spAutoFit/>
          </a:bodyPr>
          <a:lstStyle/>
          <a:p>
            <a:pPr defTabSz="4933950">
              <a:tabLst>
                <a:tab pos="271463" algn="l"/>
              </a:tabLst>
            </a:pPr>
            <a:r>
              <a:rPr lang="ja-JP" altLang="en-US" sz="1400" b="1" dirty="0">
                <a:solidFill>
                  <a:schemeClr val="tx1"/>
                </a:solidFill>
                <a:latin typeface="メイリオ" panose="020B0604030504040204" pitchFamily="50" charset="-128"/>
                <a:ea typeface="メイリオ" panose="020B0604030504040204" pitchFamily="50" charset="-128"/>
              </a:rPr>
              <a:t>講習時の操作</a:t>
            </a:r>
            <a:endParaRPr lang="en-US" altLang="ja-JP" sz="1400" b="1"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r>
              <a:rPr lang="ja-JP" altLang="en-US" sz="1200" dirty="0">
                <a:solidFill>
                  <a:schemeClr val="tx1"/>
                </a:solidFill>
                <a:latin typeface="メイリオ" panose="020B0604030504040204" pitchFamily="50" charset="-128"/>
                <a:ea typeface="メイリオ" panose="020B0604030504040204" pitchFamily="50" charset="-128"/>
              </a:rPr>
              <a:t>次ページをご参照ください。</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8" name="角丸四角形 10">
            <a:extLst>
              <a:ext uri="{FF2B5EF4-FFF2-40B4-BE49-F238E27FC236}">
                <a16:creationId xmlns:a16="http://schemas.microsoft.com/office/drawing/2014/main" id="{39EF998B-E7D6-966F-2993-670C4B9BE3AF}"/>
              </a:ext>
            </a:extLst>
          </p:cNvPr>
          <p:cNvSpPr/>
          <p:nvPr/>
        </p:nvSpPr>
        <p:spPr>
          <a:xfrm>
            <a:off x="5798395" y="2567600"/>
            <a:ext cx="182053" cy="143336"/>
          </a:xfrm>
          <a:prstGeom prst="roundRect">
            <a:avLst>
              <a:gd name="adj" fmla="val 8632"/>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2697504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A199EDF-E19A-C735-1EB7-5A176AB8CB4D}"/>
              </a:ext>
            </a:extLst>
          </p:cNvPr>
          <p:cNvPicPr>
            <a:picLocks noChangeAspect="1"/>
          </p:cNvPicPr>
          <p:nvPr/>
        </p:nvPicPr>
        <p:blipFill>
          <a:blip r:embed="rId4"/>
          <a:stretch>
            <a:fillRect/>
          </a:stretch>
        </p:blipFill>
        <p:spPr>
          <a:xfrm>
            <a:off x="1343472" y="1276457"/>
            <a:ext cx="3882169" cy="1549411"/>
          </a:xfrm>
          <a:prstGeom prst="rect">
            <a:avLst/>
          </a:prstGeom>
          <a:ln>
            <a:solidFill>
              <a:schemeClr val="tx1">
                <a:lumMod val="50000"/>
                <a:lumOff val="50000"/>
              </a:schemeClr>
            </a:solidFill>
          </a:ln>
        </p:spPr>
      </p:pic>
      <p:sp>
        <p:nvSpPr>
          <p:cNvPr id="26" name="テキスト ボックス 25"/>
          <p:cNvSpPr txBox="1"/>
          <p:nvPr/>
        </p:nvSpPr>
        <p:spPr>
          <a:xfrm>
            <a:off x="5644412" y="1312022"/>
            <a:ext cx="5204116" cy="1569660"/>
          </a:xfrm>
          <a:prstGeom prst="rect">
            <a:avLst/>
          </a:prstGeom>
          <a:noFill/>
        </p:spPr>
        <p:txBody>
          <a:bodyPr wrap="square" rtlCol="0">
            <a:spAutoFit/>
          </a:bodyPr>
          <a:lstStyle/>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帳票情報</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帳票名称、帳票備考情報</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作成日</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帳票保存時の年月日</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作成日時</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帳票保存時の年月日時分</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作成時刻</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帳票保存時の時分</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ユーザー情報</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帳票保存したユーザーの</a:t>
            </a:r>
            <a:r>
              <a:rPr lang="en-US" altLang="ja-JP" sz="1200" dirty="0">
                <a:latin typeface="メイリオ" panose="020B0604030504040204" pitchFamily="50" charset="-128"/>
                <a:ea typeface="メイリオ" panose="020B0604030504040204" pitchFamily="50" charset="-128"/>
                <a:cs typeface="Meiryo UI" pitchFamily="50" charset="-128"/>
              </a:rPr>
              <a:t>ID</a:t>
            </a:r>
            <a:r>
              <a:rPr lang="ja-JP" altLang="en-US" sz="1200" dirty="0">
                <a:latin typeface="メイリオ" panose="020B0604030504040204" pitchFamily="50" charset="-128"/>
                <a:ea typeface="メイリオ" panose="020B0604030504040204" pitchFamily="50" charset="-128"/>
                <a:cs typeface="Meiryo UI" pitchFamily="50" charset="-128"/>
              </a:rPr>
              <a:t>やユーザー名</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クラスター値</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指定したクラスターに入力された値</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クラスター表示値</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指定したクラスターに表示された値</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1343025"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任意文字列</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dirty="0">
                <a:latin typeface="メイリオ" panose="020B0604030504040204" pitchFamily="50" charset="-128"/>
                <a:ea typeface="メイリオ" panose="020B0604030504040204" pitchFamily="50" charset="-128"/>
                <a:cs typeface="Meiryo UI" pitchFamily="50" charset="-128"/>
              </a:rPr>
              <a:t>任意の文字列</a:t>
            </a:r>
            <a:endParaRPr lang="en-US" altLang="ja-JP" sz="1200" dirty="0">
              <a:latin typeface="メイリオ" panose="020B0604030504040204" pitchFamily="50" charset="-128"/>
              <a:ea typeface="メイリオ" panose="020B0604030504040204" pitchFamily="50" charset="-128"/>
              <a:cs typeface="Meiryo UI" pitchFamily="50" charset="-128"/>
            </a:endParaRPr>
          </a:p>
        </p:txBody>
      </p:sp>
      <p:sp>
        <p:nvSpPr>
          <p:cNvPr id="12" name="角丸四角形 10">
            <a:extLst>
              <a:ext uri="{FF2B5EF4-FFF2-40B4-BE49-F238E27FC236}">
                <a16:creationId xmlns:a16="http://schemas.microsoft.com/office/drawing/2014/main" id="{334C6DCE-DF1A-4E94-BFFF-570E2C39724E}"/>
              </a:ext>
            </a:extLst>
          </p:cNvPr>
          <p:cNvSpPr/>
          <p:nvPr/>
        </p:nvSpPr>
        <p:spPr>
          <a:xfrm>
            <a:off x="1371910" y="1483251"/>
            <a:ext cx="1765499" cy="1310309"/>
          </a:xfrm>
          <a:prstGeom prst="roundRect">
            <a:avLst>
              <a:gd name="adj" fmla="val 3495"/>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5" name="四角形吹き出し 24"/>
          <p:cNvSpPr/>
          <p:nvPr/>
        </p:nvSpPr>
        <p:spPr>
          <a:xfrm>
            <a:off x="3752429" y="1927555"/>
            <a:ext cx="1697146" cy="339080"/>
          </a:xfrm>
          <a:prstGeom prst="wedgeRectCallout">
            <a:avLst>
              <a:gd name="adj1" fmla="val -94589"/>
              <a:gd name="adj2" fmla="val -1858"/>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cs typeface="Meiryo UI" pitchFamily="50" charset="-128"/>
              </a:rPr>
              <a:t>設定項目の</a:t>
            </a:r>
            <a:r>
              <a:rPr lang="en-US" altLang="ja-JP" sz="1200" b="1" dirty="0">
                <a:latin typeface="メイリオ" panose="020B0604030504040204" pitchFamily="50" charset="-128"/>
                <a:ea typeface="メイリオ" panose="020B0604030504040204" pitchFamily="50" charset="-128"/>
                <a:cs typeface="Meiryo UI" pitchFamily="50" charset="-128"/>
              </a:rPr>
              <a:t>Type</a:t>
            </a:r>
            <a:r>
              <a:rPr lang="ja-JP" altLang="en-US" sz="1200" b="1" dirty="0">
                <a:latin typeface="メイリオ" panose="020B0604030504040204" pitchFamily="50" charset="-128"/>
                <a:ea typeface="メイリオ" panose="020B0604030504040204" pitchFamily="50" charset="-128"/>
                <a:cs typeface="Meiryo UI" pitchFamily="50" charset="-128"/>
              </a:rPr>
              <a:t>選択</a:t>
            </a:r>
            <a:endParaRPr lang="en-US" altLang="ja-JP" sz="1200" b="1" dirty="0">
              <a:latin typeface="メイリオ" panose="020B0604030504040204" pitchFamily="50" charset="-128"/>
              <a:ea typeface="メイリオ" panose="020B0604030504040204" pitchFamily="50" charset="-128"/>
              <a:cs typeface="Meiryo UI" pitchFamily="50" charset="-128"/>
            </a:endParaRPr>
          </a:p>
        </p:txBody>
      </p:sp>
      <p:sp>
        <p:nvSpPr>
          <p:cNvPr id="5" name="テキスト ボックス 4">
            <a:extLst>
              <a:ext uri="{FF2B5EF4-FFF2-40B4-BE49-F238E27FC236}">
                <a16:creationId xmlns:a16="http://schemas.microsoft.com/office/drawing/2014/main" id="{3DA55FC0-2049-25B3-0928-EAA53F202A71}"/>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帳票名称自動作成　設定手順</a:t>
            </a: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　②設定画面の操作</a:t>
            </a:r>
            <a:endParaRPr lang="en-US" altLang="ja-JP"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104426C1-0E85-A73C-DB38-584E1808B52D}"/>
              </a:ext>
            </a:extLst>
          </p:cNvPr>
          <p:cNvSpPr txBox="1"/>
          <p:nvPr/>
        </p:nvSpPr>
        <p:spPr>
          <a:xfrm>
            <a:off x="983432" y="836712"/>
            <a:ext cx="10225136" cy="388568"/>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①</a:t>
            </a:r>
            <a:r>
              <a:rPr lang="en-US" altLang="ja-JP" sz="1400" dirty="0">
                <a:latin typeface="メイリオ" panose="020B0604030504040204" pitchFamily="50" charset="-128"/>
                <a:ea typeface="メイリオ" panose="020B0604030504040204" pitchFamily="50" charset="-128"/>
                <a:cs typeface="Meiryo UI" pitchFamily="50" charset="-128"/>
              </a:rPr>
              <a:t>	</a:t>
            </a:r>
            <a:r>
              <a:rPr lang="ja-JP" altLang="en-US" sz="1400" dirty="0">
                <a:latin typeface="メイリオ" panose="020B0604030504040204" pitchFamily="50" charset="-128"/>
                <a:ea typeface="メイリオ" panose="020B0604030504040204" pitchFamily="50" charset="-128"/>
                <a:cs typeface="Meiryo UI" pitchFamily="50" charset="-128"/>
              </a:rPr>
              <a:t>設定項目の「</a:t>
            </a:r>
            <a:r>
              <a:rPr lang="en-US" altLang="ja-JP" sz="1400" dirty="0">
                <a:latin typeface="メイリオ" panose="020B0604030504040204" pitchFamily="50" charset="-128"/>
                <a:ea typeface="メイリオ" panose="020B0604030504040204" pitchFamily="50" charset="-128"/>
                <a:cs typeface="Meiryo UI" pitchFamily="50" charset="-128"/>
              </a:rPr>
              <a:t>Type</a:t>
            </a:r>
            <a:r>
              <a:rPr lang="ja-JP" altLang="en-US" sz="1400" dirty="0">
                <a:latin typeface="メイリオ" panose="020B0604030504040204" pitchFamily="50" charset="-128"/>
                <a:ea typeface="メイリオ" panose="020B0604030504040204" pitchFamily="50" charset="-128"/>
                <a:cs typeface="Meiryo UI" pitchFamily="50" charset="-128"/>
              </a:rPr>
              <a:t>」をコンボボックスより選択します。</a:t>
            </a:r>
            <a:r>
              <a:rPr lang="en-US" altLang="ja-JP" sz="1400" dirty="0">
                <a:latin typeface="メイリオ" panose="020B0604030504040204" pitchFamily="50" charset="-128"/>
                <a:ea typeface="メイリオ" panose="020B0604030504040204" pitchFamily="50" charset="-128"/>
                <a:cs typeface="Meiryo UI" pitchFamily="50" charset="-128"/>
              </a:rPr>
              <a:t>Type</a:t>
            </a:r>
            <a:r>
              <a:rPr lang="ja-JP" altLang="en-US" sz="1400" dirty="0">
                <a:latin typeface="メイリオ" panose="020B0604030504040204" pitchFamily="50" charset="-128"/>
                <a:ea typeface="メイリオ" panose="020B0604030504040204" pitchFamily="50" charset="-128"/>
                <a:cs typeface="Meiryo UI" pitchFamily="50" charset="-128"/>
              </a:rPr>
              <a:t>には以下の種類があります。</a:t>
            </a:r>
          </a:p>
        </p:txBody>
      </p:sp>
      <p:pic>
        <p:nvPicPr>
          <p:cNvPr id="8" name="図 7">
            <a:extLst>
              <a:ext uri="{FF2B5EF4-FFF2-40B4-BE49-F238E27FC236}">
                <a16:creationId xmlns:a16="http://schemas.microsoft.com/office/drawing/2014/main" id="{A527658C-46D4-1EE2-7A12-02F6D23889DE}"/>
              </a:ext>
            </a:extLst>
          </p:cNvPr>
          <p:cNvPicPr>
            <a:picLocks noChangeAspect="1"/>
          </p:cNvPicPr>
          <p:nvPr/>
        </p:nvPicPr>
        <p:blipFill>
          <a:blip r:embed="rId5"/>
          <a:stretch>
            <a:fillRect/>
          </a:stretch>
        </p:blipFill>
        <p:spPr>
          <a:xfrm>
            <a:off x="1343472" y="3398408"/>
            <a:ext cx="3853731" cy="1536871"/>
          </a:xfrm>
          <a:prstGeom prst="rect">
            <a:avLst/>
          </a:prstGeom>
          <a:ln>
            <a:solidFill>
              <a:schemeClr val="tx1">
                <a:lumMod val="50000"/>
                <a:lumOff val="50000"/>
              </a:schemeClr>
            </a:solidFill>
          </a:ln>
        </p:spPr>
      </p:pic>
      <p:sp>
        <p:nvSpPr>
          <p:cNvPr id="10" name="テキスト ボックス 9">
            <a:extLst>
              <a:ext uri="{FF2B5EF4-FFF2-40B4-BE49-F238E27FC236}">
                <a16:creationId xmlns:a16="http://schemas.microsoft.com/office/drawing/2014/main" id="{E0C77A12-93AC-BFDF-943F-1C9D484D4DA6}"/>
              </a:ext>
            </a:extLst>
          </p:cNvPr>
          <p:cNvSpPr txBox="1"/>
          <p:nvPr/>
        </p:nvSpPr>
        <p:spPr>
          <a:xfrm>
            <a:off x="983432" y="2968424"/>
            <a:ext cx="10225136" cy="388568"/>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②</a:t>
            </a:r>
            <a:r>
              <a:rPr lang="en-US" altLang="ja-JP" sz="1400" dirty="0">
                <a:latin typeface="メイリオ" panose="020B0604030504040204" pitchFamily="50" charset="-128"/>
                <a:ea typeface="メイリオ" panose="020B0604030504040204" pitchFamily="50" charset="-128"/>
                <a:cs typeface="Meiryo UI" pitchFamily="50" charset="-128"/>
              </a:rPr>
              <a:t>	</a:t>
            </a:r>
            <a:r>
              <a:rPr lang="ja-JP" altLang="en-US" sz="1400" dirty="0">
                <a:latin typeface="メイリオ" panose="020B0604030504040204" pitchFamily="50" charset="-128"/>
                <a:ea typeface="メイリオ" panose="020B0604030504040204" pitchFamily="50" charset="-128"/>
                <a:cs typeface="Meiryo UI" pitchFamily="50" charset="-128"/>
              </a:rPr>
              <a:t>続いて「</a:t>
            </a:r>
            <a:r>
              <a:rPr lang="en-US" altLang="ja-JP" sz="1400" dirty="0">
                <a:latin typeface="メイリオ" panose="020B0604030504040204" pitchFamily="50" charset="-128"/>
                <a:ea typeface="メイリオ" panose="020B0604030504040204" pitchFamily="50" charset="-128"/>
                <a:cs typeface="Meiryo UI" pitchFamily="50" charset="-128"/>
              </a:rPr>
              <a:t>Value</a:t>
            </a:r>
            <a:r>
              <a:rPr lang="ja-JP" altLang="en-US" sz="1400" dirty="0">
                <a:latin typeface="メイリオ" panose="020B0604030504040204" pitchFamily="50" charset="-128"/>
                <a:ea typeface="メイリオ" panose="020B0604030504040204" pitchFamily="50" charset="-128"/>
                <a:cs typeface="Meiryo UI" pitchFamily="50" charset="-128"/>
              </a:rPr>
              <a:t>」を設定します。設定後「</a:t>
            </a:r>
            <a:r>
              <a:rPr lang="en-US" altLang="ja-JP" sz="1400" dirty="0">
                <a:latin typeface="メイリオ" panose="020B0604030504040204" pitchFamily="50" charset="-128"/>
                <a:ea typeface="メイリオ" panose="020B0604030504040204" pitchFamily="50" charset="-128"/>
                <a:cs typeface="Meiryo UI" pitchFamily="50" charset="-128"/>
              </a:rPr>
              <a:t>+</a:t>
            </a:r>
            <a:r>
              <a:rPr lang="ja-JP" altLang="en-US" sz="1400" dirty="0">
                <a:latin typeface="メイリオ" panose="020B0604030504040204" pitchFamily="50" charset="-128"/>
                <a:ea typeface="メイリオ" panose="020B0604030504040204" pitchFamily="50" charset="-128"/>
                <a:cs typeface="Meiryo UI" pitchFamily="50" charset="-128"/>
              </a:rPr>
              <a:t>」アイコンをクリックします。</a:t>
            </a:r>
          </a:p>
        </p:txBody>
      </p:sp>
      <p:sp>
        <p:nvSpPr>
          <p:cNvPr id="13" name="左中かっこ 12">
            <a:extLst>
              <a:ext uri="{FF2B5EF4-FFF2-40B4-BE49-F238E27FC236}">
                <a16:creationId xmlns:a16="http://schemas.microsoft.com/office/drawing/2014/main" id="{984C7C88-1C3E-2A3B-4AA9-DEDD0C86C670}"/>
              </a:ext>
            </a:extLst>
          </p:cNvPr>
          <p:cNvSpPr/>
          <p:nvPr/>
        </p:nvSpPr>
        <p:spPr>
          <a:xfrm>
            <a:off x="5458102" y="1381566"/>
            <a:ext cx="221772" cy="1397269"/>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4" name="角丸四角形 10">
            <a:extLst>
              <a:ext uri="{FF2B5EF4-FFF2-40B4-BE49-F238E27FC236}">
                <a16:creationId xmlns:a16="http://schemas.microsoft.com/office/drawing/2014/main" id="{CA0B1CDC-0B1D-87E8-4CF1-04E3C973986F}"/>
              </a:ext>
            </a:extLst>
          </p:cNvPr>
          <p:cNvSpPr/>
          <p:nvPr/>
        </p:nvSpPr>
        <p:spPr>
          <a:xfrm>
            <a:off x="3172741" y="3624970"/>
            <a:ext cx="1765499" cy="1310309"/>
          </a:xfrm>
          <a:prstGeom prst="roundRect">
            <a:avLst>
              <a:gd name="adj" fmla="val 3495"/>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15" name="四角形吹き出し 24">
            <a:extLst>
              <a:ext uri="{FF2B5EF4-FFF2-40B4-BE49-F238E27FC236}">
                <a16:creationId xmlns:a16="http://schemas.microsoft.com/office/drawing/2014/main" id="{5183288B-6C96-101C-8127-1A46D0603484}"/>
              </a:ext>
            </a:extLst>
          </p:cNvPr>
          <p:cNvSpPr/>
          <p:nvPr/>
        </p:nvSpPr>
        <p:spPr>
          <a:xfrm>
            <a:off x="4261099" y="4038801"/>
            <a:ext cx="1152128" cy="339080"/>
          </a:xfrm>
          <a:prstGeom prst="wedgeRectCallout">
            <a:avLst>
              <a:gd name="adj1" fmla="val -87288"/>
              <a:gd name="adj2" fmla="val -6717"/>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cs typeface="Meiryo UI" pitchFamily="50" charset="-128"/>
              </a:rPr>
              <a:t>Value</a:t>
            </a:r>
            <a:r>
              <a:rPr lang="ja-JP" altLang="en-US" sz="1200" b="1" dirty="0">
                <a:latin typeface="メイリオ" panose="020B0604030504040204" pitchFamily="50" charset="-128"/>
                <a:ea typeface="メイリオ" panose="020B0604030504040204" pitchFamily="50" charset="-128"/>
                <a:cs typeface="Meiryo UI" pitchFamily="50" charset="-128"/>
              </a:rPr>
              <a:t>の選択</a:t>
            </a:r>
            <a:endParaRPr lang="en-US" altLang="ja-JP" sz="1200" b="1" dirty="0">
              <a:latin typeface="メイリオ" panose="020B0604030504040204" pitchFamily="50" charset="-128"/>
              <a:ea typeface="メイリオ" panose="020B0604030504040204" pitchFamily="50" charset="-128"/>
              <a:cs typeface="Meiryo UI" pitchFamily="50" charset="-128"/>
            </a:endParaRPr>
          </a:p>
        </p:txBody>
      </p:sp>
      <p:sp>
        <p:nvSpPr>
          <p:cNvPr id="18" name="テキスト ボックス 17">
            <a:extLst>
              <a:ext uri="{FF2B5EF4-FFF2-40B4-BE49-F238E27FC236}">
                <a16:creationId xmlns:a16="http://schemas.microsoft.com/office/drawing/2014/main" id="{FFF2A2B9-8F98-4EC1-2223-1C9F3659107A}"/>
              </a:ext>
            </a:extLst>
          </p:cNvPr>
          <p:cNvSpPr txBox="1"/>
          <p:nvPr/>
        </p:nvSpPr>
        <p:spPr>
          <a:xfrm>
            <a:off x="5596916" y="3550284"/>
            <a:ext cx="5251612" cy="1384995"/>
          </a:xfrm>
          <a:prstGeom prst="rect">
            <a:avLst/>
          </a:prstGeom>
          <a:noFill/>
        </p:spPr>
        <p:txBody>
          <a:bodyPr wrap="square" rtlCol="0">
            <a:spAutoFit/>
          </a:bodyPr>
          <a:lstStyle/>
          <a:p>
            <a:pPr marL="182563" indent="-182563" defTabSz="3586163">
              <a:buClr>
                <a:schemeClr val="accent5">
                  <a:lumMod val="75000"/>
                </a:schemeClr>
              </a:buClr>
              <a:tabLst>
                <a:tab pos="182563" algn="l"/>
                <a:tab pos="361950"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選択した</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Type</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により、設定方法が異なります</a:t>
            </a:r>
            <a:endPar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361950"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帳票情報</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作成日</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作成日時</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作成時刻</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ユーザー情報を選択した場合</a:t>
            </a:r>
            <a:endPar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361950" algn="l"/>
              </a:tabLst>
            </a:pPr>
            <a:r>
              <a:rPr lang="en-US" altLang="ja-JP" sz="1200" dirty="0">
                <a:latin typeface="メイリオ" panose="020B0604030504040204" pitchFamily="50" charset="-128"/>
                <a:ea typeface="メイリオ" panose="020B0604030504040204" pitchFamily="50" charset="-128"/>
                <a:cs typeface="Meiryo UI" pitchFamily="50" charset="-128"/>
              </a:rPr>
              <a:t>		</a:t>
            </a:r>
            <a:r>
              <a:rPr lang="ja-JP" altLang="en-US" sz="1200" dirty="0">
                <a:latin typeface="メイリオ" panose="020B0604030504040204" pitchFamily="50" charset="-128"/>
                <a:ea typeface="メイリオ" panose="020B0604030504040204" pitchFamily="50" charset="-128"/>
                <a:cs typeface="Meiryo UI" pitchFamily="50" charset="-128"/>
              </a:rPr>
              <a:t>コンボボックスから選択します</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361950"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ユーザー情報</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クラスター値</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クラスター表示値</a:t>
            </a:r>
            <a:endPar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361950" algn="l"/>
              </a:tabLst>
            </a:pPr>
            <a:r>
              <a:rPr lang="en-US" altLang="ja-JP" sz="1200" dirty="0">
                <a:latin typeface="メイリオ" panose="020B0604030504040204" pitchFamily="50" charset="-128"/>
                <a:ea typeface="メイリオ" panose="020B0604030504040204" pitchFamily="50" charset="-128"/>
                <a:cs typeface="Meiryo UI" pitchFamily="50" charset="-128"/>
              </a:rPr>
              <a:t>	</a:t>
            </a:r>
            <a:r>
              <a:rPr lang="ja-JP" altLang="en-US" sz="1200" dirty="0">
                <a:latin typeface="メイリオ" panose="020B0604030504040204" pitchFamily="50" charset="-128"/>
                <a:ea typeface="メイリオ" panose="020B0604030504040204" pitchFamily="50" charset="-128"/>
                <a:cs typeface="Meiryo UI" pitchFamily="50" charset="-128"/>
              </a:rPr>
              <a:t>クラスターのシート番号及びインデックスを半角数字で入力します</a:t>
            </a:r>
            <a:endParaRPr lang="en-US" altLang="ja-JP" sz="1200" dirty="0">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361950" algn="l"/>
              </a:tabLst>
            </a:pP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a:t>
            </a: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b="1" dirty="0">
                <a:solidFill>
                  <a:srgbClr val="002060"/>
                </a:solidFill>
                <a:latin typeface="メイリオ" panose="020B0604030504040204" pitchFamily="50" charset="-128"/>
                <a:ea typeface="メイリオ" panose="020B0604030504040204" pitchFamily="50" charset="-128"/>
                <a:cs typeface="Meiryo UI" pitchFamily="50" charset="-128"/>
              </a:rPr>
              <a:t>任意文字列</a:t>
            </a:r>
            <a:endPar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endParaRPr>
          </a:p>
          <a:p>
            <a:pPr marL="182563" indent="-182563" defTabSz="3586163">
              <a:buClr>
                <a:schemeClr val="accent5">
                  <a:lumMod val="75000"/>
                </a:schemeClr>
              </a:buClr>
              <a:tabLst>
                <a:tab pos="182563" algn="l"/>
                <a:tab pos="361950" algn="l"/>
              </a:tabLst>
            </a:pPr>
            <a:r>
              <a:rPr lang="en-US" altLang="ja-JP" sz="1200" b="1" dirty="0">
                <a:solidFill>
                  <a:srgbClr val="002060"/>
                </a:solidFill>
                <a:latin typeface="メイリオ" panose="020B0604030504040204" pitchFamily="50" charset="-128"/>
                <a:ea typeface="メイリオ" panose="020B0604030504040204" pitchFamily="50" charset="-128"/>
                <a:cs typeface="Meiryo UI" pitchFamily="50" charset="-128"/>
              </a:rPr>
              <a:t>		</a:t>
            </a:r>
            <a:r>
              <a:rPr lang="ja-JP" altLang="en-US" sz="1200" dirty="0">
                <a:latin typeface="メイリオ" panose="020B0604030504040204" pitchFamily="50" charset="-128"/>
                <a:ea typeface="メイリオ" panose="020B0604030504040204" pitchFamily="50" charset="-128"/>
                <a:cs typeface="Meiryo UI" pitchFamily="50" charset="-128"/>
              </a:rPr>
              <a:t>任意の文字列を入力します</a:t>
            </a:r>
            <a:endParaRPr lang="en-US" altLang="ja-JP" sz="1200" dirty="0">
              <a:latin typeface="メイリオ" panose="020B0604030504040204" pitchFamily="50" charset="-128"/>
              <a:ea typeface="メイリオ" panose="020B0604030504040204" pitchFamily="50" charset="-128"/>
              <a:cs typeface="Meiryo UI" pitchFamily="50" charset="-128"/>
            </a:endParaRPr>
          </a:p>
        </p:txBody>
      </p:sp>
      <p:sp>
        <p:nvSpPr>
          <p:cNvPr id="20" name="左中かっこ 19">
            <a:extLst>
              <a:ext uri="{FF2B5EF4-FFF2-40B4-BE49-F238E27FC236}">
                <a16:creationId xmlns:a16="http://schemas.microsoft.com/office/drawing/2014/main" id="{5EDC5F3B-BDD2-9929-128E-16D3A2F62A2F}"/>
              </a:ext>
            </a:extLst>
          </p:cNvPr>
          <p:cNvSpPr/>
          <p:nvPr/>
        </p:nvSpPr>
        <p:spPr>
          <a:xfrm>
            <a:off x="5410607" y="3598259"/>
            <a:ext cx="221772" cy="121395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1" name="角丸四角形 10">
            <a:extLst>
              <a:ext uri="{FF2B5EF4-FFF2-40B4-BE49-F238E27FC236}">
                <a16:creationId xmlns:a16="http://schemas.microsoft.com/office/drawing/2014/main" id="{793D9D5E-8AB5-C8ED-83D1-479CB83B6292}"/>
              </a:ext>
            </a:extLst>
          </p:cNvPr>
          <p:cNvSpPr/>
          <p:nvPr/>
        </p:nvSpPr>
        <p:spPr>
          <a:xfrm>
            <a:off x="4982595" y="3393016"/>
            <a:ext cx="221772" cy="174627"/>
          </a:xfrm>
          <a:prstGeom prst="roundRect">
            <a:avLst>
              <a:gd name="adj" fmla="val 3495"/>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
        <p:nvSpPr>
          <p:cNvPr id="22" name="線吹き出し 1 (枠付き) 24">
            <a:extLst>
              <a:ext uri="{FF2B5EF4-FFF2-40B4-BE49-F238E27FC236}">
                <a16:creationId xmlns:a16="http://schemas.microsoft.com/office/drawing/2014/main" id="{BAEC064B-18A6-2F46-3C01-5AFE86F00593}"/>
              </a:ext>
            </a:extLst>
          </p:cNvPr>
          <p:cNvSpPr/>
          <p:nvPr/>
        </p:nvSpPr>
        <p:spPr>
          <a:xfrm>
            <a:off x="1343472" y="5157192"/>
            <a:ext cx="9512545" cy="1172217"/>
          </a:xfrm>
          <a:prstGeom prst="rect">
            <a:avLst/>
          </a:prstGeom>
          <a:solidFill>
            <a:srgbClr val="FFFFFF"/>
          </a:solidFill>
          <a:ln>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spAutoFit/>
          </a:bodyPr>
          <a:lstStyle/>
          <a:p>
            <a:pPr defTabSz="4933950">
              <a:tabLst>
                <a:tab pos="271463" algn="l"/>
              </a:tabLst>
            </a:pPr>
            <a:r>
              <a:rPr lang="ja-JP" altLang="en-US" sz="1400" b="1" dirty="0">
                <a:solidFill>
                  <a:schemeClr val="tx1"/>
                </a:solidFill>
                <a:latin typeface="メイリオ" panose="020B0604030504040204" pitchFamily="50" charset="-128"/>
                <a:ea typeface="メイリオ" panose="020B0604030504040204" pitchFamily="50" charset="-128"/>
              </a:rPr>
              <a:t>講習時の操作</a:t>
            </a:r>
            <a:endParaRPr lang="en-US" altLang="ja-JP" sz="1400" b="1"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右表の</a:t>
            </a:r>
            <a:r>
              <a:rPr lang="en-US" altLang="ja-JP" sz="1200" dirty="0">
                <a:solidFill>
                  <a:schemeClr val="tx1"/>
                </a:solidFill>
                <a:latin typeface="メイリオ" panose="020B0604030504040204" pitchFamily="50" charset="-128"/>
                <a:ea typeface="メイリオ" panose="020B0604030504040204" pitchFamily="50" charset="-128"/>
              </a:rPr>
              <a:t>1)</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3)</a:t>
            </a:r>
            <a:r>
              <a:rPr lang="ja-JP" altLang="en-US" sz="1200" dirty="0">
                <a:solidFill>
                  <a:schemeClr val="tx1"/>
                </a:solidFill>
                <a:latin typeface="メイリオ" panose="020B0604030504040204" pitchFamily="50" charset="-128"/>
                <a:ea typeface="メイリオ" panose="020B0604030504040204" pitchFamily="50" charset="-128"/>
              </a:rPr>
              <a:t>の順に設定します。</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操作手順は上記①→②の順です。</a:t>
            </a: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endParaRPr lang="en-US" altLang="ja-JP" sz="1200" dirty="0">
              <a:solidFill>
                <a:schemeClr val="tx1"/>
              </a:solidFill>
              <a:latin typeface="メイリオ" panose="020B0604030504040204" pitchFamily="50" charset="-128"/>
              <a:ea typeface="メイリオ" panose="020B0604030504040204" pitchFamily="50" charset="-128"/>
            </a:endParaRPr>
          </a:p>
        </p:txBody>
      </p:sp>
      <p:graphicFrame>
        <p:nvGraphicFramePr>
          <p:cNvPr id="29" name="表 28">
            <a:extLst>
              <a:ext uri="{FF2B5EF4-FFF2-40B4-BE49-F238E27FC236}">
                <a16:creationId xmlns:a16="http://schemas.microsoft.com/office/drawing/2014/main" id="{9BCC17C0-F928-0D2F-501E-4DCB618A449E}"/>
              </a:ext>
            </a:extLst>
          </p:cNvPr>
          <p:cNvGraphicFramePr>
            <a:graphicFrameLocks noGrp="1"/>
          </p:cNvGraphicFramePr>
          <p:nvPr>
            <p:extLst>
              <p:ext uri="{D42A27DB-BD31-4B8C-83A1-F6EECF244321}">
                <p14:modId xmlns:p14="http://schemas.microsoft.com/office/powerpoint/2010/main" val="2974407266"/>
              </p:ext>
            </p:extLst>
          </p:nvPr>
        </p:nvGraphicFramePr>
        <p:xfrm>
          <a:off x="4769038" y="5317684"/>
          <a:ext cx="5889601" cy="883920"/>
        </p:xfrm>
        <a:graphic>
          <a:graphicData uri="http://schemas.openxmlformats.org/drawingml/2006/table">
            <a:tbl>
              <a:tblPr/>
              <a:tblGrid>
                <a:gridCol w="462866">
                  <a:extLst>
                    <a:ext uri="{9D8B030D-6E8A-4147-A177-3AD203B41FA5}">
                      <a16:colId xmlns:a16="http://schemas.microsoft.com/office/drawing/2014/main" val="2263000751"/>
                    </a:ext>
                  </a:extLst>
                </a:gridCol>
                <a:gridCol w="1512168">
                  <a:extLst>
                    <a:ext uri="{9D8B030D-6E8A-4147-A177-3AD203B41FA5}">
                      <a16:colId xmlns:a16="http://schemas.microsoft.com/office/drawing/2014/main" val="1790698573"/>
                    </a:ext>
                  </a:extLst>
                </a:gridCol>
                <a:gridCol w="3914567">
                  <a:extLst>
                    <a:ext uri="{9D8B030D-6E8A-4147-A177-3AD203B41FA5}">
                      <a16:colId xmlns:a16="http://schemas.microsoft.com/office/drawing/2014/main" val="3862328976"/>
                    </a:ext>
                  </a:extLst>
                </a:gridCol>
              </a:tblGrid>
              <a:tr h="220980">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設定</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sz="1200" b="0" i="0" u="none" strike="noStrike" dirty="0">
                          <a:solidFill>
                            <a:srgbClr val="000000"/>
                          </a:solidFill>
                          <a:effectLst/>
                          <a:latin typeface="メイリオ" panose="020B0604030504040204" pitchFamily="50" charset="-128"/>
                          <a:ea typeface="メイリオ" panose="020B0604030504040204" pitchFamily="50" charset="-128"/>
                        </a:rPr>
                        <a:t> Type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sz="1200" b="0" i="0" u="none" strike="noStrike" dirty="0">
                          <a:solidFill>
                            <a:srgbClr val="000000"/>
                          </a:solidFill>
                          <a:effectLst/>
                          <a:latin typeface="メイリオ" panose="020B0604030504040204" pitchFamily="50" charset="-128"/>
                          <a:ea typeface="メイリオ" panose="020B0604030504040204" pitchFamily="50" charset="-128"/>
                        </a:rPr>
                        <a:t>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12380632"/>
                  </a:ext>
                </a:extLst>
              </a:tr>
              <a:tr h="220980">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１）</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作成日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任意の値を選択</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6714177"/>
                  </a:ext>
                </a:extLst>
              </a:tr>
              <a:tr h="220980">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２）</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帳票情報</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200" b="0" i="0" u="none" strike="noStrike" dirty="0">
                          <a:solidFill>
                            <a:srgbClr val="000000"/>
                          </a:solidFill>
                          <a:effectLst/>
                          <a:latin typeface="メイリオ" panose="020B0604030504040204" pitchFamily="50" charset="-128"/>
                          <a:ea typeface="メイリオ" panose="020B0604030504040204" pitchFamily="50" charset="-128"/>
                        </a:rPr>
                        <a:t> 帳票定義名称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3214223"/>
                  </a:ext>
                </a:extLst>
              </a:tr>
              <a:tr h="220980">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３）</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クラスター値</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 1,0</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 と入力　（シート</a:t>
                      </a: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クラスター</a:t>
                      </a: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index</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）となります。</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0904263"/>
                  </a:ext>
                </a:extLst>
              </a:tr>
            </a:tbl>
          </a:graphicData>
        </a:graphic>
      </p:graphicFrame>
    </p:spTree>
    <p:custDataLst>
      <p:tags r:id="rId1"/>
    </p:custDataLst>
    <p:extLst>
      <p:ext uri="{BB962C8B-B14F-4D97-AF65-F5344CB8AC3E}">
        <p14:creationId xmlns:p14="http://schemas.microsoft.com/office/powerpoint/2010/main" val="3801654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9E7EDB53-DF6F-B447-055B-2E4196BF6301}"/>
              </a:ext>
            </a:extLst>
          </p:cNvPr>
          <p:cNvPicPr>
            <a:picLocks noChangeAspect="1"/>
          </p:cNvPicPr>
          <p:nvPr/>
        </p:nvPicPr>
        <p:blipFill>
          <a:blip r:embed="rId4"/>
          <a:stretch>
            <a:fillRect/>
          </a:stretch>
        </p:blipFill>
        <p:spPr>
          <a:xfrm>
            <a:off x="1317864" y="1737905"/>
            <a:ext cx="3250146" cy="2516760"/>
          </a:xfrm>
          <a:prstGeom prst="rect">
            <a:avLst/>
          </a:prstGeom>
          <a:ln>
            <a:solidFill>
              <a:schemeClr val="tx1"/>
            </a:solidFill>
          </a:ln>
        </p:spPr>
      </p:pic>
      <p:pic>
        <p:nvPicPr>
          <p:cNvPr id="5" name="図 4">
            <a:extLst>
              <a:ext uri="{FF2B5EF4-FFF2-40B4-BE49-F238E27FC236}">
                <a16:creationId xmlns:a16="http://schemas.microsoft.com/office/drawing/2014/main" id="{5194B993-5943-CDDC-91FD-6823D37E80FD}"/>
              </a:ext>
            </a:extLst>
          </p:cNvPr>
          <p:cNvPicPr>
            <a:picLocks noChangeAspect="1"/>
          </p:cNvPicPr>
          <p:nvPr/>
        </p:nvPicPr>
        <p:blipFill rotWithShape="1">
          <a:blip r:embed="rId5"/>
          <a:srcRect r="17919"/>
          <a:stretch/>
        </p:blipFill>
        <p:spPr>
          <a:xfrm>
            <a:off x="7693906" y="1545492"/>
            <a:ext cx="3162111" cy="1544399"/>
          </a:xfrm>
          <a:prstGeom prst="rect">
            <a:avLst/>
          </a:prstGeom>
          <a:ln>
            <a:solidFill>
              <a:schemeClr val="tx1"/>
            </a:solidFill>
          </a:ln>
        </p:spPr>
      </p:pic>
      <p:sp>
        <p:nvSpPr>
          <p:cNvPr id="16" name="角丸四角形 10">
            <a:extLst>
              <a:ext uri="{FF2B5EF4-FFF2-40B4-BE49-F238E27FC236}">
                <a16:creationId xmlns:a16="http://schemas.microsoft.com/office/drawing/2014/main" id="{EDECA665-E542-44DA-BB80-7D419E7CA168}"/>
              </a:ext>
            </a:extLst>
          </p:cNvPr>
          <p:cNvSpPr/>
          <p:nvPr/>
        </p:nvSpPr>
        <p:spPr>
          <a:xfrm>
            <a:off x="3215680" y="4005063"/>
            <a:ext cx="648072" cy="249604"/>
          </a:xfrm>
          <a:prstGeom prst="roundRect">
            <a:avLst>
              <a:gd name="adj" fmla="val 8632"/>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cxnSp>
        <p:nvCxnSpPr>
          <p:cNvPr id="17" name="曲線コネクタ 20">
            <a:extLst>
              <a:ext uri="{FF2B5EF4-FFF2-40B4-BE49-F238E27FC236}">
                <a16:creationId xmlns:a16="http://schemas.microsoft.com/office/drawing/2014/main" id="{23E92BF5-9F4B-4AEF-B98B-A4011B731834}"/>
              </a:ext>
            </a:extLst>
          </p:cNvPr>
          <p:cNvCxnSpPr>
            <a:cxnSpLocks/>
            <a:stCxn id="16" idx="2"/>
            <a:endCxn id="15" idx="1"/>
          </p:cNvCxnSpPr>
          <p:nvPr/>
        </p:nvCxnSpPr>
        <p:spPr>
          <a:xfrm rot="16200000" flipH="1">
            <a:off x="3478427" y="4315956"/>
            <a:ext cx="878663" cy="756084"/>
          </a:xfrm>
          <a:prstGeom prst="curvedConnector2">
            <a:avLst/>
          </a:prstGeom>
          <a:ln w="38100">
            <a:solidFill>
              <a:srgbClr val="C00000"/>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00427365-8433-EA32-53F7-76F577A8A32F}"/>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帳票名称自動作成　設定手順</a:t>
            </a: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　③登録と確認</a:t>
            </a:r>
            <a:endParaRPr lang="en-US" altLang="ja-JP"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CB438A1C-5C3B-4A2C-D250-DD1E240501FE}"/>
              </a:ext>
            </a:extLst>
          </p:cNvPr>
          <p:cNvSpPr txBox="1"/>
          <p:nvPr/>
        </p:nvSpPr>
        <p:spPr>
          <a:xfrm>
            <a:off x="983432" y="836712"/>
            <a:ext cx="10225136" cy="711733"/>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設定画面の［</a:t>
            </a:r>
            <a:r>
              <a:rPr lang="en-US" altLang="ja-JP" sz="1400" dirty="0">
                <a:latin typeface="メイリオ" panose="020B0604030504040204" pitchFamily="50" charset="-128"/>
                <a:ea typeface="メイリオ" panose="020B0604030504040204" pitchFamily="50" charset="-128"/>
                <a:cs typeface="Meiryo UI" pitchFamily="50" charset="-128"/>
              </a:rPr>
              <a:t>OK</a:t>
            </a:r>
            <a:r>
              <a:rPr lang="ja-JP" altLang="en-US" sz="1400" dirty="0">
                <a:latin typeface="メイリオ" panose="020B0604030504040204" pitchFamily="50" charset="-128"/>
                <a:ea typeface="メイリオ" panose="020B0604030504040204" pitchFamily="50" charset="-128"/>
                <a:cs typeface="Meiryo UI" pitchFamily="50" charset="-128"/>
              </a:rPr>
              <a:t>」をクリックして閉じます。プレビューに設定内容が表示されます。</a:t>
            </a:r>
          </a:p>
          <a:p>
            <a:pPr marL="269875" indent="-269875" defTabSz="8340725">
              <a:lnSpc>
                <a:spcPct val="150000"/>
              </a:lnSpc>
              <a:buClr>
                <a:schemeClr val="accent5">
                  <a:lumMod val="75000"/>
                </a:schemeClr>
              </a:buClr>
              <a:tabLst>
                <a:tab pos="269875" algn="l"/>
                <a:tab pos="541338" algn="l"/>
              </a:tabLst>
            </a:pPr>
            <a:r>
              <a:rPr lang="en-US" altLang="ja-JP" sz="1400" dirty="0">
                <a:latin typeface="メイリオ" panose="020B0604030504040204" pitchFamily="50" charset="-128"/>
                <a:ea typeface="メイリオ" panose="020B0604030504040204" pitchFamily="50" charset="-128"/>
                <a:cs typeface="Meiryo UI" pitchFamily="50" charset="-128"/>
              </a:rPr>
              <a:t>※	</a:t>
            </a:r>
            <a:r>
              <a:rPr lang="ja-JP" altLang="en-US" sz="1400" dirty="0">
                <a:latin typeface="メイリオ" panose="020B0604030504040204" pitchFamily="50" charset="-128"/>
                <a:ea typeface="メイリオ" panose="020B0604030504040204" pitchFamily="50" charset="-128"/>
                <a:cs typeface="Meiryo UI" pitchFamily="50" charset="-128"/>
              </a:rPr>
              <a:t>設定内容はサーバーに帳票定義を保存する事で保存されます。</a:t>
            </a:r>
          </a:p>
        </p:txBody>
      </p:sp>
      <p:sp>
        <p:nvSpPr>
          <p:cNvPr id="22" name="線吹き出し 1 (枠付き) 24">
            <a:extLst>
              <a:ext uri="{FF2B5EF4-FFF2-40B4-BE49-F238E27FC236}">
                <a16:creationId xmlns:a16="http://schemas.microsoft.com/office/drawing/2014/main" id="{06063F8B-3D09-55FB-4780-F23003F6F1F4}"/>
              </a:ext>
            </a:extLst>
          </p:cNvPr>
          <p:cNvSpPr/>
          <p:nvPr/>
        </p:nvSpPr>
        <p:spPr>
          <a:xfrm>
            <a:off x="1343472" y="5589240"/>
            <a:ext cx="9512545" cy="618219"/>
          </a:xfrm>
          <a:prstGeom prst="rect">
            <a:avLst/>
          </a:prstGeom>
          <a:solidFill>
            <a:srgbClr val="FFFFFF"/>
          </a:solidFill>
          <a:ln>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spAutoFit/>
          </a:bodyPr>
          <a:lstStyle/>
          <a:p>
            <a:pPr defTabSz="4933950">
              <a:tabLst>
                <a:tab pos="271463" algn="l"/>
              </a:tabLst>
            </a:pPr>
            <a:r>
              <a:rPr lang="ja-JP" altLang="en-US" sz="1400" b="1" dirty="0">
                <a:solidFill>
                  <a:schemeClr val="tx1"/>
                </a:solidFill>
                <a:latin typeface="メイリオ" panose="020B0604030504040204" pitchFamily="50" charset="-128"/>
                <a:ea typeface="メイリオ" panose="020B0604030504040204" pitchFamily="50" charset="-128"/>
              </a:rPr>
              <a:t>講習時の操作</a:t>
            </a:r>
            <a:endParaRPr lang="en-US" altLang="ja-JP" sz="1400" b="1" dirty="0">
              <a:solidFill>
                <a:schemeClr val="tx1"/>
              </a:solidFill>
              <a:latin typeface="メイリオ" panose="020B0604030504040204" pitchFamily="50" charset="-128"/>
              <a:ea typeface="メイリオ" panose="020B0604030504040204" pitchFamily="50" charset="-128"/>
            </a:endParaRPr>
          </a:p>
          <a:p>
            <a:pPr defTabSz="4933950">
              <a:tabLst>
                <a:tab pos="271463" algn="l"/>
              </a:tabLst>
            </a:pP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上記の操作を行って、設定を完了します。</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7" name="四角形吹き出し 24">
            <a:extLst>
              <a:ext uri="{FF2B5EF4-FFF2-40B4-BE49-F238E27FC236}">
                <a16:creationId xmlns:a16="http://schemas.microsoft.com/office/drawing/2014/main" id="{21630458-C239-4845-E8E1-EE3318B95A63}"/>
              </a:ext>
            </a:extLst>
          </p:cNvPr>
          <p:cNvSpPr/>
          <p:nvPr/>
        </p:nvSpPr>
        <p:spPr>
          <a:xfrm>
            <a:off x="5072624" y="1793332"/>
            <a:ext cx="2334783" cy="476398"/>
          </a:xfrm>
          <a:prstGeom prst="wedgeRectCallout">
            <a:avLst>
              <a:gd name="adj1" fmla="val 58979"/>
              <a:gd name="adj2" fmla="val 34413"/>
            </a:avLst>
          </a:prstGeom>
          <a:solidFill>
            <a:schemeClr val="accent5">
              <a:lumMod val="50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cs typeface="Meiryo UI" pitchFamily="50" charset="-128"/>
              </a:rPr>
              <a:t>クラスター一覧から</a:t>
            </a:r>
            <a:endParaRPr lang="en-US" altLang="ja-JP" sz="1200" b="1" dirty="0">
              <a:latin typeface="メイリオ" panose="020B0604030504040204" pitchFamily="50" charset="-128"/>
              <a:ea typeface="メイリオ" panose="020B0604030504040204" pitchFamily="50" charset="-128"/>
              <a:cs typeface="Meiryo UI" pitchFamily="50" charset="-128"/>
            </a:endParaRPr>
          </a:p>
          <a:p>
            <a:pPr algn="ctr"/>
            <a:r>
              <a:rPr lang="en-US" altLang="ja-JP" sz="1200" b="1" dirty="0">
                <a:latin typeface="メイリオ" panose="020B0604030504040204" pitchFamily="50" charset="-128"/>
                <a:ea typeface="メイリオ" panose="020B0604030504040204" pitchFamily="50" charset="-128"/>
                <a:cs typeface="Meiryo UI" pitchFamily="50" charset="-128"/>
              </a:rPr>
              <a:t>Index</a:t>
            </a:r>
            <a:r>
              <a:rPr lang="ja-JP" altLang="en-US" sz="1200" b="1" dirty="0">
                <a:latin typeface="メイリオ" panose="020B0604030504040204" pitchFamily="50" charset="-128"/>
                <a:ea typeface="メイリオ" panose="020B0604030504040204" pitchFamily="50" charset="-128"/>
                <a:cs typeface="Meiryo UI" pitchFamily="50" charset="-128"/>
              </a:rPr>
              <a:t>を確認できます。</a:t>
            </a:r>
            <a:endParaRPr lang="en-US" altLang="ja-JP" sz="1200" b="1" dirty="0">
              <a:latin typeface="メイリオ" panose="020B0604030504040204" pitchFamily="50" charset="-128"/>
              <a:ea typeface="メイリオ" panose="020B0604030504040204" pitchFamily="50" charset="-128"/>
              <a:cs typeface="Meiryo UI" pitchFamily="50" charset="-128"/>
            </a:endParaRPr>
          </a:p>
        </p:txBody>
      </p:sp>
      <p:sp>
        <p:nvSpPr>
          <p:cNvPr id="11" name="角丸四角形 10">
            <a:extLst>
              <a:ext uri="{FF2B5EF4-FFF2-40B4-BE49-F238E27FC236}">
                <a16:creationId xmlns:a16="http://schemas.microsoft.com/office/drawing/2014/main" id="{2C746B1A-F188-F3DC-A309-BD7F49910E6C}"/>
              </a:ext>
            </a:extLst>
          </p:cNvPr>
          <p:cNvSpPr/>
          <p:nvPr/>
        </p:nvSpPr>
        <p:spPr>
          <a:xfrm>
            <a:off x="7673587" y="1573772"/>
            <a:ext cx="404276" cy="1516119"/>
          </a:xfrm>
          <a:prstGeom prst="roundRect">
            <a:avLst>
              <a:gd name="adj" fmla="val 8632"/>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pic>
        <p:nvPicPr>
          <p:cNvPr id="6" name="図 5" descr="グラフィカル ユーザー インターフェイス&#10;&#10;AI 生成コンテンツは誤りを含む可能性があります。">
            <a:extLst>
              <a:ext uri="{FF2B5EF4-FFF2-40B4-BE49-F238E27FC236}">
                <a16:creationId xmlns:a16="http://schemas.microsoft.com/office/drawing/2014/main" id="{2200C4A2-0F16-0CD1-42EA-44E4A22252C0}"/>
              </a:ext>
            </a:extLst>
          </p:cNvPr>
          <p:cNvPicPr>
            <a:picLocks noChangeAspect="1"/>
          </p:cNvPicPr>
          <p:nvPr/>
        </p:nvPicPr>
        <p:blipFill>
          <a:blip r:embed="rId6"/>
          <a:stretch>
            <a:fillRect/>
          </a:stretch>
        </p:blipFill>
        <p:spPr>
          <a:xfrm>
            <a:off x="4266316" y="3545801"/>
            <a:ext cx="6589701" cy="1888924"/>
          </a:xfrm>
          <a:prstGeom prst="rect">
            <a:avLst/>
          </a:prstGeom>
        </p:spPr>
      </p:pic>
      <p:sp>
        <p:nvSpPr>
          <p:cNvPr id="15" name="角丸四角形 10">
            <a:extLst>
              <a:ext uri="{FF2B5EF4-FFF2-40B4-BE49-F238E27FC236}">
                <a16:creationId xmlns:a16="http://schemas.microsoft.com/office/drawing/2014/main" id="{C49EBD58-D517-480B-926C-4F4A36547525}"/>
              </a:ext>
            </a:extLst>
          </p:cNvPr>
          <p:cNvSpPr/>
          <p:nvPr/>
        </p:nvSpPr>
        <p:spPr>
          <a:xfrm>
            <a:off x="4295800" y="4856496"/>
            <a:ext cx="6120680" cy="553668"/>
          </a:xfrm>
          <a:prstGeom prst="roundRect">
            <a:avLst>
              <a:gd name="adj" fmla="val 8632"/>
            </a:avLst>
          </a:prstGeom>
          <a:noFill/>
          <a:ln w="38100">
            <a:solidFill>
              <a:srgbClr val="C00000"/>
            </a:solidFill>
            <a:prstDash val="sysDot"/>
          </a:ln>
          <a:effectLst>
            <a:glow rad="50800">
              <a:schemeClr val="bg1">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メイリオ" panose="020B0604030504040204" pitchFamily="50" charset="-128"/>
              <a:ea typeface="メイリオ" panose="020B0604030504040204" pitchFamily="50" charset="-128"/>
            </a:endParaRPr>
          </a:p>
        </p:txBody>
      </p:sp>
    </p:spTree>
    <p:custDataLst>
      <p:tags r:id="rId1"/>
    </p:custDataLst>
    <p:extLst>
      <p:ext uri="{BB962C8B-B14F-4D97-AF65-F5344CB8AC3E}">
        <p14:creationId xmlns:p14="http://schemas.microsoft.com/office/powerpoint/2010/main" val="528577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5E589F7A-2188-57D6-5C63-81DBE9DA15D7}"/>
              </a:ext>
            </a:extLst>
          </p:cNvPr>
          <p:cNvPicPr>
            <a:picLocks noChangeAspect="1"/>
          </p:cNvPicPr>
          <p:nvPr/>
        </p:nvPicPr>
        <p:blipFill>
          <a:blip r:embed="rId4"/>
          <a:stretch>
            <a:fillRect/>
          </a:stretch>
        </p:blipFill>
        <p:spPr>
          <a:xfrm>
            <a:off x="2205165" y="1840523"/>
            <a:ext cx="6510816" cy="4293693"/>
          </a:xfrm>
          <a:prstGeom prst="rect">
            <a:avLst/>
          </a:prstGeom>
          <a:ln>
            <a:solidFill>
              <a:schemeClr val="tx1"/>
            </a:solidFill>
          </a:ln>
        </p:spPr>
      </p:pic>
      <p:sp>
        <p:nvSpPr>
          <p:cNvPr id="2" name="テキスト ボックス 1">
            <a:extLst>
              <a:ext uri="{FF2B5EF4-FFF2-40B4-BE49-F238E27FC236}">
                <a16:creationId xmlns:a16="http://schemas.microsoft.com/office/drawing/2014/main" id="{6560A95C-2378-4FD0-6408-7344B11C61C2}"/>
              </a:ext>
            </a:extLst>
          </p:cNvPr>
          <p:cNvSpPr txBox="1"/>
          <p:nvPr/>
        </p:nvSpPr>
        <p:spPr>
          <a:xfrm>
            <a:off x="983432" y="836712"/>
            <a:ext cx="10225136" cy="1034899"/>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①	メインメニューの「公開する」をクリックします。</a:t>
            </a: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②	編集画面がアプリ起動時の状態に戻れば、登録完了です。</a:t>
            </a: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	</a:t>
            </a:r>
            <a:r>
              <a:rPr lang="en-US" altLang="ja-JP" sz="1400" dirty="0">
                <a:latin typeface="メイリオ" panose="020B0604030504040204" pitchFamily="50" charset="-128"/>
                <a:ea typeface="メイリオ" panose="020B0604030504040204" pitchFamily="50" charset="-128"/>
                <a:cs typeface="Meiryo UI" pitchFamily="50" charset="-128"/>
              </a:rPr>
              <a:t>※	</a:t>
            </a:r>
            <a:r>
              <a:rPr lang="ja-JP" altLang="en-US" sz="1400" dirty="0">
                <a:latin typeface="メイリオ" panose="020B0604030504040204" pitchFamily="50" charset="-128"/>
                <a:ea typeface="メイリオ" panose="020B0604030504040204" pitchFamily="50" charset="-128"/>
                <a:cs typeface="Meiryo UI" pitchFamily="50" charset="-128"/>
              </a:rPr>
              <a:t>設定内容に不備がある場合は、登録できずエラーメッセージが表示されます。内容を確認して修正を行ってください。</a:t>
            </a:r>
          </a:p>
        </p:txBody>
      </p:sp>
      <p:sp>
        <p:nvSpPr>
          <p:cNvPr id="7" name="テキスト ボックス 6">
            <a:extLst>
              <a:ext uri="{FF2B5EF4-FFF2-40B4-BE49-F238E27FC236}">
                <a16:creationId xmlns:a16="http://schemas.microsoft.com/office/drawing/2014/main" id="{0DB6085D-F8A6-B839-86C2-F4D81FD86150}"/>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帳票定義の公開</a:t>
            </a:r>
          </a:p>
        </p:txBody>
      </p:sp>
      <p:pic>
        <p:nvPicPr>
          <p:cNvPr id="4" name="図 3">
            <a:extLst>
              <a:ext uri="{FF2B5EF4-FFF2-40B4-BE49-F238E27FC236}">
                <a16:creationId xmlns:a16="http://schemas.microsoft.com/office/drawing/2014/main" id="{88B516AB-B2C5-4BBB-99FE-A4C08D919902}"/>
              </a:ext>
            </a:extLst>
          </p:cNvPr>
          <p:cNvPicPr>
            <a:picLocks noChangeAspect="1"/>
          </p:cNvPicPr>
          <p:nvPr/>
        </p:nvPicPr>
        <p:blipFill>
          <a:blip r:embed="rId5"/>
          <a:stretch>
            <a:fillRect/>
          </a:stretch>
        </p:blipFill>
        <p:spPr>
          <a:xfrm>
            <a:off x="7004887" y="3807449"/>
            <a:ext cx="3830983" cy="2357882"/>
          </a:xfrm>
          <a:prstGeom prst="rect">
            <a:avLst/>
          </a:prstGeom>
          <a:ln>
            <a:solidFill>
              <a:schemeClr val="tx1"/>
            </a:solidFill>
          </a:ln>
        </p:spPr>
      </p:pic>
      <p:cxnSp>
        <p:nvCxnSpPr>
          <p:cNvPr id="19" name="曲線コネクタ 28">
            <a:extLst>
              <a:ext uri="{FF2B5EF4-FFF2-40B4-BE49-F238E27FC236}">
                <a16:creationId xmlns:a16="http://schemas.microsoft.com/office/drawing/2014/main" id="{9A91AB81-A38F-40DE-997F-6A0F107F15DA}"/>
              </a:ext>
            </a:extLst>
          </p:cNvPr>
          <p:cNvCxnSpPr>
            <a:cxnSpLocks/>
            <a:stCxn id="24" idx="2"/>
            <a:endCxn id="4" idx="0"/>
          </p:cNvCxnSpPr>
          <p:nvPr/>
        </p:nvCxnSpPr>
        <p:spPr>
          <a:xfrm rot="16200000" flipH="1">
            <a:off x="7604133" y="2491203"/>
            <a:ext cx="533124" cy="2099368"/>
          </a:xfrm>
          <a:prstGeom prst="curvedConnector3">
            <a:avLst>
              <a:gd name="adj1" fmla="val 50000"/>
            </a:avLst>
          </a:prstGeom>
          <a:ln w="38100">
            <a:solidFill>
              <a:srgbClr val="FF0000"/>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a16="http://schemas.microsoft.com/office/drawing/2014/main" id="{12266B78-0101-A4AD-0BA0-9B2E865253C4}"/>
              </a:ext>
            </a:extLst>
          </p:cNvPr>
          <p:cNvGrpSpPr/>
          <p:nvPr/>
        </p:nvGrpSpPr>
        <p:grpSpPr>
          <a:xfrm>
            <a:off x="4223793" y="2409781"/>
            <a:ext cx="3985203" cy="931281"/>
            <a:chOff x="4223793" y="2409781"/>
            <a:chExt cx="3985203" cy="931281"/>
          </a:xfrm>
        </p:grpSpPr>
        <p:sp>
          <p:nvSpPr>
            <p:cNvPr id="6" name="角丸四角形 5"/>
            <p:cNvSpPr/>
            <p:nvPr/>
          </p:nvSpPr>
          <p:spPr>
            <a:xfrm>
              <a:off x="4223793" y="2409781"/>
              <a:ext cx="1296144" cy="186990"/>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5" name="図 4">
              <a:extLst>
                <a:ext uri="{FF2B5EF4-FFF2-40B4-BE49-F238E27FC236}">
                  <a16:creationId xmlns:a16="http://schemas.microsoft.com/office/drawing/2014/main" id="{15696852-772C-4351-B7C9-23633D7ECD1E}"/>
                </a:ext>
              </a:extLst>
            </p:cNvPr>
            <p:cNvPicPr>
              <a:picLocks noChangeAspect="1"/>
            </p:cNvPicPr>
            <p:nvPr/>
          </p:nvPicPr>
          <p:blipFill>
            <a:blip r:embed="rId6"/>
            <a:stretch>
              <a:fillRect/>
            </a:stretch>
          </p:blipFill>
          <p:spPr>
            <a:xfrm>
              <a:off x="4439108" y="2928101"/>
              <a:ext cx="3728797" cy="412961"/>
            </a:xfrm>
            <a:prstGeom prst="rect">
              <a:avLst/>
            </a:prstGeom>
            <a:ln w="38100">
              <a:solidFill>
                <a:srgbClr val="FF0000"/>
              </a:solidFill>
              <a:prstDash val="sysDot"/>
            </a:ln>
            <a:effectLst>
              <a:glow rad="63500">
                <a:schemeClr val="bg1">
                  <a:alpha val="50000"/>
                </a:schemeClr>
              </a:glow>
            </a:effectLst>
          </p:spPr>
        </p:pic>
        <p:grpSp>
          <p:nvGrpSpPr>
            <p:cNvPr id="29" name="グループ化 28">
              <a:extLst>
                <a:ext uri="{FF2B5EF4-FFF2-40B4-BE49-F238E27FC236}">
                  <a16:creationId xmlns:a16="http://schemas.microsoft.com/office/drawing/2014/main" id="{29828426-50F9-40A6-B797-FB2E86633313}"/>
                </a:ext>
              </a:extLst>
            </p:cNvPr>
            <p:cNvGrpSpPr/>
            <p:nvPr/>
          </p:nvGrpSpPr>
          <p:grpSpPr>
            <a:xfrm>
              <a:off x="4223793" y="2439591"/>
              <a:ext cx="3985203" cy="901471"/>
              <a:chOff x="2655944" y="2690465"/>
              <a:chExt cx="3985203" cy="901471"/>
            </a:xfrm>
          </p:grpSpPr>
          <p:cxnSp>
            <p:nvCxnSpPr>
              <p:cNvPr id="22" name="直線コネクタ 21">
                <a:extLst>
                  <a:ext uri="{FF2B5EF4-FFF2-40B4-BE49-F238E27FC236}">
                    <a16:creationId xmlns:a16="http://schemas.microsoft.com/office/drawing/2014/main" id="{C3C03361-6EB9-4182-8024-DD4CC29658CF}"/>
                  </a:ext>
                </a:extLst>
              </p:cNvPr>
              <p:cNvCxnSpPr>
                <a:cxnSpLocks/>
              </p:cNvCxnSpPr>
              <p:nvPr/>
            </p:nvCxnSpPr>
            <p:spPr>
              <a:xfrm>
                <a:off x="4023387" y="2690465"/>
                <a:ext cx="2617760" cy="486537"/>
              </a:xfrm>
              <a:prstGeom prst="line">
                <a:avLst/>
              </a:prstGeom>
              <a:ln w="38100">
                <a:solidFill>
                  <a:srgbClr val="FF0000"/>
                </a:solidFill>
                <a:prstDash val="sysDot"/>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62EE86BF-781F-4D68-8BC6-C51729A2DB26}"/>
                  </a:ext>
                </a:extLst>
              </p:cNvPr>
              <p:cNvCxnSpPr>
                <a:cxnSpLocks/>
              </p:cNvCxnSpPr>
              <p:nvPr/>
            </p:nvCxnSpPr>
            <p:spPr>
              <a:xfrm>
                <a:off x="2655944" y="2847645"/>
                <a:ext cx="215315" cy="744291"/>
              </a:xfrm>
              <a:prstGeom prst="line">
                <a:avLst/>
              </a:prstGeom>
              <a:ln w="38100">
                <a:solidFill>
                  <a:srgbClr val="FF0000"/>
                </a:solidFill>
                <a:prstDash val="sysDot"/>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grpSp>
        <p:sp>
          <p:nvSpPr>
            <p:cNvPr id="24" name="角丸四角形 5">
              <a:extLst>
                <a:ext uri="{FF2B5EF4-FFF2-40B4-BE49-F238E27FC236}">
                  <a16:creationId xmlns:a16="http://schemas.microsoft.com/office/drawing/2014/main" id="{F517BD84-9517-4F95-8577-3B0326DB180D}"/>
                </a:ext>
              </a:extLst>
            </p:cNvPr>
            <p:cNvSpPr/>
            <p:nvPr/>
          </p:nvSpPr>
          <p:spPr>
            <a:xfrm>
              <a:off x="6410220" y="2995901"/>
              <a:ext cx="821581" cy="278424"/>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spTree>
    <p:custDataLst>
      <p:tags r:id="rId1"/>
    </p:custDataLst>
    <p:extLst>
      <p:ext uri="{BB962C8B-B14F-4D97-AF65-F5344CB8AC3E}">
        <p14:creationId xmlns:p14="http://schemas.microsoft.com/office/powerpoint/2010/main" val="3905621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79CDC-1942-97BA-9229-F79A83AAEB2A}"/>
            </a:ext>
          </a:extLst>
        </p:cNvPr>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D00F44E6-53EB-F847-3074-1A983DF031AE}"/>
              </a:ext>
            </a:extLst>
          </p:cNvPr>
          <p:cNvCxnSpPr/>
          <p:nvPr/>
        </p:nvCxnSpPr>
        <p:spPr>
          <a:xfrm>
            <a:off x="335360" y="3262672"/>
            <a:ext cx="11521280" cy="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9D0BDE4E-86ED-5915-9EAF-B7F7A26CC916}"/>
              </a:ext>
            </a:extLst>
          </p:cNvPr>
          <p:cNvSpPr/>
          <p:nvPr/>
        </p:nvSpPr>
        <p:spPr>
          <a:xfrm>
            <a:off x="263352" y="2636913"/>
            <a:ext cx="8640960" cy="646331"/>
          </a:xfrm>
          <a:prstGeom prst="rect">
            <a:avLst/>
          </a:prstGeom>
        </p:spPr>
        <p:txBody>
          <a:bodyPr wrap="square">
            <a:spAutoFit/>
          </a:bodyPr>
          <a:lstStyle/>
          <a:p>
            <a:r>
              <a:rPr lang="ja-JP" altLang="en-US"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入力帳票の作成</a:t>
            </a:r>
            <a:endParaRPr lang="en-US" altLang="ja-JP" sz="3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ustDataLst>
      <p:tags r:id="rId1"/>
    </p:custDataLst>
    <p:extLst>
      <p:ext uri="{BB962C8B-B14F-4D97-AF65-F5344CB8AC3E}">
        <p14:creationId xmlns:p14="http://schemas.microsoft.com/office/powerpoint/2010/main" val="29295520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6F1EB-D758-A5AA-5B64-38C3F2D37B58}"/>
            </a:ext>
          </a:extLst>
        </p:cNvPr>
        <p:cNvGrpSpPr/>
        <p:nvPr/>
      </p:nvGrpSpPr>
      <p:grpSpPr>
        <a:xfrm>
          <a:off x="0" y="0"/>
          <a:ext cx="0" cy="0"/>
          <a:chOff x="0" y="0"/>
          <a:chExt cx="0" cy="0"/>
        </a:xfrm>
      </p:grpSpPr>
      <p:pic>
        <p:nvPicPr>
          <p:cNvPr id="53" name="図 52">
            <a:extLst>
              <a:ext uri="{FF2B5EF4-FFF2-40B4-BE49-F238E27FC236}">
                <a16:creationId xmlns:a16="http://schemas.microsoft.com/office/drawing/2014/main" id="{E1D57D29-71A1-CAE1-6B2E-8E4145870A66}"/>
              </a:ext>
            </a:extLst>
          </p:cNvPr>
          <p:cNvPicPr>
            <a:picLocks noChangeAspect="1"/>
          </p:cNvPicPr>
          <p:nvPr/>
        </p:nvPicPr>
        <p:blipFill>
          <a:blip r:embed="rId4"/>
          <a:stretch>
            <a:fillRect/>
          </a:stretch>
        </p:blipFill>
        <p:spPr>
          <a:xfrm>
            <a:off x="7970479" y="1673831"/>
            <a:ext cx="3044573" cy="4464090"/>
          </a:xfrm>
          <a:prstGeom prst="rect">
            <a:avLst/>
          </a:prstGeom>
        </p:spPr>
      </p:pic>
      <p:sp>
        <p:nvSpPr>
          <p:cNvPr id="2" name="テキスト ボックス 1">
            <a:extLst>
              <a:ext uri="{FF2B5EF4-FFF2-40B4-BE49-F238E27FC236}">
                <a16:creationId xmlns:a16="http://schemas.microsoft.com/office/drawing/2014/main" id="{366F90BC-E23C-623D-C01C-F02453BB9669}"/>
              </a:ext>
            </a:extLst>
          </p:cNvPr>
          <p:cNvSpPr txBox="1"/>
          <p:nvPr/>
        </p:nvSpPr>
        <p:spPr>
          <a:xfrm>
            <a:off x="983432" y="1326875"/>
            <a:ext cx="4088990" cy="3620222"/>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solidFill>
                  <a:srgbClr val="FF0000"/>
                </a:solidFill>
                <a:latin typeface="メイリオ" panose="020B0604030504040204" pitchFamily="50" charset="-128"/>
                <a:ea typeface="メイリオ" panose="020B0604030504040204" pitchFamily="50" charset="-128"/>
                <a:cs typeface="Meiryo UI" pitchFamily="50" charset="-128"/>
              </a:rPr>
              <a:t>①サーバーへの保存</a:t>
            </a:r>
            <a:endParaRPr lang="en-US" altLang="ja-JP" sz="1400" dirty="0">
              <a:solidFill>
                <a:srgbClr val="FF0000"/>
              </a:solidFill>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　作成した入力帳票をサーバーへ送信します。</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　端末側に入力帳票は残りません。</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solidFill>
                  <a:srgbClr val="0000FF"/>
                </a:solidFill>
                <a:latin typeface="メイリオ" panose="020B0604030504040204" pitchFamily="50" charset="-128"/>
                <a:ea typeface="メイリオ" panose="020B0604030504040204" pitchFamily="50" charset="-128"/>
                <a:cs typeface="Meiryo UI" pitchFamily="50" charset="-128"/>
              </a:rPr>
              <a:t>②ローカル保存</a:t>
            </a:r>
            <a:endParaRPr lang="en-US" altLang="ja-JP" sz="1400" dirty="0">
              <a:solidFill>
                <a:srgbClr val="0000FF"/>
              </a:solidFill>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　作成した帳票を端末側に保存します。</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　オフライン環境下で一時保存するなどで使用</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入力帳票をどの操作から保存を行ったかで</a:t>
            </a:r>
            <a:endParaRPr lang="en-US" altLang="ja-JP" sz="1400" dirty="0">
              <a:latin typeface="メイリオ" panose="020B0604030504040204" pitchFamily="50" charset="-128"/>
              <a:ea typeface="メイリオ" panose="020B0604030504040204" pitchFamily="50" charset="-128"/>
              <a:cs typeface="Meiryo UI" pitchFamily="50" charset="-128"/>
            </a:endParaRPr>
          </a:p>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作成した入力帳票の保存先が変わります。	</a:t>
            </a:r>
          </a:p>
        </p:txBody>
      </p:sp>
      <p:sp>
        <p:nvSpPr>
          <p:cNvPr id="7" name="テキスト ボックス 6">
            <a:extLst>
              <a:ext uri="{FF2B5EF4-FFF2-40B4-BE49-F238E27FC236}">
                <a16:creationId xmlns:a16="http://schemas.microsoft.com/office/drawing/2014/main" id="{51C0D3BE-C7D7-8205-06E0-51562CEE4788}"/>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入力帳票の保存について</a:t>
            </a:r>
          </a:p>
        </p:txBody>
      </p:sp>
      <p:pic>
        <p:nvPicPr>
          <p:cNvPr id="37" name="図 36" descr="グラフィカル ユーザー インターフェイス, アプリケーション, テーブル&#10;&#10;自動的に生成された説明">
            <a:extLst>
              <a:ext uri="{FF2B5EF4-FFF2-40B4-BE49-F238E27FC236}">
                <a16:creationId xmlns:a16="http://schemas.microsoft.com/office/drawing/2014/main" id="{EBA166F3-E1ED-87F8-B26C-500FA0D5315B}"/>
              </a:ext>
            </a:extLst>
          </p:cNvPr>
          <p:cNvPicPr>
            <a:picLocks noChangeAspect="1"/>
          </p:cNvPicPr>
          <p:nvPr/>
        </p:nvPicPr>
        <p:blipFill>
          <a:blip r:embed="rId5" cstate="print">
            <a:extLst>
              <a:ext uri="{28A0092B-C50C-407E-A947-70E740481C1C}">
                <a14:useLocalDpi xmlns:a14="http://schemas.microsoft.com/office/drawing/2010/main" val="0"/>
              </a:ext>
            </a:extLst>
          </a:blip>
          <a:srcRect r="57476"/>
          <a:stretch/>
        </p:blipFill>
        <p:spPr>
          <a:xfrm>
            <a:off x="5263547" y="1700808"/>
            <a:ext cx="2515807" cy="4437112"/>
          </a:xfrm>
          <a:prstGeom prst="rect">
            <a:avLst/>
          </a:prstGeom>
          <a:solidFill>
            <a:schemeClr val="tx1"/>
          </a:solidFill>
          <a:ln>
            <a:solidFill>
              <a:schemeClr val="tx1"/>
            </a:solidFill>
          </a:ln>
        </p:spPr>
      </p:pic>
      <p:sp>
        <p:nvSpPr>
          <p:cNvPr id="38" name="角丸四角形 5">
            <a:extLst>
              <a:ext uri="{FF2B5EF4-FFF2-40B4-BE49-F238E27FC236}">
                <a16:creationId xmlns:a16="http://schemas.microsoft.com/office/drawing/2014/main" id="{A745A831-8200-7534-99A0-7EB4F92044DD}"/>
              </a:ext>
            </a:extLst>
          </p:cNvPr>
          <p:cNvSpPr/>
          <p:nvPr/>
        </p:nvSpPr>
        <p:spPr>
          <a:xfrm>
            <a:off x="5335556" y="1719440"/>
            <a:ext cx="1760196" cy="1981162"/>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9" name="角丸四角形 5">
            <a:extLst>
              <a:ext uri="{FF2B5EF4-FFF2-40B4-BE49-F238E27FC236}">
                <a16:creationId xmlns:a16="http://schemas.microsoft.com/office/drawing/2014/main" id="{3243B26A-FEF2-A635-C7F1-7DF8DD555C06}"/>
              </a:ext>
            </a:extLst>
          </p:cNvPr>
          <p:cNvSpPr/>
          <p:nvPr/>
        </p:nvSpPr>
        <p:spPr>
          <a:xfrm>
            <a:off x="6421383" y="5115325"/>
            <a:ext cx="936104" cy="648072"/>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0" name="角丸四角形 5">
            <a:extLst>
              <a:ext uri="{FF2B5EF4-FFF2-40B4-BE49-F238E27FC236}">
                <a16:creationId xmlns:a16="http://schemas.microsoft.com/office/drawing/2014/main" id="{03E2B9B3-9F42-C44D-F2D9-658B1F618246}"/>
              </a:ext>
            </a:extLst>
          </p:cNvPr>
          <p:cNvSpPr/>
          <p:nvPr/>
        </p:nvSpPr>
        <p:spPr>
          <a:xfrm>
            <a:off x="5884001" y="5869062"/>
            <a:ext cx="297415" cy="256824"/>
          </a:xfrm>
          <a:prstGeom prst="roundRect">
            <a:avLst/>
          </a:prstGeom>
          <a:noFill/>
          <a:ln w="38100">
            <a:solidFill>
              <a:srgbClr val="0000FF"/>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1" name="正方形/長方形 40">
            <a:extLst>
              <a:ext uri="{FF2B5EF4-FFF2-40B4-BE49-F238E27FC236}">
                <a16:creationId xmlns:a16="http://schemas.microsoft.com/office/drawing/2014/main" id="{4AA0BBFC-EB81-93D5-15CF-9FA153DFA41B}"/>
              </a:ext>
            </a:extLst>
          </p:cNvPr>
          <p:cNvSpPr/>
          <p:nvPr/>
        </p:nvSpPr>
        <p:spPr>
          <a:xfrm>
            <a:off x="767408" y="899428"/>
            <a:ext cx="10009112" cy="369332"/>
          </a:xfrm>
          <a:prstGeom prst="rect">
            <a:avLst/>
          </a:prstGeom>
        </p:spPr>
        <p:txBody>
          <a:bodyPr wrap="square">
            <a:spAutoFit/>
          </a:bodyPr>
          <a:lstStyle/>
          <a:p>
            <a:pPr marL="541338" indent="-541338" defTabSz="8610600">
              <a:buNone/>
              <a:tabLst>
                <a:tab pos="269875" algn="l"/>
                <a:tab pos="541338" algn="l"/>
                <a:tab pos="803275" algn="l"/>
              </a:tabLst>
            </a:pPr>
            <a:r>
              <a:rPr lang="ja-JP" altLang="en-US" b="1" dirty="0">
                <a:solidFill>
                  <a:schemeClr val="accent5">
                    <a:lumMod val="50000"/>
                  </a:schemeClr>
                </a:solidFill>
                <a:latin typeface="メイリオ" panose="020B0604030504040204" pitchFamily="50" charset="-128"/>
                <a:ea typeface="メイリオ" panose="020B0604030504040204" pitchFamily="50" charset="-128"/>
              </a:rPr>
              <a:t>作成した入力帳票の保存方法</a:t>
            </a:r>
            <a:endParaRPr lang="en-US" altLang="ja-JP" sz="18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50" name="角丸四角形 5">
            <a:extLst>
              <a:ext uri="{FF2B5EF4-FFF2-40B4-BE49-F238E27FC236}">
                <a16:creationId xmlns:a16="http://schemas.microsoft.com/office/drawing/2014/main" id="{3164A649-100D-98CF-4F45-BD414597AF64}"/>
              </a:ext>
            </a:extLst>
          </p:cNvPr>
          <p:cNvSpPr/>
          <p:nvPr/>
        </p:nvSpPr>
        <p:spPr>
          <a:xfrm>
            <a:off x="8184232" y="2060848"/>
            <a:ext cx="1872208" cy="288032"/>
          </a:xfrm>
          <a:prstGeom prst="roundRect">
            <a:avLst/>
          </a:prstGeom>
          <a:noFill/>
          <a:ln w="38100">
            <a:solidFill>
              <a:srgbClr val="0000FF"/>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1" name="角丸四角形 5">
            <a:extLst>
              <a:ext uri="{FF2B5EF4-FFF2-40B4-BE49-F238E27FC236}">
                <a16:creationId xmlns:a16="http://schemas.microsoft.com/office/drawing/2014/main" id="{60C73BCE-865C-6E96-0F1C-AAA9817202C9}"/>
              </a:ext>
            </a:extLst>
          </p:cNvPr>
          <p:cNvSpPr/>
          <p:nvPr/>
        </p:nvSpPr>
        <p:spPr>
          <a:xfrm>
            <a:off x="8112224" y="2438419"/>
            <a:ext cx="2016224" cy="1062589"/>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4" name="角丸四角形 5">
            <a:extLst>
              <a:ext uri="{FF2B5EF4-FFF2-40B4-BE49-F238E27FC236}">
                <a16:creationId xmlns:a16="http://schemas.microsoft.com/office/drawing/2014/main" id="{71C967C6-1DAD-30D3-EBF2-6D4847DCDEE8}"/>
              </a:ext>
            </a:extLst>
          </p:cNvPr>
          <p:cNvSpPr/>
          <p:nvPr/>
        </p:nvSpPr>
        <p:spPr>
          <a:xfrm>
            <a:off x="8760296" y="5209795"/>
            <a:ext cx="1008112" cy="748778"/>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custDataLst>
      <p:tags r:id="rId1"/>
    </p:custDataLst>
    <p:extLst>
      <p:ext uri="{BB962C8B-B14F-4D97-AF65-F5344CB8AC3E}">
        <p14:creationId xmlns:p14="http://schemas.microsoft.com/office/powerpoint/2010/main" val="2873911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5F8EC-D27D-08C6-D045-18F9BC55E1B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2BF57F1-E701-281A-7D8C-3398417E719A}"/>
              </a:ext>
            </a:extLst>
          </p:cNvPr>
          <p:cNvSpPr txBox="1"/>
          <p:nvPr/>
        </p:nvSpPr>
        <p:spPr>
          <a:xfrm>
            <a:off x="983432" y="1220276"/>
            <a:ext cx="10225136" cy="388568"/>
          </a:xfrm>
          <a:prstGeom prst="rect">
            <a:avLst/>
          </a:prstGeom>
          <a:noFill/>
        </p:spPr>
        <p:txBody>
          <a:bodyPr wrap="square" rtlCol="0">
            <a:spAutoFit/>
          </a:bodyPr>
          <a:lstStyle/>
          <a:p>
            <a:pPr marL="269875" indent="-269875" defTabSz="8340725">
              <a:lnSpc>
                <a:spcPct val="150000"/>
              </a:lnSpc>
              <a:buClr>
                <a:schemeClr val="accent5">
                  <a:lumMod val="75000"/>
                </a:schemeClr>
              </a:buClr>
              <a:tabLst>
                <a:tab pos="269875" algn="l"/>
                <a:tab pos="541338" algn="l"/>
              </a:tabLst>
            </a:pPr>
            <a:r>
              <a:rPr lang="ja-JP" altLang="en-US" sz="1400" dirty="0">
                <a:latin typeface="メイリオ" panose="020B0604030504040204" pitchFamily="50" charset="-128"/>
                <a:ea typeface="メイリオ" panose="020B0604030504040204" pitchFamily="50" charset="-128"/>
                <a:cs typeface="Meiryo UI" pitchFamily="50" charset="-128"/>
              </a:rPr>
              <a:t>　保存した先に入力帳票があるかを探しましょう。</a:t>
            </a:r>
          </a:p>
        </p:txBody>
      </p:sp>
      <p:sp>
        <p:nvSpPr>
          <p:cNvPr id="7" name="テキスト ボックス 6">
            <a:extLst>
              <a:ext uri="{FF2B5EF4-FFF2-40B4-BE49-F238E27FC236}">
                <a16:creationId xmlns:a16="http://schemas.microsoft.com/office/drawing/2014/main" id="{72331326-FB03-AAE8-3B82-929901846EFA}"/>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ja-JP" altLang="en-US" sz="2400" b="1" dirty="0">
                <a:solidFill>
                  <a:schemeClr val="bg1"/>
                </a:solidFill>
                <a:latin typeface="メイリオ" pitchFamily="50" charset="-128"/>
                <a:ea typeface="メイリオ" pitchFamily="50" charset="-128"/>
                <a:cs typeface="メイリオ" pitchFamily="50" charset="-128"/>
              </a:rPr>
              <a:t>端末から入力帳票を確認する方法について</a:t>
            </a:r>
          </a:p>
        </p:txBody>
      </p:sp>
      <p:grpSp>
        <p:nvGrpSpPr>
          <p:cNvPr id="31" name="グループ化 30">
            <a:extLst>
              <a:ext uri="{FF2B5EF4-FFF2-40B4-BE49-F238E27FC236}">
                <a16:creationId xmlns:a16="http://schemas.microsoft.com/office/drawing/2014/main" id="{784F6EBC-2BF1-E3B6-9406-64A422CB4237}"/>
              </a:ext>
            </a:extLst>
          </p:cNvPr>
          <p:cNvGrpSpPr/>
          <p:nvPr/>
        </p:nvGrpSpPr>
        <p:grpSpPr>
          <a:xfrm>
            <a:off x="7176120" y="1268760"/>
            <a:ext cx="2953199" cy="2225591"/>
            <a:chOff x="4379716" y="424655"/>
            <a:chExt cx="4114579" cy="2949410"/>
          </a:xfrm>
        </p:grpSpPr>
        <p:pic>
          <p:nvPicPr>
            <p:cNvPr id="21" name="図 20" descr="グラフィカル ユーザー インターフェイス, テキスト, アプリケーション&#10;&#10;自動的に生成された説明">
              <a:extLst>
                <a:ext uri="{FF2B5EF4-FFF2-40B4-BE49-F238E27FC236}">
                  <a16:creationId xmlns:a16="http://schemas.microsoft.com/office/drawing/2014/main" id="{EAFA1737-59D6-F898-7D2C-61583605B997}"/>
                </a:ext>
              </a:extLst>
            </p:cNvPr>
            <p:cNvPicPr>
              <a:picLocks noChangeAspect="1"/>
            </p:cNvPicPr>
            <p:nvPr/>
          </p:nvPicPr>
          <p:blipFill>
            <a:blip r:embed="rId4" cstate="print">
              <a:extLst>
                <a:ext uri="{28A0092B-C50C-407E-A947-70E740481C1C}">
                  <a14:useLocalDpi xmlns:a14="http://schemas.microsoft.com/office/drawing/2010/main" val="0"/>
                </a:ext>
              </a:extLst>
            </a:blip>
            <a:srcRect r="42574" b="46761"/>
            <a:stretch/>
          </p:blipFill>
          <p:spPr>
            <a:xfrm>
              <a:off x="4379716" y="424655"/>
              <a:ext cx="4114579" cy="2860951"/>
            </a:xfrm>
            <a:prstGeom prst="rect">
              <a:avLst/>
            </a:prstGeom>
          </p:spPr>
        </p:pic>
        <p:pic>
          <p:nvPicPr>
            <p:cNvPr id="30" name="図 29" descr="グラフィカル ユーザー インターフェイス, テキスト, アプリケーション&#10;&#10;自動的に生成された説明">
              <a:extLst>
                <a:ext uri="{FF2B5EF4-FFF2-40B4-BE49-F238E27FC236}">
                  <a16:creationId xmlns:a16="http://schemas.microsoft.com/office/drawing/2014/main" id="{7EB1B117-1D33-CB70-E265-483056F9FDD9}"/>
                </a:ext>
              </a:extLst>
            </p:cNvPr>
            <p:cNvPicPr>
              <a:picLocks noChangeAspect="1"/>
            </p:cNvPicPr>
            <p:nvPr/>
          </p:nvPicPr>
          <p:blipFill>
            <a:blip r:embed="rId4" cstate="print">
              <a:extLst>
                <a:ext uri="{28A0092B-C50C-407E-A947-70E740481C1C}">
                  <a14:useLocalDpi xmlns:a14="http://schemas.microsoft.com/office/drawing/2010/main" val="0"/>
                </a:ext>
              </a:extLst>
            </a:blip>
            <a:srcRect t="93078" r="42574"/>
            <a:stretch/>
          </p:blipFill>
          <p:spPr>
            <a:xfrm>
              <a:off x="4379716" y="3002074"/>
              <a:ext cx="4114579" cy="371991"/>
            </a:xfrm>
            <a:prstGeom prst="rect">
              <a:avLst/>
            </a:prstGeom>
          </p:spPr>
        </p:pic>
      </p:grpSp>
      <p:grpSp>
        <p:nvGrpSpPr>
          <p:cNvPr id="33" name="グループ化 32">
            <a:extLst>
              <a:ext uri="{FF2B5EF4-FFF2-40B4-BE49-F238E27FC236}">
                <a16:creationId xmlns:a16="http://schemas.microsoft.com/office/drawing/2014/main" id="{40E98533-D8E4-1E13-3A72-C1BC2A9BCCB9}"/>
              </a:ext>
            </a:extLst>
          </p:cNvPr>
          <p:cNvGrpSpPr/>
          <p:nvPr/>
        </p:nvGrpSpPr>
        <p:grpSpPr>
          <a:xfrm>
            <a:off x="7176120" y="3620119"/>
            <a:ext cx="2953199" cy="2237121"/>
            <a:chOff x="6620497" y="742031"/>
            <a:chExt cx="4572115" cy="2958962"/>
          </a:xfrm>
        </p:grpSpPr>
        <p:pic>
          <p:nvPicPr>
            <p:cNvPr id="28" name="図 27" descr="グラフィカル ユーザー インターフェイス, テキスト, アプリケーション&#10;&#10;自動的に生成された説明">
              <a:extLst>
                <a:ext uri="{FF2B5EF4-FFF2-40B4-BE49-F238E27FC236}">
                  <a16:creationId xmlns:a16="http://schemas.microsoft.com/office/drawing/2014/main" id="{895B8FAB-A9B4-EECD-5684-5999B319A0EE}"/>
                </a:ext>
              </a:extLst>
            </p:cNvPr>
            <p:cNvPicPr>
              <a:picLocks noChangeAspect="1"/>
            </p:cNvPicPr>
            <p:nvPr/>
          </p:nvPicPr>
          <p:blipFill>
            <a:blip r:embed="rId5" cstate="print">
              <a:extLst>
                <a:ext uri="{28A0092B-C50C-407E-A947-70E740481C1C}">
                  <a14:useLocalDpi xmlns:a14="http://schemas.microsoft.com/office/drawing/2010/main" val="0"/>
                </a:ext>
              </a:extLst>
            </a:blip>
            <a:srcRect r="36190" b="44939"/>
            <a:stretch/>
          </p:blipFill>
          <p:spPr>
            <a:xfrm>
              <a:off x="6620497" y="742031"/>
              <a:ext cx="4572115" cy="2958962"/>
            </a:xfrm>
            <a:prstGeom prst="rect">
              <a:avLst/>
            </a:prstGeom>
          </p:spPr>
        </p:pic>
        <p:pic>
          <p:nvPicPr>
            <p:cNvPr id="32" name="図 31" descr="グラフィカル ユーザー インターフェイス, テキスト, アプリケーション&#10;&#10;自動的に生成された説明">
              <a:extLst>
                <a:ext uri="{FF2B5EF4-FFF2-40B4-BE49-F238E27FC236}">
                  <a16:creationId xmlns:a16="http://schemas.microsoft.com/office/drawing/2014/main" id="{20502CB3-00A0-5C97-9324-EE94E83A0936}"/>
                </a:ext>
              </a:extLst>
            </p:cNvPr>
            <p:cNvPicPr>
              <a:picLocks noChangeAspect="1"/>
            </p:cNvPicPr>
            <p:nvPr/>
          </p:nvPicPr>
          <p:blipFill>
            <a:blip r:embed="rId5" cstate="print">
              <a:extLst>
                <a:ext uri="{28A0092B-C50C-407E-A947-70E740481C1C}">
                  <a14:useLocalDpi xmlns:a14="http://schemas.microsoft.com/office/drawing/2010/main" val="0"/>
                </a:ext>
              </a:extLst>
            </a:blip>
            <a:srcRect t="92722" r="36190"/>
            <a:stretch/>
          </p:blipFill>
          <p:spPr>
            <a:xfrm>
              <a:off x="6620497" y="3300343"/>
              <a:ext cx="4572115" cy="391097"/>
            </a:xfrm>
            <a:prstGeom prst="rect">
              <a:avLst/>
            </a:prstGeom>
          </p:spPr>
        </p:pic>
      </p:grpSp>
      <p:grpSp>
        <p:nvGrpSpPr>
          <p:cNvPr id="35" name="グループ化 34">
            <a:extLst>
              <a:ext uri="{FF2B5EF4-FFF2-40B4-BE49-F238E27FC236}">
                <a16:creationId xmlns:a16="http://schemas.microsoft.com/office/drawing/2014/main" id="{8FAE3CB1-BE52-91F5-BE60-C66BDD4AC792}"/>
              </a:ext>
            </a:extLst>
          </p:cNvPr>
          <p:cNvGrpSpPr/>
          <p:nvPr/>
        </p:nvGrpSpPr>
        <p:grpSpPr>
          <a:xfrm>
            <a:off x="2639616" y="1914467"/>
            <a:ext cx="3601708" cy="3411304"/>
            <a:chOff x="510347" y="424655"/>
            <a:chExt cx="4572116" cy="4050287"/>
          </a:xfrm>
        </p:grpSpPr>
        <p:pic>
          <p:nvPicPr>
            <p:cNvPr id="26" name="図 25" descr="グラフィカル ユーザー インターフェイス, テキスト, アプリケーション&#10;&#10;自動的に生成された説明">
              <a:extLst>
                <a:ext uri="{FF2B5EF4-FFF2-40B4-BE49-F238E27FC236}">
                  <a16:creationId xmlns:a16="http://schemas.microsoft.com/office/drawing/2014/main" id="{3537E3FD-3EB3-4CAF-F4C0-94B226B6F6C0}"/>
                </a:ext>
              </a:extLst>
            </p:cNvPr>
            <p:cNvPicPr>
              <a:picLocks noChangeAspect="1"/>
            </p:cNvPicPr>
            <p:nvPr/>
          </p:nvPicPr>
          <p:blipFill>
            <a:blip r:embed="rId6" cstate="print">
              <a:extLst>
                <a:ext uri="{28A0092B-C50C-407E-A947-70E740481C1C}">
                  <a14:useLocalDpi xmlns:a14="http://schemas.microsoft.com/office/drawing/2010/main" val="0"/>
                </a:ext>
              </a:extLst>
            </a:blip>
            <a:srcRect r="36189" b="29353"/>
            <a:stretch/>
          </p:blipFill>
          <p:spPr>
            <a:xfrm>
              <a:off x="510348" y="424655"/>
              <a:ext cx="4572115" cy="3796433"/>
            </a:xfrm>
            <a:prstGeom prst="rect">
              <a:avLst/>
            </a:prstGeom>
          </p:spPr>
        </p:pic>
        <p:pic>
          <p:nvPicPr>
            <p:cNvPr id="34" name="図 33" descr="グラフィカル ユーザー インターフェイス, テキスト, アプリケーション&#10;&#10;自動的に生成された説明">
              <a:extLst>
                <a:ext uri="{FF2B5EF4-FFF2-40B4-BE49-F238E27FC236}">
                  <a16:creationId xmlns:a16="http://schemas.microsoft.com/office/drawing/2014/main" id="{217F5754-A41F-CA89-99CC-D40E8AEC7719}"/>
                </a:ext>
              </a:extLst>
            </p:cNvPr>
            <p:cNvPicPr>
              <a:picLocks noChangeAspect="1"/>
            </p:cNvPicPr>
            <p:nvPr/>
          </p:nvPicPr>
          <p:blipFill>
            <a:blip r:embed="rId6" cstate="print">
              <a:extLst>
                <a:ext uri="{28A0092B-C50C-407E-A947-70E740481C1C}">
                  <a14:useLocalDpi xmlns:a14="http://schemas.microsoft.com/office/drawing/2010/main" val="0"/>
                </a:ext>
              </a:extLst>
            </a:blip>
            <a:srcRect t="93271" r="36189"/>
            <a:stretch/>
          </p:blipFill>
          <p:spPr>
            <a:xfrm>
              <a:off x="510347" y="4113313"/>
              <a:ext cx="4572115" cy="361629"/>
            </a:xfrm>
            <a:prstGeom prst="rect">
              <a:avLst/>
            </a:prstGeom>
          </p:spPr>
        </p:pic>
      </p:grpSp>
      <p:sp>
        <p:nvSpPr>
          <p:cNvPr id="3" name="正方形/長方形 2">
            <a:extLst>
              <a:ext uri="{FF2B5EF4-FFF2-40B4-BE49-F238E27FC236}">
                <a16:creationId xmlns:a16="http://schemas.microsoft.com/office/drawing/2014/main" id="{5C832F3E-47D2-AA6E-5549-A26594190E2B}"/>
              </a:ext>
            </a:extLst>
          </p:cNvPr>
          <p:cNvSpPr/>
          <p:nvPr/>
        </p:nvSpPr>
        <p:spPr>
          <a:xfrm>
            <a:off x="767408" y="899428"/>
            <a:ext cx="10009112" cy="369332"/>
          </a:xfrm>
          <a:prstGeom prst="rect">
            <a:avLst/>
          </a:prstGeom>
        </p:spPr>
        <p:txBody>
          <a:bodyPr wrap="square">
            <a:spAutoFit/>
          </a:bodyPr>
          <a:lstStyle/>
          <a:p>
            <a:pPr marL="541338" indent="-541338" defTabSz="8610600">
              <a:buNone/>
              <a:tabLst>
                <a:tab pos="269875" algn="l"/>
                <a:tab pos="541338" algn="l"/>
                <a:tab pos="803275" algn="l"/>
              </a:tabLst>
            </a:pPr>
            <a:r>
              <a:rPr lang="ja-JP" altLang="en-US" b="1" dirty="0">
                <a:solidFill>
                  <a:schemeClr val="accent5">
                    <a:lumMod val="50000"/>
                  </a:schemeClr>
                </a:solidFill>
                <a:latin typeface="メイリオ" panose="020B0604030504040204" pitchFamily="50" charset="-128"/>
                <a:ea typeface="メイリオ" panose="020B0604030504040204" pitchFamily="50" charset="-128"/>
              </a:rPr>
              <a:t>■入力帳票の保存先</a:t>
            </a:r>
            <a:endParaRPr lang="en-US" altLang="ja-JP" sz="18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4" name="角丸四角形 5">
            <a:extLst>
              <a:ext uri="{FF2B5EF4-FFF2-40B4-BE49-F238E27FC236}">
                <a16:creationId xmlns:a16="http://schemas.microsoft.com/office/drawing/2014/main" id="{F2E5DED1-BB4C-FF33-4F90-2C158516DCD5}"/>
              </a:ext>
            </a:extLst>
          </p:cNvPr>
          <p:cNvSpPr/>
          <p:nvPr/>
        </p:nvSpPr>
        <p:spPr>
          <a:xfrm>
            <a:off x="2639615" y="5021193"/>
            <a:ext cx="1872208" cy="288032"/>
          </a:xfrm>
          <a:prstGeom prst="roundRect">
            <a:avLst/>
          </a:prstGeom>
          <a:noFill/>
          <a:ln w="38100">
            <a:solidFill>
              <a:srgbClr val="0000FF"/>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角丸四角形 5">
            <a:extLst>
              <a:ext uri="{FF2B5EF4-FFF2-40B4-BE49-F238E27FC236}">
                <a16:creationId xmlns:a16="http://schemas.microsoft.com/office/drawing/2014/main" id="{2042838E-AEBC-8A06-B0B9-A553E5CEE7FD}"/>
              </a:ext>
            </a:extLst>
          </p:cNvPr>
          <p:cNvSpPr/>
          <p:nvPr/>
        </p:nvSpPr>
        <p:spPr>
          <a:xfrm>
            <a:off x="7176120" y="3222603"/>
            <a:ext cx="1872208" cy="288032"/>
          </a:xfrm>
          <a:prstGeom prst="roundRect">
            <a:avLst/>
          </a:prstGeom>
          <a:noFill/>
          <a:ln w="38100">
            <a:solidFill>
              <a:srgbClr val="0000FF"/>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角丸四角形 5">
            <a:extLst>
              <a:ext uri="{FF2B5EF4-FFF2-40B4-BE49-F238E27FC236}">
                <a16:creationId xmlns:a16="http://schemas.microsoft.com/office/drawing/2014/main" id="{2110E803-A5ED-554F-824B-63BB7E7ABBBC}"/>
              </a:ext>
            </a:extLst>
          </p:cNvPr>
          <p:cNvSpPr/>
          <p:nvPr/>
        </p:nvSpPr>
        <p:spPr>
          <a:xfrm>
            <a:off x="4629787" y="5008617"/>
            <a:ext cx="1611536" cy="317154"/>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角丸四角形 5">
            <a:extLst>
              <a:ext uri="{FF2B5EF4-FFF2-40B4-BE49-F238E27FC236}">
                <a16:creationId xmlns:a16="http://schemas.microsoft.com/office/drawing/2014/main" id="{1700926D-3013-3985-7EDA-F75B2DDE9483}"/>
              </a:ext>
            </a:extLst>
          </p:cNvPr>
          <p:cNvSpPr/>
          <p:nvPr/>
        </p:nvSpPr>
        <p:spPr>
          <a:xfrm>
            <a:off x="8686639" y="5567282"/>
            <a:ext cx="1444890" cy="305593"/>
          </a:xfrm>
          <a:prstGeom prst="roundRect">
            <a:avLst/>
          </a:prstGeom>
          <a:noFill/>
          <a:ln w="38100">
            <a:solidFill>
              <a:srgbClr val="FF0000"/>
            </a:solidFill>
            <a:prstDash val="sysDot"/>
          </a:ln>
          <a:effectLst>
            <a:glow rad="50800">
              <a:schemeClr val="bg1">
                <a:alpha val="7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 name="曲線コネクタ 28">
            <a:extLst>
              <a:ext uri="{FF2B5EF4-FFF2-40B4-BE49-F238E27FC236}">
                <a16:creationId xmlns:a16="http://schemas.microsoft.com/office/drawing/2014/main" id="{5F91CBF5-856D-84DE-C682-8621953A2944}"/>
              </a:ext>
            </a:extLst>
          </p:cNvPr>
          <p:cNvCxnSpPr>
            <a:cxnSpLocks/>
            <a:stCxn id="6" idx="3"/>
            <a:endCxn id="8" idx="1"/>
          </p:cNvCxnSpPr>
          <p:nvPr/>
        </p:nvCxnSpPr>
        <p:spPr>
          <a:xfrm>
            <a:off x="6241323" y="5167194"/>
            <a:ext cx="2445316" cy="552885"/>
          </a:xfrm>
          <a:prstGeom prst="curvedConnector3">
            <a:avLst>
              <a:gd name="adj1" fmla="val 50000"/>
            </a:avLst>
          </a:prstGeom>
          <a:ln w="38100">
            <a:solidFill>
              <a:srgbClr val="FF0000"/>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4" name="曲線コネクタ 28">
            <a:extLst>
              <a:ext uri="{FF2B5EF4-FFF2-40B4-BE49-F238E27FC236}">
                <a16:creationId xmlns:a16="http://schemas.microsoft.com/office/drawing/2014/main" id="{1509503A-CEED-A9C8-BEE0-F946600FD70B}"/>
              </a:ext>
            </a:extLst>
          </p:cNvPr>
          <p:cNvCxnSpPr>
            <a:cxnSpLocks/>
            <a:stCxn id="4" idx="0"/>
            <a:endCxn id="5" idx="1"/>
          </p:cNvCxnSpPr>
          <p:nvPr/>
        </p:nvCxnSpPr>
        <p:spPr>
          <a:xfrm rot="5400000" flipH="1" flipV="1">
            <a:off x="4548632" y="2393706"/>
            <a:ext cx="1654574" cy="3600401"/>
          </a:xfrm>
          <a:prstGeom prst="curvedConnector2">
            <a:avLst/>
          </a:prstGeom>
          <a:ln w="38100">
            <a:solidFill>
              <a:srgbClr val="0000FF"/>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F6C42C28-10F4-DE44-D3BB-B1DD116FB7D4}"/>
              </a:ext>
            </a:extLst>
          </p:cNvPr>
          <p:cNvSpPr/>
          <p:nvPr/>
        </p:nvSpPr>
        <p:spPr>
          <a:xfrm>
            <a:off x="2639615" y="1914467"/>
            <a:ext cx="3601707" cy="339475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A0DB2E2-1CE2-7DC5-2B0F-19A42BDAE93B}"/>
              </a:ext>
            </a:extLst>
          </p:cNvPr>
          <p:cNvSpPr/>
          <p:nvPr/>
        </p:nvSpPr>
        <p:spPr>
          <a:xfrm>
            <a:off x="7174813" y="1257231"/>
            <a:ext cx="2953199" cy="223712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5D9ADA0F-BC27-5ABA-57C5-BB25671FC241}"/>
              </a:ext>
            </a:extLst>
          </p:cNvPr>
          <p:cNvSpPr/>
          <p:nvPr/>
        </p:nvSpPr>
        <p:spPr>
          <a:xfrm>
            <a:off x="7174813" y="3604484"/>
            <a:ext cx="2953199" cy="223712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ustDataLst>
      <p:tags r:id="rId1"/>
    </p:custDataLst>
    <p:extLst>
      <p:ext uri="{BB962C8B-B14F-4D97-AF65-F5344CB8AC3E}">
        <p14:creationId xmlns:p14="http://schemas.microsoft.com/office/powerpoint/2010/main" val="416944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0FB2-50C7-45BC-D9A2-0AB40033AFB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BF891DF-5D11-C8BD-3414-1E483C62320B}"/>
              </a:ext>
            </a:extLst>
          </p:cNvPr>
          <p:cNvSpPr txBox="1"/>
          <p:nvPr/>
        </p:nvSpPr>
        <p:spPr>
          <a:xfrm>
            <a:off x="-25391" y="0"/>
            <a:ext cx="10668000" cy="620688"/>
          </a:xfrm>
          <a:prstGeom prst="rect">
            <a:avLst/>
          </a:prstGeom>
          <a:noFill/>
        </p:spPr>
        <p:txBody>
          <a:bodyPr wrap="square" tIns="72000" bIns="0" rtlCol="0" anchor="ctr">
            <a:noAutofit/>
          </a:bodyPr>
          <a:lstStyle/>
          <a:p>
            <a:pPr marL="177800"/>
            <a:r>
              <a:rPr lang="ja-JP" altLang="en-US" sz="2800" b="1" dirty="0">
                <a:solidFill>
                  <a:schemeClr val="bg1"/>
                </a:solidFill>
                <a:latin typeface="メイリオ" pitchFamily="50" charset="-128"/>
                <a:ea typeface="メイリオ" pitchFamily="50" charset="-128"/>
                <a:cs typeface="メイリオ" pitchFamily="50" charset="-128"/>
              </a:rPr>
              <a:t>改訂履歴</a:t>
            </a:r>
          </a:p>
        </p:txBody>
      </p:sp>
      <p:graphicFrame>
        <p:nvGraphicFramePr>
          <p:cNvPr id="4" name="表 3">
            <a:extLst>
              <a:ext uri="{FF2B5EF4-FFF2-40B4-BE49-F238E27FC236}">
                <a16:creationId xmlns:a16="http://schemas.microsoft.com/office/drawing/2014/main" id="{55A789BB-F385-A9D7-F99B-5D40E7BE0869}"/>
              </a:ext>
            </a:extLst>
          </p:cNvPr>
          <p:cNvGraphicFramePr>
            <a:graphicFrameLocks noGrp="1"/>
          </p:cNvGraphicFramePr>
          <p:nvPr>
            <p:extLst>
              <p:ext uri="{D42A27DB-BD31-4B8C-83A1-F6EECF244321}">
                <p14:modId xmlns:p14="http://schemas.microsoft.com/office/powerpoint/2010/main" val="3943810159"/>
              </p:ext>
            </p:extLst>
          </p:nvPr>
        </p:nvGraphicFramePr>
        <p:xfrm>
          <a:off x="1055439" y="1422583"/>
          <a:ext cx="10081120" cy="2172668"/>
        </p:xfrm>
        <a:graphic>
          <a:graphicData uri="http://schemas.openxmlformats.org/drawingml/2006/table">
            <a:tbl>
              <a:tblPr firstRow="1" bandRow="1">
                <a:tableStyleId>{74C1A8A3-306A-4EB7-A6B1-4F7E0EB9C5D6}</a:tableStyleId>
              </a:tblPr>
              <a:tblGrid>
                <a:gridCol w="1403158">
                  <a:extLst>
                    <a:ext uri="{9D8B030D-6E8A-4147-A177-3AD203B41FA5}">
                      <a16:colId xmlns:a16="http://schemas.microsoft.com/office/drawing/2014/main" val="20000"/>
                    </a:ext>
                  </a:extLst>
                </a:gridCol>
                <a:gridCol w="1403158">
                  <a:extLst>
                    <a:ext uri="{9D8B030D-6E8A-4147-A177-3AD203B41FA5}">
                      <a16:colId xmlns:a16="http://schemas.microsoft.com/office/drawing/2014/main" val="20001"/>
                    </a:ext>
                  </a:extLst>
                </a:gridCol>
                <a:gridCol w="1403158">
                  <a:extLst>
                    <a:ext uri="{9D8B030D-6E8A-4147-A177-3AD203B41FA5}">
                      <a16:colId xmlns:a16="http://schemas.microsoft.com/office/drawing/2014/main" val="20002"/>
                    </a:ext>
                  </a:extLst>
                </a:gridCol>
                <a:gridCol w="5871646">
                  <a:extLst>
                    <a:ext uri="{9D8B030D-6E8A-4147-A177-3AD203B41FA5}">
                      <a16:colId xmlns:a16="http://schemas.microsoft.com/office/drawing/2014/main" val="20003"/>
                    </a:ext>
                  </a:extLst>
                </a:gridCol>
              </a:tblGrid>
              <a:tr h="186537">
                <a:tc>
                  <a:txBody>
                    <a:bodyPr/>
                    <a:lstStyle/>
                    <a:p>
                      <a:r>
                        <a:rPr kumimoji="1" lang="ja-JP" altLang="en-US" sz="900" b="0" dirty="0">
                          <a:latin typeface="メイリオ" panose="020B0604030504040204" pitchFamily="50" charset="-128"/>
                          <a:ea typeface="メイリオ" panose="020B0604030504040204" pitchFamily="50" charset="-128"/>
                          <a:cs typeface="メイリオ" panose="020B0604030504040204" pitchFamily="50" charset="-128"/>
                        </a:rPr>
                        <a:t>日付</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33399"/>
                    </a:solidFill>
                  </a:tcPr>
                </a:tc>
                <a:tc>
                  <a:txBody>
                    <a:bodyPr/>
                    <a:lstStyle/>
                    <a:p>
                      <a:r>
                        <a:rPr kumimoji="1" lang="ja-JP" altLang="en-US" sz="900" b="0" dirty="0">
                          <a:latin typeface="メイリオ" panose="020B0604030504040204" pitchFamily="50" charset="-128"/>
                          <a:ea typeface="メイリオ" panose="020B0604030504040204" pitchFamily="50" charset="-128"/>
                          <a:cs typeface="メイリオ" panose="020B0604030504040204" pitchFamily="50" charset="-128"/>
                        </a:rPr>
                        <a:t>バージョン</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33399"/>
                    </a:solidFill>
                  </a:tcPr>
                </a:tc>
                <a:tc>
                  <a:txBody>
                    <a:bodyPr/>
                    <a:lstStyle/>
                    <a:p>
                      <a:r>
                        <a:rPr kumimoji="1" lang="ja-JP" altLang="en-US" sz="900" b="0" dirty="0">
                          <a:latin typeface="メイリオ" panose="020B0604030504040204" pitchFamily="50" charset="-128"/>
                          <a:ea typeface="メイリオ" panose="020B0604030504040204" pitchFamily="50" charset="-128"/>
                          <a:cs typeface="メイリオ" panose="020B0604030504040204" pitchFamily="50" charset="-128"/>
                        </a:rPr>
                        <a:t>記載ページ</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33399"/>
                    </a:solidFill>
                  </a:tcPr>
                </a:tc>
                <a:tc>
                  <a:txBody>
                    <a:bodyPr/>
                    <a:lstStyle/>
                    <a:p>
                      <a:r>
                        <a:rPr kumimoji="1" lang="ja-JP" altLang="en-US" sz="900" b="0" dirty="0">
                          <a:latin typeface="メイリオ" panose="020B0604030504040204" pitchFamily="50" charset="-128"/>
                          <a:ea typeface="メイリオ" panose="020B0604030504040204" pitchFamily="50" charset="-128"/>
                          <a:cs typeface="メイリオ" panose="020B0604030504040204" pitchFamily="50" charset="-128"/>
                        </a:rPr>
                        <a:t>改訂内容</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33399"/>
                    </a:solidFill>
                  </a:tcPr>
                </a:tc>
                <a:extLst>
                  <a:ext uri="{0D108BD9-81ED-4DB2-BD59-A6C34878D82A}">
                    <a16:rowId xmlns:a16="http://schemas.microsoft.com/office/drawing/2014/main" val="10000"/>
                  </a:ext>
                </a:extLst>
              </a:tr>
              <a:tr h="277724">
                <a:tc>
                  <a:txBody>
                    <a:bodyPr/>
                    <a:lstStyle/>
                    <a:p>
                      <a:r>
                        <a:rPr kumimoji="1" lang="en-US" altLang="ja-JP" sz="1000" dirty="0">
                          <a:latin typeface="メイリオ" panose="020B0604030504040204" pitchFamily="50" charset="-128"/>
                          <a:ea typeface="メイリオ" panose="020B0604030504040204" pitchFamily="50" charset="-128"/>
                          <a:cs typeface="メイリオ" panose="020B0604030504040204" pitchFamily="50" charset="-128"/>
                        </a:rPr>
                        <a:t>2025-04-01</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1.0.0</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初版を発行しました。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7724">
                <a:tc>
                  <a:txBody>
                    <a:bodyPr/>
                    <a:lstStyle/>
                    <a:p>
                      <a:r>
                        <a:rPr kumimoji="1" lang="en-US" altLang="ja-JP" sz="1000" dirty="0">
                          <a:latin typeface="メイリオ" panose="020B0604030504040204" pitchFamily="50" charset="-128"/>
                          <a:ea typeface="メイリオ" panose="020B0604030504040204" pitchFamily="50" charset="-128"/>
                          <a:cs typeface="メイリオ" panose="020B0604030504040204" pitchFamily="50" charset="-128"/>
                        </a:rPr>
                        <a:t>2025-04-03</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1.0.1</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P.25</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参考ぺージの修正、一部画像の差し替えを行いました。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4382301"/>
                  </a:ext>
                </a:extLst>
              </a:tr>
              <a:tr h="277724">
                <a:tc>
                  <a:txBody>
                    <a:bodyPr/>
                    <a:lstStyle/>
                    <a:p>
                      <a:r>
                        <a:rPr kumimoji="1" lang="en-US" altLang="ja-JP" sz="1000" dirty="0">
                          <a:latin typeface="メイリオ" panose="020B0604030504040204" pitchFamily="50" charset="-128"/>
                          <a:ea typeface="メイリオ" panose="020B0604030504040204" pitchFamily="50" charset="-128"/>
                          <a:cs typeface="メイリオ" panose="020B0604030504040204" pitchFamily="50" charset="-128"/>
                        </a:rPr>
                        <a:t>2025-04-08</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1.0.2</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P.30 , P.46</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資料の追加、一部画像の差し替えを行いました。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142894"/>
                  </a:ext>
                </a:extLst>
              </a:tr>
              <a:tr h="277724">
                <a:tc>
                  <a:txBody>
                    <a:bodyPr/>
                    <a:lstStyle/>
                    <a:p>
                      <a:r>
                        <a:rPr kumimoji="1" lang="en-US" altLang="ja-JP" sz="1000" dirty="0">
                          <a:latin typeface="メイリオ" panose="020B0604030504040204" pitchFamily="50" charset="-128"/>
                          <a:ea typeface="メイリオ" panose="020B0604030504040204" pitchFamily="50" charset="-128"/>
                          <a:cs typeface="メイリオ" panose="020B0604030504040204" pitchFamily="50" charset="-128"/>
                        </a:rPr>
                        <a:t>2025-06-01</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1.1.0</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全体の構成を調整しました。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9885201"/>
                  </a:ext>
                </a:extLst>
              </a:tr>
              <a:tr h="277724">
                <a:tc>
                  <a:txBody>
                    <a:bodyPr/>
                    <a:lstStyle/>
                    <a:p>
                      <a:r>
                        <a:rPr kumimoji="1" lang="en-US" altLang="ja-JP" sz="1000" dirty="0">
                          <a:latin typeface="メイリオ" panose="020B0604030504040204" pitchFamily="50" charset="-128"/>
                          <a:ea typeface="メイリオ" panose="020B0604030504040204" pitchFamily="50" charset="-128"/>
                          <a:cs typeface="メイリオ" panose="020B0604030504040204" pitchFamily="50" charset="-128"/>
                        </a:rPr>
                        <a:t>2025-06-05</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1.1.1</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P.6</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テキスト内容を修正しました。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3042428"/>
                  </a:ext>
                </a:extLst>
              </a:tr>
              <a:tr h="277724">
                <a:tc>
                  <a:txBody>
                    <a:bodyPr/>
                    <a:lstStyle/>
                    <a:p>
                      <a:r>
                        <a:rPr kumimoji="1" lang="en-US" altLang="ja-JP" sz="1000">
                          <a:latin typeface="メイリオ" panose="020B0604030504040204" pitchFamily="50" charset="-128"/>
                          <a:ea typeface="メイリオ" panose="020B0604030504040204" pitchFamily="50" charset="-128"/>
                          <a:cs typeface="メイリオ" panose="020B0604030504040204" pitchFamily="50" charset="-128"/>
                        </a:rPr>
                        <a:t>2025-08-04</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1.1.2</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テキスト全体の構成を修正しました。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9047992"/>
                  </a:ext>
                </a:extLst>
              </a:tr>
              <a:tr h="277724">
                <a:tc>
                  <a:txBody>
                    <a:bodyPr/>
                    <a:lstStyle/>
                    <a:p>
                      <a:r>
                        <a:rPr kumimoji="1" lang="en-US" altLang="ja-JP" sz="1000" dirty="0">
                          <a:latin typeface="メイリオ" panose="020B0604030504040204" pitchFamily="50" charset="-128"/>
                          <a:ea typeface="メイリオ" panose="020B0604030504040204" pitchFamily="50" charset="-128"/>
                          <a:cs typeface="メイリオ" panose="020B0604030504040204" pitchFamily="50" charset="-128"/>
                        </a:rPr>
                        <a:t>2026-02-16</a:t>
                      </a:r>
                      <a:endPar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Rev 1.1.3</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P.19</a:t>
                      </a:r>
                      <a:endParaRPr kumimoji="1" lang="ja-JP" altLang="en-US" sz="1000"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dirty="0">
                          <a:latin typeface="メイリオ" panose="020B0604030504040204" pitchFamily="50" charset="-128"/>
                          <a:ea typeface="メイリオ" panose="020B0604030504040204" pitchFamily="50" charset="-128"/>
                          <a:cs typeface="メイリオ" panose="020B0604030504040204" pitchFamily="50" charset="-128"/>
                        </a:rPr>
                        <a:t>解説内容を調整しました。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3680839"/>
                  </a:ext>
                </a:extLst>
              </a:tr>
            </a:tbl>
          </a:graphicData>
        </a:graphic>
      </p:graphicFrame>
    </p:spTree>
    <p:custDataLst>
      <p:tags r:id="rId1"/>
    </p:custDataLst>
    <p:extLst>
      <p:ext uri="{BB962C8B-B14F-4D97-AF65-F5344CB8AC3E}">
        <p14:creationId xmlns:p14="http://schemas.microsoft.com/office/powerpoint/2010/main" val="10487900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
</p:tagLst>
</file>

<file path=ppt/tags/tag2.xml><?xml version="1.0" encoding="utf-8"?>
<p:tagLst xmlns:a="http://schemas.openxmlformats.org/drawingml/2006/main" xmlns:r="http://schemas.openxmlformats.org/officeDocument/2006/relationships" xmlns:p="http://schemas.openxmlformats.org/presentationml/2006/main">
  <p:tag name="TIMING" val="|12"/>
</p:tagLst>
</file>

<file path=ppt/tags/tag3.xml><?xml version="1.0" encoding="utf-8"?>
<p:tagLst xmlns:a="http://schemas.openxmlformats.org/drawingml/2006/main" xmlns:r="http://schemas.openxmlformats.org/officeDocument/2006/relationships" xmlns:p="http://schemas.openxmlformats.org/presentationml/2006/main">
  <p:tag name="TIMING" val="|12"/>
</p:tagLst>
</file>

<file path=ppt/tags/tag4.xml><?xml version="1.0" encoding="utf-8"?>
<p:tagLst xmlns:a="http://schemas.openxmlformats.org/drawingml/2006/main" xmlns:r="http://schemas.openxmlformats.org/officeDocument/2006/relationships" xmlns:p="http://schemas.openxmlformats.org/presentationml/2006/main">
  <p:tag name="TIMING" val="|12"/>
</p:tagLst>
</file>

<file path=ppt/tags/tag5.xml><?xml version="1.0" encoding="utf-8"?>
<p:tagLst xmlns:a="http://schemas.openxmlformats.org/drawingml/2006/main" xmlns:r="http://schemas.openxmlformats.org/officeDocument/2006/relationships" xmlns:p="http://schemas.openxmlformats.org/presentationml/2006/main">
  <p:tag name="TIMING" val="|12"/>
</p:tagLst>
</file>

<file path=ppt/tags/tag6.xml><?xml version="1.0" encoding="utf-8"?>
<p:tagLst xmlns:a="http://schemas.openxmlformats.org/drawingml/2006/main" xmlns:r="http://schemas.openxmlformats.org/officeDocument/2006/relationships" xmlns:p="http://schemas.openxmlformats.org/presentationml/2006/main">
  <p:tag name="TIMING" val="|12"/>
</p:tagLst>
</file>

<file path=ppt/tags/tag7.xml><?xml version="1.0" encoding="utf-8"?>
<p:tagLst xmlns:a="http://schemas.openxmlformats.org/drawingml/2006/main" xmlns:r="http://schemas.openxmlformats.org/officeDocument/2006/relationships" xmlns:p="http://schemas.openxmlformats.org/presentationml/2006/main">
  <p:tag name="TIMING" val="|12"/>
</p:tagLst>
</file>

<file path=ppt/tags/tag8.xml><?xml version="1.0" encoding="utf-8"?>
<p:tagLst xmlns:a="http://schemas.openxmlformats.org/drawingml/2006/main" xmlns:r="http://schemas.openxmlformats.org/officeDocument/2006/relationships" xmlns:p="http://schemas.openxmlformats.org/presentationml/2006/main">
  <p:tag name="TIMING" val="|12"/>
</p:tagLst>
</file>

<file path=ppt/tags/tag9.xml><?xml version="1.0" encoding="utf-8"?>
<p:tagLst xmlns:a="http://schemas.openxmlformats.org/drawingml/2006/main" xmlns:r="http://schemas.openxmlformats.org/officeDocument/2006/relationships" xmlns:p="http://schemas.openxmlformats.org/presentationml/2006/main">
  <p:tag name="TIMING" val="|12"/>
</p:tagLst>
</file>

<file path=ppt/tags/tag10.xml><?xml version="1.0" encoding="utf-8"?>
<p:tagLst xmlns:a="http://schemas.openxmlformats.org/drawingml/2006/main" xmlns:r="http://schemas.openxmlformats.org/officeDocument/2006/relationships" xmlns:p="http://schemas.openxmlformats.org/presentationml/2006/main">
  <p:tag name="TIMING" val="|12"/>
</p:tagLst>
</file>

<file path=ppt/tags/tag11.xml><?xml version="1.0" encoding="utf-8"?>
<p:tagLst xmlns:a="http://schemas.openxmlformats.org/drawingml/2006/main" xmlns:r="http://schemas.openxmlformats.org/officeDocument/2006/relationships" xmlns:p="http://schemas.openxmlformats.org/presentationml/2006/main">
  <p:tag name="TIMING" val="|12"/>
</p:tagLst>
</file>

<file path=ppt/tags/tag12.xml><?xml version="1.0" encoding="utf-8"?>
<p:tagLst xmlns:a="http://schemas.openxmlformats.org/drawingml/2006/main" xmlns:r="http://schemas.openxmlformats.org/officeDocument/2006/relationships" xmlns:p="http://schemas.openxmlformats.org/presentationml/2006/main">
  <p:tag name="TIMING" val="|12"/>
</p:tagLst>
</file>

<file path=ppt/tags/tag13.xml><?xml version="1.0" encoding="utf-8"?>
<p:tagLst xmlns:a="http://schemas.openxmlformats.org/drawingml/2006/main" xmlns:r="http://schemas.openxmlformats.org/officeDocument/2006/relationships" xmlns:p="http://schemas.openxmlformats.org/presentationml/2006/main">
  <p:tag name="TIMING" val="|12"/>
</p:tagLst>
</file>

<file path=ppt/tags/tag14.xml><?xml version="1.0" encoding="utf-8"?>
<p:tagLst xmlns:a="http://schemas.openxmlformats.org/drawingml/2006/main" xmlns:r="http://schemas.openxmlformats.org/officeDocument/2006/relationships" xmlns:p="http://schemas.openxmlformats.org/presentationml/2006/main">
  <p:tag name="TIMING" val="|12"/>
</p:tagLst>
</file>

<file path=ppt/tags/tag15.xml><?xml version="1.0" encoding="utf-8"?>
<p:tagLst xmlns:a="http://schemas.openxmlformats.org/drawingml/2006/main" xmlns:r="http://schemas.openxmlformats.org/officeDocument/2006/relationships" xmlns:p="http://schemas.openxmlformats.org/presentationml/2006/main">
  <p:tag name="TIMING" val="|12"/>
</p:tagLst>
</file>

<file path=ppt/tags/tag16.xml><?xml version="1.0" encoding="utf-8"?>
<p:tagLst xmlns:a="http://schemas.openxmlformats.org/drawingml/2006/main" xmlns:r="http://schemas.openxmlformats.org/officeDocument/2006/relationships" xmlns:p="http://schemas.openxmlformats.org/presentationml/2006/main">
  <p:tag name="TIMING" val="|12"/>
</p:tagLst>
</file>

<file path=ppt/tags/tag17.xml><?xml version="1.0" encoding="utf-8"?>
<p:tagLst xmlns:a="http://schemas.openxmlformats.org/drawingml/2006/main" xmlns:r="http://schemas.openxmlformats.org/officeDocument/2006/relationships" xmlns:p="http://schemas.openxmlformats.org/presentationml/2006/main">
  <p:tag name="TIMING" val="|12"/>
</p:tagLst>
</file>

<file path=ppt/tags/tag18.xml><?xml version="1.0" encoding="utf-8"?>
<p:tagLst xmlns:a="http://schemas.openxmlformats.org/drawingml/2006/main" xmlns:r="http://schemas.openxmlformats.org/officeDocument/2006/relationships" xmlns:p="http://schemas.openxmlformats.org/presentationml/2006/main">
  <p:tag name="TIMING" val="|12"/>
</p:tagLst>
</file>

<file path=ppt/tags/tag19.xml><?xml version="1.0" encoding="utf-8"?>
<p:tagLst xmlns:a="http://schemas.openxmlformats.org/drawingml/2006/main" xmlns:r="http://schemas.openxmlformats.org/officeDocument/2006/relationships" xmlns:p="http://schemas.openxmlformats.org/presentationml/2006/main">
  <p:tag name="TIMING" val="|12"/>
</p:tagLst>
</file>

<file path=ppt/tags/tag20.xml><?xml version="1.0" encoding="utf-8"?>
<p:tagLst xmlns:a="http://schemas.openxmlformats.org/drawingml/2006/main" xmlns:r="http://schemas.openxmlformats.org/officeDocument/2006/relationships" xmlns:p="http://schemas.openxmlformats.org/presentationml/2006/main">
  <p:tag name="TIMING" val="|12"/>
</p:tagLst>
</file>

<file path=ppt/tags/tag21.xml><?xml version="1.0" encoding="utf-8"?>
<p:tagLst xmlns:a="http://schemas.openxmlformats.org/drawingml/2006/main" xmlns:r="http://schemas.openxmlformats.org/officeDocument/2006/relationships" xmlns:p="http://schemas.openxmlformats.org/presentationml/2006/main">
  <p:tag name="TIMING" val="|12"/>
</p:tagLst>
</file>

<file path=ppt/tags/tag22.xml><?xml version="1.0" encoding="utf-8"?>
<p:tagLst xmlns:a="http://schemas.openxmlformats.org/drawingml/2006/main" xmlns:r="http://schemas.openxmlformats.org/officeDocument/2006/relationships" xmlns:p="http://schemas.openxmlformats.org/presentationml/2006/main">
  <p:tag name="TIMING" val="|12"/>
</p:tagLst>
</file>

<file path=ppt/tags/tag23.xml><?xml version="1.0" encoding="utf-8"?>
<p:tagLst xmlns:a="http://schemas.openxmlformats.org/drawingml/2006/main" xmlns:r="http://schemas.openxmlformats.org/officeDocument/2006/relationships" xmlns:p="http://schemas.openxmlformats.org/presentationml/2006/main">
  <p:tag name="TIMING" val="|12"/>
</p:tagLst>
</file>

<file path=ppt/tags/tag24.xml><?xml version="1.0" encoding="utf-8"?>
<p:tagLst xmlns:a="http://schemas.openxmlformats.org/drawingml/2006/main" xmlns:r="http://schemas.openxmlformats.org/officeDocument/2006/relationships" xmlns:p="http://schemas.openxmlformats.org/presentationml/2006/main">
  <p:tag name="TIMING" val="|12"/>
</p:tagLst>
</file>

<file path=ppt/tags/tag25.xml><?xml version="1.0" encoding="utf-8"?>
<p:tagLst xmlns:a="http://schemas.openxmlformats.org/drawingml/2006/main" xmlns:r="http://schemas.openxmlformats.org/officeDocument/2006/relationships" xmlns:p="http://schemas.openxmlformats.org/presentationml/2006/main">
  <p:tag name="TIMING" val="|12"/>
</p:tagLst>
</file>

<file path=ppt/tags/tag26.xml><?xml version="1.0" encoding="utf-8"?>
<p:tagLst xmlns:a="http://schemas.openxmlformats.org/drawingml/2006/main" xmlns:r="http://schemas.openxmlformats.org/officeDocument/2006/relationships" xmlns:p="http://schemas.openxmlformats.org/presentationml/2006/main">
  <p:tag name="TIMING" val="|12"/>
</p:tagLst>
</file>

<file path=ppt/tags/tag27.xml><?xml version="1.0" encoding="utf-8"?>
<p:tagLst xmlns:a="http://schemas.openxmlformats.org/drawingml/2006/main" xmlns:r="http://schemas.openxmlformats.org/officeDocument/2006/relationships" xmlns:p="http://schemas.openxmlformats.org/presentationml/2006/main">
  <p:tag name="TIMING" val="|12"/>
</p:tagLst>
</file>

<file path=ppt/tags/tag28.xml><?xml version="1.0" encoding="utf-8"?>
<p:tagLst xmlns:a="http://schemas.openxmlformats.org/drawingml/2006/main" xmlns:r="http://schemas.openxmlformats.org/officeDocument/2006/relationships" xmlns:p="http://schemas.openxmlformats.org/presentationml/2006/main">
  <p:tag name="TIMING" val="|12"/>
</p:tagLst>
</file>

<file path=ppt/tags/tag29.xml><?xml version="1.0" encoding="utf-8"?>
<p:tagLst xmlns:a="http://schemas.openxmlformats.org/drawingml/2006/main" xmlns:r="http://schemas.openxmlformats.org/officeDocument/2006/relationships" xmlns:p="http://schemas.openxmlformats.org/presentationml/2006/main">
  <p:tag name="TIMING" val="|12"/>
</p:tagLst>
</file>

<file path=ppt/tags/tag30.xml><?xml version="1.0" encoding="utf-8"?>
<p:tagLst xmlns:a="http://schemas.openxmlformats.org/drawingml/2006/main" xmlns:r="http://schemas.openxmlformats.org/officeDocument/2006/relationships" xmlns:p="http://schemas.openxmlformats.org/presentationml/2006/main">
  <p:tag name="TIMING" val="|12"/>
</p:tagLst>
</file>

<file path=ppt/tags/tag31.xml><?xml version="1.0" encoding="utf-8"?>
<p:tagLst xmlns:a="http://schemas.openxmlformats.org/drawingml/2006/main" xmlns:r="http://schemas.openxmlformats.org/officeDocument/2006/relationships" xmlns:p="http://schemas.openxmlformats.org/presentationml/2006/main">
  <p:tag name="TIMING" val="|12"/>
</p:tagLst>
</file>

<file path=ppt/tags/tag32.xml><?xml version="1.0" encoding="utf-8"?>
<p:tagLst xmlns:a="http://schemas.openxmlformats.org/drawingml/2006/main" xmlns:r="http://schemas.openxmlformats.org/officeDocument/2006/relationships" xmlns:p="http://schemas.openxmlformats.org/presentationml/2006/main">
  <p:tag name="TIMING" val="|12"/>
</p:tagLst>
</file>

<file path=ppt/tags/tag33.xml><?xml version="1.0" encoding="utf-8"?>
<p:tagLst xmlns:a="http://schemas.openxmlformats.org/drawingml/2006/main" xmlns:r="http://schemas.openxmlformats.org/officeDocument/2006/relationships" xmlns:p="http://schemas.openxmlformats.org/presentationml/2006/main">
  <p:tag name="TIMING" val="|12"/>
</p:tagLst>
</file>

<file path=ppt/tags/tag34.xml><?xml version="1.0" encoding="utf-8"?>
<p:tagLst xmlns:a="http://schemas.openxmlformats.org/drawingml/2006/main" xmlns:r="http://schemas.openxmlformats.org/officeDocument/2006/relationships" xmlns:p="http://schemas.openxmlformats.org/presentationml/2006/main">
  <p:tag name="TIMING" val="|12"/>
</p:tagLst>
</file>

<file path=ppt/theme/theme1.xml><?xml version="1.0" encoding="utf-8"?>
<a:theme xmlns:a="http://schemas.openxmlformats.org/drawingml/2006/main" name="PowerPoint 2010 のご紹介">
  <a:themeElements>
    <a:clrScheme name="Fresh">
      <a:dk1>
        <a:srgbClr val="262626"/>
      </a:dk1>
      <a:lt1>
        <a:sysClr val="window" lastClr="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ユーザー定義 1">
      <a:majorFont>
        <a:latin typeface="Calibri"/>
        <a:ea typeface="ＭＳ Ｐゴシック"/>
        <a:cs typeface=""/>
      </a:majorFont>
      <a:minorFont>
        <a:latin typeface="Calibri"/>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986</TotalTime>
  <Words>3550</Words>
  <Application>Microsoft Office PowerPoint</Application>
  <PresentationFormat>ワイド画面</PresentationFormat>
  <Paragraphs>451</Paragraphs>
  <Slides>41</Slides>
  <Notes>37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41</vt:i4>
      </vt:variant>
    </vt:vector>
  </HeadingPairs>
  <TitlesOfParts>
    <vt:vector size="48" baseType="lpstr">
      <vt:lpstr>Meiryo UI</vt:lpstr>
      <vt:lpstr>Myriad Pro</vt:lpstr>
      <vt:lpstr>Noto Sans JP</vt:lpstr>
      <vt:lpstr>メイリオ</vt:lpstr>
      <vt:lpstr>Arial</vt:lpstr>
      <vt:lpstr>Calibri</vt:lpstr>
      <vt:lpstr>PowerPoint 2010 のご紹介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帳票定義作成編_リビジョンの更新</dc:title>
  <dc:creator/>
  <cp:lastModifiedBy>伊藤 大輔</cp:lastModifiedBy>
  <cp:revision>33</cp:revision>
  <dcterms:created xsi:type="dcterms:W3CDTF">2012-01-24T01:18:54Z</dcterms:created>
  <dcterms:modified xsi:type="dcterms:W3CDTF">2026-01-27T06:39:25Z</dcterms:modified>
</cp:coreProperties>
</file>