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504" r:id="rId2"/>
    <p:sldId id="4534" r:id="rId3"/>
    <p:sldId id="933" r:id="rId4"/>
    <p:sldId id="4535" r:id="rId5"/>
  </p:sldIdLst>
  <p:sldSz cx="12192000" cy="6858000"/>
  <p:notesSz cx="7104063" cy="10234613"/>
  <p:defaultTextStyle>
    <a:defPPr>
      <a:defRPr kumimoji="1" lang="ja-JP"/>
    </a:defPPr>
    <a:lvl1pPr marL="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CB6BBEF7-9717-4733-A929-535518E6EBF6}">
          <p14:sldIdLst/>
        </p14:section>
        <p14:section name="タイトルなしのセクション" id="{DAEEE08E-E74A-49D1-8EDB-0EC47F44F318}">
          <p14:sldIdLst>
            <p14:sldId id="4504"/>
            <p14:sldId id="4534"/>
            <p14:sldId id="933"/>
            <p14:sldId id="45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994"/>
    <a:srgbClr val="FF9500"/>
    <a:srgbClr val="1AA1A9"/>
    <a:srgbClr val="FFFFFF"/>
    <a:srgbClr val="C00000"/>
    <a:srgbClr val="6600CC"/>
    <a:srgbClr val="CCFFCC"/>
    <a:srgbClr val="FDE7D5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5026" autoAdjust="0"/>
  </p:normalViewPr>
  <p:slideViewPr>
    <p:cSldViewPr>
      <p:cViewPr varScale="1">
        <p:scale>
          <a:sx n="65" d="100"/>
          <a:sy n="65" d="100"/>
        </p:scale>
        <p:origin x="58" y="25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62"/>
    </p:cViewPr>
  </p:sorterViewPr>
  <p:notesViewPr>
    <p:cSldViewPr>
      <p:cViewPr>
        <p:scale>
          <a:sx n="75" d="100"/>
          <a:sy n="75" d="100"/>
        </p:scale>
        <p:origin x="-1968" y="72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924" cy="511649"/>
          </a:xfrm>
          <a:prstGeom prst="rect">
            <a:avLst/>
          </a:prstGeom>
        </p:spPr>
        <p:txBody>
          <a:bodyPr vert="horz" lIns="94669" tIns="47335" rIns="94669" bIns="4733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4023482" y="0"/>
            <a:ext cx="3078924" cy="511649"/>
          </a:xfrm>
          <a:prstGeom prst="rect">
            <a:avLst/>
          </a:prstGeom>
        </p:spPr>
        <p:txBody>
          <a:bodyPr vert="horz" lIns="94669" tIns="47335" rIns="94669" bIns="47335" rtlCol="0"/>
          <a:lstStyle>
            <a:lvl1pPr algn="r">
              <a:defRPr sz="1200"/>
            </a:lvl1pPr>
          </a:lstStyle>
          <a:p>
            <a:fld id="{0220A4B1-6D73-4E92-A2F9-7B11B307AFF0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9721330"/>
            <a:ext cx="3078924" cy="511648"/>
          </a:xfrm>
          <a:prstGeom prst="rect">
            <a:avLst/>
          </a:prstGeom>
        </p:spPr>
        <p:txBody>
          <a:bodyPr vert="horz" lIns="94669" tIns="47335" rIns="94669" bIns="4733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4023482" y="9721330"/>
            <a:ext cx="3078924" cy="511648"/>
          </a:xfrm>
          <a:prstGeom prst="rect">
            <a:avLst/>
          </a:prstGeom>
        </p:spPr>
        <p:txBody>
          <a:bodyPr vert="horz" lIns="94669" tIns="47335" rIns="94669" bIns="47335" rtlCol="0" anchor="b"/>
          <a:lstStyle>
            <a:lvl1pPr algn="r">
              <a:defRPr sz="1200"/>
            </a:lvl1pPr>
          </a:lstStyle>
          <a:p>
            <a:fld id="{D4381593-4517-4F6D-9CE2-9EFA26A9DC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0190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1731"/>
          </a:xfrm>
          <a:prstGeom prst="rect">
            <a:avLst/>
          </a:prstGeom>
        </p:spPr>
        <p:txBody>
          <a:bodyPr vert="horz" lIns="94669" tIns="47335" rIns="94669" bIns="47335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1731"/>
          </a:xfrm>
          <a:prstGeom prst="rect">
            <a:avLst/>
          </a:prstGeom>
        </p:spPr>
        <p:txBody>
          <a:bodyPr vert="horz" lIns="94669" tIns="47335" rIns="94669" bIns="47335" rtlCol="0"/>
          <a:lstStyle>
            <a:lvl1pPr algn="r" latinLnBrk="0">
              <a:defRPr kumimoji="1" lang="ja-JP" sz="1200"/>
            </a:lvl1pPr>
          </a:lstStyle>
          <a:p>
            <a:fld id="{00F830A1-3891-4B82-A120-081866556DA0}" type="datetimeFigureOut">
              <a:pPr/>
              <a:t>2026/3/3</a:t>
            </a:fld>
            <a:endParaRPr kumimoji="1"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9" tIns="47335" rIns="94669" bIns="47335" rtlCol="0" anchor="ctr"/>
          <a:lstStyle/>
          <a:p>
            <a:endParaRPr kumimoji="1"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8" y="4861442"/>
            <a:ext cx="5683250" cy="4605576"/>
          </a:xfrm>
          <a:prstGeom prst="rect">
            <a:avLst/>
          </a:prstGeom>
        </p:spPr>
        <p:txBody>
          <a:bodyPr vert="horz" lIns="94669" tIns="47335" rIns="94669" bIns="47335" rtlCol="0"/>
          <a:lstStyle/>
          <a:p>
            <a:pPr lvl="0"/>
            <a:r>
              <a:rPr kumimoji="1" lang="ja-JP"/>
              <a:t>マスター テキストの書式設定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07"/>
            <a:ext cx="3078427" cy="511731"/>
          </a:xfrm>
          <a:prstGeom prst="rect">
            <a:avLst/>
          </a:prstGeom>
        </p:spPr>
        <p:txBody>
          <a:bodyPr vert="horz" lIns="94669" tIns="47335" rIns="94669" bIns="47335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1731"/>
          </a:xfrm>
          <a:prstGeom prst="rect">
            <a:avLst/>
          </a:prstGeom>
        </p:spPr>
        <p:txBody>
          <a:bodyPr vert="horz" lIns="94669" tIns="47335" rIns="94669" bIns="47335" rtlCol="0" anchor="b"/>
          <a:lstStyle>
            <a:lvl1pPr algn="r" latinLnBrk="0">
              <a:defRPr kumimoji="1" lang="ja-JP" sz="1200"/>
            </a:lvl1pPr>
          </a:lstStyle>
          <a:p>
            <a:fld id="{58CC9574-A819-4FE4-99A7-1E27AD09ADC2}" type="slidenum">
              <a:pPr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13002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1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2283084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4643-4817-30A7-8CC7-BB0B1076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304C3-3EFD-60D4-7DAA-C988C3128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171D4-58C2-A6FF-1AB1-3F304BA6C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492C0-D530-06D8-0AD9-775FCB590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2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3945334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91980-0BF3-461C-95D4-87E094E9751C}" type="slidenum">
              <a:rPr kumimoji="1" lang="en-US" altLang="ja-JP" smtClean="0"/>
              <a:pPr/>
              <a:t>3</a:t>
            </a:fld>
            <a:endParaRPr kumimoji="1" lang="ja-JP" dirty="0"/>
          </a:p>
        </p:txBody>
      </p:sp>
    </p:spTree>
    <p:extLst>
      <p:ext uri="{BB962C8B-B14F-4D97-AF65-F5344CB8AC3E}">
        <p14:creationId xmlns:p14="http://schemas.microsoft.com/office/powerpoint/2010/main" val="886579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ノンブル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-9197" y="6492876"/>
            <a:ext cx="12201197" cy="3651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kumimoji="1" lang="ja-JP"/>
            </a:defPPr>
            <a:lvl1pPr marL="0" algn="ctr" defTabSz="914400" rtl="0" eaLnBrk="1" latinLnBrk="0" hangingPunct="1">
              <a:defRPr kumimoji="0" lang="ja-JP" sz="105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©CIMTOPS Corporation</a:t>
            </a:r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0" y="6492875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159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ノンブル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-9197" y="6492876"/>
            <a:ext cx="12201197" cy="3651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kumimoji="1" lang="ja-JP"/>
            </a:defPPr>
            <a:lvl1pPr marL="0" algn="ctr" defTabSz="914400" rtl="0" eaLnBrk="1" latinLnBrk="0" hangingPunct="1">
              <a:defRPr kumimoji="0" lang="ja-JP" sz="105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©CIMTOPS Corporation</a:t>
            </a:r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0" y="6492875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C0E1241-FF73-43E8-954B-3F3CACF2BC29}"/>
              </a:ext>
            </a:extLst>
          </p:cNvPr>
          <p:cNvSpPr txBox="1"/>
          <p:nvPr userDrawn="1"/>
        </p:nvSpPr>
        <p:spPr>
          <a:xfrm>
            <a:off x="11423915" y="6492876"/>
            <a:ext cx="768085" cy="3651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5FB837A6-7C55-4832-9375-068F3190A347}" type="slidenum">
              <a:rPr kumimoji="1" lang="ja-JP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pPr algn="ctr"/>
              <a:t>‹#›</a:t>
            </a:fld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-9197" y="6492876"/>
            <a:ext cx="12201197" cy="365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kumimoji="1" lang="ja-JP"/>
            </a:defPPr>
            <a:lvl1pPr marL="0" algn="ctr" defTabSz="914400" rtl="0" eaLnBrk="1" latinLnBrk="0" hangingPunct="1">
              <a:defRPr kumimoji="0" lang="ja-JP" sz="105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©CIMTOPS Corporation</a:t>
            </a: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11423915" y="6492876"/>
            <a:ext cx="768085" cy="3651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5FB837A6-7C55-4832-9375-068F3190A347}" type="slidenum">
              <a:rPr kumimoji="1" lang="ja-JP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pPr algn="ctr"/>
              <a:t>‹#›</a:t>
            </a:fld>
            <a:endParaRPr kumimoji="1" lang="ja-JP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</a:endParaRPr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0" y="6492875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 userDrawn="1"/>
        </p:nvSpPr>
        <p:spPr>
          <a:xfrm>
            <a:off x="0" y="0"/>
            <a:ext cx="12192000" cy="620688"/>
          </a:xfrm>
          <a:prstGeom prst="rect">
            <a:avLst/>
          </a:prstGeom>
          <a:solidFill>
            <a:srgbClr val="004994"/>
          </a:solidFill>
          <a:ln>
            <a:solidFill>
              <a:srgbClr val="004994"/>
            </a:solidFill>
          </a:ln>
        </p:spPr>
        <p:txBody>
          <a:bodyPr wrap="square" tIns="72000" bIns="0" rtlCol="0" anchor="ctr">
            <a:noAutofit/>
          </a:bodyPr>
          <a:lstStyle/>
          <a:p>
            <a:pPr marL="177800"/>
            <a:endParaRPr lang="ja-JP" altLang="en-US" sz="24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-9197" y="6492876"/>
            <a:ext cx="12201197" cy="365125"/>
          </a:xfrm>
          <a:prstGeom prst="rect">
            <a:avLst/>
          </a:prstGeom>
          <a:solidFill>
            <a:srgbClr val="FF9500"/>
          </a:solidFill>
          <a:ln>
            <a:solidFill>
              <a:srgbClr val="FF9500"/>
            </a:solidFill>
          </a:ln>
        </p:spPr>
        <p:txBody>
          <a:bodyPr vert="horz" lIns="91440" tIns="45720" rIns="91440" bIns="45720" rtlCol="0" anchor="ctr"/>
          <a:lstStyle>
            <a:defPPr>
              <a:defRPr kumimoji="1" lang="ja-JP"/>
            </a:defPPr>
            <a:lvl1pPr marL="0" algn="ctr" defTabSz="914400" rtl="0" eaLnBrk="1" latinLnBrk="0" hangingPunct="1">
              <a:defRPr kumimoji="0" lang="ja-JP" sz="105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b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©CIMTOPS Corporation</a:t>
            </a: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11423915" y="6492876"/>
            <a:ext cx="768085" cy="3651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5FB837A6-7C55-4832-9375-068F3190A347}" type="slidenum">
              <a:rPr kumimoji="1" lang="ja-JP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pPr algn="ctr"/>
              <a:t>‹#›</a:t>
            </a:fld>
            <a:endParaRPr kumimoji="1" lang="ja-JP" altLang="en-US" sz="110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</a:endParaRPr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0" y="6492875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 userDrawn="1"/>
        </p:nvSpPr>
        <p:spPr>
          <a:xfrm>
            <a:off x="0" y="0"/>
            <a:ext cx="12192000" cy="620688"/>
          </a:xfrm>
          <a:prstGeom prst="rect">
            <a:avLst/>
          </a:prstGeom>
          <a:solidFill>
            <a:srgbClr val="FF9500"/>
          </a:solidFill>
          <a:ln>
            <a:solidFill>
              <a:srgbClr val="FF9500"/>
            </a:solidFill>
          </a:ln>
        </p:spPr>
        <p:txBody>
          <a:bodyPr wrap="square" tIns="72000" bIns="0" rtlCol="0" anchor="ctr">
            <a:noAutofit/>
          </a:bodyPr>
          <a:lstStyle/>
          <a:p>
            <a:pPr marL="177800"/>
            <a:endParaRPr lang="ja-JP" altLang="en-US" sz="24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97739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-9197" y="6492876"/>
            <a:ext cx="12201197" cy="365125"/>
          </a:xfrm>
          <a:prstGeom prst="rect">
            <a:avLst/>
          </a:prstGeom>
          <a:solidFill>
            <a:srgbClr val="1AA1A9"/>
          </a:solidFill>
          <a:ln>
            <a:solidFill>
              <a:srgbClr val="1AA1A9"/>
            </a:solidFill>
          </a:ln>
        </p:spPr>
        <p:txBody>
          <a:bodyPr vert="horz" lIns="91440" tIns="45720" rIns="91440" bIns="45720" rtlCol="0" anchor="ctr"/>
          <a:lstStyle>
            <a:defPPr>
              <a:defRPr kumimoji="1" lang="ja-JP"/>
            </a:defPPr>
            <a:lvl1pPr marL="0" algn="ctr" defTabSz="914400" rtl="0" eaLnBrk="1" latinLnBrk="0" hangingPunct="1">
              <a:defRPr kumimoji="0" lang="ja-JP" sz="105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lang="ja-JP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 b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t>©CIMTOPS Corporation</a:t>
            </a: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11423915" y="6492876"/>
            <a:ext cx="768085" cy="3651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fld id="{5FB837A6-7C55-4832-9375-068F3190A347}" type="slidenum">
              <a:rPr kumimoji="1" lang="ja-JP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Myriad Pro" pitchFamily="34" charset="0"/>
              </a:rPr>
              <a:pPr algn="ctr"/>
              <a:t>‹#›</a:t>
            </a:fld>
            <a:endParaRPr kumimoji="1" lang="ja-JP" altLang="en-US" sz="1100">
              <a:solidFill>
                <a:schemeClr val="tx1">
                  <a:lumMod val="75000"/>
                  <a:lumOff val="25000"/>
                </a:schemeClr>
              </a:solidFill>
              <a:latin typeface="Myriad Pro" pitchFamily="34" charset="0"/>
            </a:endParaRPr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0" y="6492875"/>
            <a:ext cx="1219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 userDrawn="1"/>
        </p:nvSpPr>
        <p:spPr>
          <a:xfrm>
            <a:off x="0" y="0"/>
            <a:ext cx="12192000" cy="620688"/>
          </a:xfrm>
          <a:prstGeom prst="rect">
            <a:avLst/>
          </a:prstGeom>
          <a:solidFill>
            <a:srgbClr val="1AA1A9"/>
          </a:solidFill>
          <a:ln>
            <a:solidFill>
              <a:srgbClr val="1AA1A9"/>
            </a:solidFill>
          </a:ln>
        </p:spPr>
        <p:txBody>
          <a:bodyPr wrap="square" tIns="72000" bIns="0" rtlCol="0" anchor="ctr">
            <a:noAutofit/>
          </a:bodyPr>
          <a:lstStyle/>
          <a:p>
            <a:pPr marL="177800"/>
            <a:endParaRPr lang="ja-JP" altLang="en-US" sz="24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17465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eaLnBrk="1" latinLnBrk="0" hangingPunct="1"/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0" hangingPunct="1">
              <a:defRPr kumimoji="0" lang="ja-JP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8050E-B668-4FA7-85AD-C750C80A6E9B}" type="datetimeFigureOut">
              <a:pPr/>
              <a:t>2026/3/3</a:t>
            </a:fld>
            <a:endParaRPr kumimoji="0"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0" hangingPunct="1">
              <a:defRPr kumimoji="0" lang="ja-JP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latinLnBrk="0" hangingPunct="1">
              <a:defRPr kumimoji="0" lang="ja-JP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D5ECE-8B49-45CD-BE81-EF81920D1969}" type="slidenum">
              <a:pPr/>
              <a:t>‹#›</a:t>
            </a:fld>
            <a:endParaRPr kumimoji="0" lang="ja-JP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  <a:p>
            <a:pPr lvl="1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2 </a:t>
            </a:r>
            <a:r>
              <a:rPr kumimoji="0" lang="ja-JP" altLang="en-US"/>
              <a:t>レベル</a:t>
            </a:r>
          </a:p>
          <a:p>
            <a:pPr lvl="2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3 </a:t>
            </a:r>
            <a:r>
              <a:rPr kumimoji="0" lang="ja-JP" altLang="en-US"/>
              <a:t>レベル</a:t>
            </a:r>
          </a:p>
          <a:p>
            <a:pPr lvl="3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4 </a:t>
            </a:r>
            <a:r>
              <a:rPr kumimoji="0" lang="ja-JP" altLang="en-US"/>
              <a:t>レベル</a:t>
            </a:r>
          </a:p>
          <a:p>
            <a:pPr lvl="4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5 </a:t>
            </a:r>
            <a:r>
              <a:rPr kumimoji="0" lang="ja-JP" altLang="en-US"/>
              <a:t>レベル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49" r:id="rId2"/>
    <p:sldLayoutId id="2147483663" r:id="rId3"/>
    <p:sldLayoutId id="2147483666" r:id="rId4"/>
    <p:sldLayoutId id="2147483667" r:id="rId5"/>
  </p:sldLayoutIdLst>
  <p:txStyles>
    <p:titleStyle>
      <a:lvl1pPr algn="ctr" defTabSz="914400" rtl="0" eaLnBrk="1" latinLnBrk="0" hangingPunct="1">
        <a:spcBef>
          <a:spcPct val="0"/>
        </a:spcBef>
        <a:buNone/>
        <a:defRPr kumimoji="1" lang="ja-JP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lang="ja-JP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lang="ja-JP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kumimoji="0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205B9E2A-66C8-E0F6-8B19-734EBBD60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928" y="1583783"/>
            <a:ext cx="3850078" cy="452950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3940BB8-F5CF-86FF-AF99-587C052F1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039" y="1583783"/>
            <a:ext cx="3850078" cy="45295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C67CBE8-40E9-5415-2A88-BF5555788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302" y="1587272"/>
            <a:ext cx="5320342" cy="40751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テキスト ボックス 5"/>
          <p:cNvSpPr txBox="1"/>
          <p:nvPr/>
        </p:nvSpPr>
        <p:spPr>
          <a:xfrm>
            <a:off x="950480" y="789527"/>
            <a:ext cx="10297144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①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	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事前に設定されたレイアウトを使いクラスター設定をします。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②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	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ConMas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-Reporter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種別設定画面を呼び出します。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023992" y="1312035"/>
            <a:ext cx="4783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lvl="1" indent="-269875" defTabSz="4751388">
              <a:buClr>
                <a:schemeClr val="accent5">
                  <a:lumMod val="75000"/>
                </a:schemeClr>
              </a:buClr>
              <a:tabLst>
                <a:tab pos="269875" algn="l"/>
                <a:tab pos="444500" algn="l"/>
              </a:tabLst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</a:t>
            </a:r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ConMas </a:t>
            </a:r>
            <a:r>
              <a:rPr lang="en-US" altLang="ja-JP" sz="1200" b="1" dirty="0" err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</a:t>
            </a:r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-Reporter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種別選択」画面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クラスター設定の流れ</a:t>
            </a:r>
          </a:p>
        </p:txBody>
      </p:sp>
      <p:sp>
        <p:nvSpPr>
          <p:cNvPr id="18" name="角丸四角形 17"/>
          <p:cNvSpPr/>
          <p:nvPr/>
        </p:nvSpPr>
        <p:spPr>
          <a:xfrm>
            <a:off x="1631504" y="1775931"/>
            <a:ext cx="504056" cy="638955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曲線コネクタ 20"/>
          <p:cNvCxnSpPr>
            <a:cxnSpLocks/>
            <a:stCxn id="18" idx="3"/>
          </p:cNvCxnSpPr>
          <p:nvPr/>
        </p:nvCxnSpPr>
        <p:spPr>
          <a:xfrm>
            <a:off x="2135560" y="2095409"/>
            <a:ext cx="4104457" cy="114085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角丸四角形吹き出し 24"/>
          <p:cNvSpPr/>
          <p:nvPr/>
        </p:nvSpPr>
        <p:spPr>
          <a:xfrm>
            <a:off x="1559496" y="3603757"/>
            <a:ext cx="2952328" cy="552283"/>
          </a:xfrm>
          <a:prstGeom prst="wedgeRoundRectCallout">
            <a:avLst>
              <a:gd name="adj1" fmla="val -36579"/>
              <a:gd name="adj2" fmla="val -229104"/>
              <a:gd name="adj3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9875" indent="-269875" defTabSz="2605088">
              <a:tabLst>
                <a:tab pos="269875" algn="l"/>
              </a:tabLst>
            </a:pP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A)	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リボン内の「アドイン」タブから</a:t>
            </a:r>
            <a:endParaRPr kumimoji="1"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69875" indent="-269875" defTabSz="2605088">
              <a:tabLst>
                <a:tab pos="269875" algn="l"/>
              </a:tabLst>
            </a:pP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「クラスター種別設定」をクリック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88A8B9B-B398-D8CE-8A14-D142FB068802}"/>
              </a:ext>
            </a:extLst>
          </p:cNvPr>
          <p:cNvSpPr txBox="1"/>
          <p:nvPr/>
        </p:nvSpPr>
        <p:spPr>
          <a:xfrm>
            <a:off x="5735510" y="5768692"/>
            <a:ext cx="4896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4751388">
              <a:buClr>
                <a:schemeClr val="accent5">
                  <a:lumMod val="75000"/>
                </a:schemeClr>
              </a:buClr>
            </a:pP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端末種別の変更は不要です。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0" lvl="1" defTabSz="4751388">
              <a:buClr>
                <a:schemeClr val="accent5">
                  <a:lumMod val="75000"/>
                </a:schemeClr>
              </a:buClr>
            </a:pP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Windows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版の設定では非対応クラスターは非表示となります。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5" name="曲線コネクタ 21">
            <a:extLst>
              <a:ext uri="{FF2B5EF4-FFF2-40B4-BE49-F238E27FC236}">
                <a16:creationId xmlns:a16="http://schemas.microsoft.com/office/drawing/2014/main" id="{2A6EB374-4306-73F9-4A4E-8FE8C3BF37C8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H="1">
            <a:off x="5735510" y="5233247"/>
            <a:ext cx="831200" cy="735500"/>
          </a:xfrm>
          <a:prstGeom prst="curvedConnector3">
            <a:avLst>
              <a:gd name="adj1" fmla="val -27502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E3D0B02-D03F-FF99-C643-A27F05E4AD54}"/>
              </a:ext>
            </a:extLst>
          </p:cNvPr>
          <p:cNvSpPr/>
          <p:nvPr/>
        </p:nvSpPr>
        <p:spPr>
          <a:xfrm>
            <a:off x="6716952" y="5023789"/>
            <a:ext cx="1179247" cy="418915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角丸四角形 17">
            <a:extLst>
              <a:ext uri="{FF2B5EF4-FFF2-40B4-BE49-F238E27FC236}">
                <a16:creationId xmlns:a16="http://schemas.microsoft.com/office/drawing/2014/main" id="{422CE7BE-B27B-6EC8-6015-34790DC5CFE1}"/>
              </a:ext>
            </a:extLst>
          </p:cNvPr>
          <p:cNvSpPr/>
          <p:nvPr/>
        </p:nvSpPr>
        <p:spPr>
          <a:xfrm>
            <a:off x="4642987" y="1570483"/>
            <a:ext cx="432048" cy="24035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43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C816-2498-9358-9A0D-0ACC9C9C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24CCA41-877F-2447-47CA-CA9DB8498D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319" b="77725"/>
          <a:stretch/>
        </p:blipFill>
        <p:spPr>
          <a:xfrm>
            <a:off x="2721458" y="2507266"/>
            <a:ext cx="2138036" cy="14118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02C4A66-9CF6-CFB6-2FE6-220D244BC98E}"/>
              </a:ext>
            </a:extLst>
          </p:cNvPr>
          <p:cNvSpPr txBox="1"/>
          <p:nvPr/>
        </p:nvSpPr>
        <p:spPr>
          <a:xfrm>
            <a:off x="950480" y="789527"/>
            <a:ext cx="7809816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</a:tabLst>
            </a:pP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【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重要</a:t>
            </a:r>
            <a:r>
              <a:rPr lang="en-US" altLang="ja-JP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】</a:t>
            </a:r>
            <a:r>
              <a:rPr lang="ja-JP" altLang="en-US" sz="14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クラスター抽出について</a:t>
            </a:r>
            <a:endParaRPr lang="en-US" altLang="ja-JP" sz="14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Add-in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独自の法則に則り、自動的にクラスターへ設定します。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この機能内で判断ができないセルは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Unknown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となります。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使用した場合は、目視で設定内容を確認するようにしましょう。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712183D-2A3E-AF2C-E9FC-BCA0B8079361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en-US" altLang="ja-JP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ConMas EXCEL COM Add-in</a:t>
            </a:r>
            <a:r>
              <a:rPr lang="ja-JP" altLang="en-US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（アドイン）の起動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B1E34E1D-D309-FD0A-E6B4-0EA1BFD24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035" y="2486642"/>
            <a:ext cx="3914861" cy="14324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EBB701AC-DFE2-A0F6-54F3-BF85BBCE0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1624" y="4024514"/>
            <a:ext cx="6430272" cy="1371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角丸四角形吹き出し 27">
            <a:extLst>
              <a:ext uri="{FF2B5EF4-FFF2-40B4-BE49-F238E27FC236}">
                <a16:creationId xmlns:a16="http://schemas.microsoft.com/office/drawing/2014/main" id="{F4C0E1B6-980F-F1FF-624B-824A46C8AE02}"/>
              </a:ext>
            </a:extLst>
          </p:cNvPr>
          <p:cNvSpPr/>
          <p:nvPr/>
        </p:nvSpPr>
        <p:spPr>
          <a:xfrm>
            <a:off x="4880184" y="5661248"/>
            <a:ext cx="3063322" cy="497967"/>
          </a:xfrm>
          <a:prstGeom prst="wedgeRoundRectCallout">
            <a:avLst>
              <a:gd name="adj1" fmla="val -9557"/>
              <a:gd name="adj2" fmla="val -86132"/>
              <a:gd name="adj3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9875" indent="-269875" algn="ctr" defTabSz="2605088">
              <a:tabLst>
                <a:tab pos="269875" algn="l"/>
              </a:tabLst>
            </a:pP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設定されたクラスターを解除します。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7903C22-883B-4FB9-51A2-CDF704F66923}"/>
              </a:ext>
            </a:extLst>
          </p:cNvPr>
          <p:cNvSpPr/>
          <p:nvPr/>
        </p:nvSpPr>
        <p:spPr>
          <a:xfrm>
            <a:off x="6096000" y="5008479"/>
            <a:ext cx="2016224" cy="371074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十字形 22">
            <a:extLst>
              <a:ext uri="{FF2B5EF4-FFF2-40B4-BE49-F238E27FC236}">
                <a16:creationId xmlns:a16="http://schemas.microsoft.com/office/drawing/2014/main" id="{F9CD6E51-E7B4-4C77-C007-95FFE9033CEC}"/>
              </a:ext>
            </a:extLst>
          </p:cNvPr>
          <p:cNvSpPr/>
          <p:nvPr/>
        </p:nvSpPr>
        <p:spPr>
          <a:xfrm rot="2580181">
            <a:off x="2915854" y="3100540"/>
            <a:ext cx="305318" cy="296848"/>
          </a:xfrm>
          <a:prstGeom prst="plus">
            <a:avLst>
              <a:gd name="adj" fmla="val 4819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1192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5538402-D8F5-DC1E-838B-52D46AC2A2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03"/>
          <a:stretch>
            <a:fillRect/>
          </a:stretch>
        </p:blipFill>
        <p:spPr>
          <a:xfrm>
            <a:off x="1926445" y="2105598"/>
            <a:ext cx="8552477" cy="42262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テキスト ボックス 5"/>
          <p:cNvSpPr txBox="1"/>
          <p:nvPr/>
        </p:nvSpPr>
        <p:spPr>
          <a:xfrm>
            <a:off x="950480" y="773703"/>
            <a:ext cx="1029714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前ページからの続き</a:t>
            </a:r>
            <a:endParaRPr lang="en-US" altLang="ja-JP" sz="14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③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	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設定を行なうセルをクリックします。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0" lvl="1" defTabSz="10139363">
              <a:lnSpc>
                <a:spcPct val="150000"/>
              </a:lnSpc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④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	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種別設定画面で、クラスター種別選択とクラスター名称を設定します。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marL="0" lvl="1" defTabSz="10139363">
              <a:buClr>
                <a:schemeClr val="accent5">
                  <a:lumMod val="75000"/>
                </a:schemeClr>
              </a:buClr>
              <a:tabLst>
                <a:tab pos="269875" algn="l"/>
                <a:tab pos="538163" algn="l"/>
              </a:tabLst>
            </a:pP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	※	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「クラスター名称」は未設定の場合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”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クラスター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”+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”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index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”という名称になります。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1" name="角丸四角形 10"/>
          <p:cNvSpPr/>
          <p:nvPr/>
        </p:nvSpPr>
        <p:spPr>
          <a:xfrm>
            <a:off x="5591944" y="2133094"/>
            <a:ext cx="901427" cy="3346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en-US" altLang="ja-JP" sz="2400" b="1" dirty="0" err="1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i</a:t>
            </a:r>
            <a:r>
              <a:rPr lang="en-US" altLang="ja-JP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-Reporter</a:t>
            </a:r>
            <a:r>
              <a:rPr lang="ja-JP" altLang="en-US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アプリで入力するセルに対して、クラスターを設定</a:t>
            </a:r>
          </a:p>
        </p:txBody>
      </p:sp>
      <p:sp>
        <p:nvSpPr>
          <p:cNvPr id="18" name="角丸四角形 17"/>
          <p:cNvSpPr/>
          <p:nvPr/>
        </p:nvSpPr>
        <p:spPr>
          <a:xfrm>
            <a:off x="2877237" y="3685259"/>
            <a:ext cx="986515" cy="384689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曲線コネクタ 20"/>
          <p:cNvCxnSpPr>
            <a:cxnSpLocks/>
            <a:stCxn id="18" idx="3"/>
            <a:endCxn id="32" idx="1"/>
          </p:cNvCxnSpPr>
          <p:nvPr/>
        </p:nvCxnSpPr>
        <p:spPr>
          <a:xfrm flipV="1">
            <a:off x="3863752" y="3595391"/>
            <a:ext cx="2668558" cy="28221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角丸四角形吹き出し 24"/>
          <p:cNvSpPr/>
          <p:nvPr/>
        </p:nvSpPr>
        <p:spPr>
          <a:xfrm>
            <a:off x="2146495" y="4864245"/>
            <a:ext cx="1978884" cy="478456"/>
          </a:xfrm>
          <a:prstGeom prst="wedgeRoundRectCallout">
            <a:avLst>
              <a:gd name="adj1" fmla="val -2150"/>
              <a:gd name="adj2" fmla="val -196540"/>
              <a:gd name="adj3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9875" indent="-269875" defTabSz="2605088">
              <a:tabLst>
                <a:tab pos="269875" algn="l"/>
              </a:tabLst>
            </a:pP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設定を行なうセルを</a:t>
            </a:r>
            <a:endParaRPr kumimoji="1"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69875" indent="-269875" defTabSz="2605088">
              <a:tabLst>
                <a:tab pos="269875" algn="l"/>
              </a:tabLst>
            </a:pP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クリックして選択</a:t>
            </a:r>
          </a:p>
        </p:txBody>
      </p:sp>
      <p:sp>
        <p:nvSpPr>
          <p:cNvPr id="32" name="角丸四角形 31"/>
          <p:cNvSpPr/>
          <p:nvPr/>
        </p:nvSpPr>
        <p:spPr>
          <a:xfrm>
            <a:off x="6532310" y="2105598"/>
            <a:ext cx="1056992" cy="2979586"/>
          </a:xfrm>
          <a:prstGeom prst="roundRect">
            <a:avLst>
              <a:gd name="adj" fmla="val 2350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角丸四角形 32"/>
          <p:cNvSpPr/>
          <p:nvPr/>
        </p:nvSpPr>
        <p:spPr>
          <a:xfrm>
            <a:off x="9097371" y="2099068"/>
            <a:ext cx="1352160" cy="1246495"/>
          </a:xfrm>
          <a:prstGeom prst="roundRect">
            <a:avLst>
              <a:gd name="adj" fmla="val 2350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角丸四角形 34"/>
          <p:cNvSpPr/>
          <p:nvPr/>
        </p:nvSpPr>
        <p:spPr>
          <a:xfrm>
            <a:off x="8143713" y="2082709"/>
            <a:ext cx="829772" cy="266171"/>
          </a:xfrm>
          <a:prstGeom prst="roundRect">
            <a:avLst>
              <a:gd name="adj" fmla="val 2350"/>
            </a:avLst>
          </a:prstGeom>
          <a:noFill/>
          <a:ln w="38100">
            <a:solidFill>
              <a:srgbClr val="FF0000"/>
            </a:solidFill>
            <a:prstDash val="sysDot"/>
          </a:ln>
          <a:effectLst>
            <a:glow rad="508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角丸四角形吹き出し 25"/>
          <p:cNvSpPr/>
          <p:nvPr/>
        </p:nvSpPr>
        <p:spPr>
          <a:xfrm>
            <a:off x="7885330" y="3936321"/>
            <a:ext cx="2751853" cy="863145"/>
          </a:xfrm>
          <a:prstGeom prst="wedgeRoundRectCallout">
            <a:avLst>
              <a:gd name="adj1" fmla="val -24272"/>
              <a:gd name="adj2" fmla="val -203967"/>
              <a:gd name="adj3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9875" indent="-269875" defTabSz="2605088">
              <a:tabLst>
                <a:tab pos="269875" algn="l"/>
              </a:tabLst>
            </a:pP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角丸四角形吹き出し 35"/>
          <p:cNvSpPr/>
          <p:nvPr/>
        </p:nvSpPr>
        <p:spPr>
          <a:xfrm>
            <a:off x="7885330" y="3911413"/>
            <a:ext cx="2751853" cy="863145"/>
          </a:xfrm>
          <a:prstGeom prst="wedgeRoundRectCallout">
            <a:avLst>
              <a:gd name="adj1" fmla="val 10487"/>
              <a:gd name="adj2" fmla="val -111237"/>
              <a:gd name="adj3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9875" indent="-269875" defTabSz="2605088">
              <a:tabLst>
                <a:tab pos="269875" algn="l"/>
              </a:tabLst>
            </a:pP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クラスター名称を設定</a:t>
            </a:r>
            <a:endParaRPr kumimoji="1"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69875" indent="-269875" defTabSz="2605088">
              <a:tabLst>
                <a:tab pos="269875" algn="l"/>
              </a:tabLst>
            </a:pP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-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ヒント内からクリックして選択</a:t>
            </a:r>
            <a:endParaRPr kumimoji="1"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69875" indent="-269875" defTabSz="2605088">
              <a:tabLst>
                <a:tab pos="269875" algn="l"/>
              </a:tabLst>
            </a:pP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または</a:t>
            </a:r>
            <a:endParaRPr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69875" indent="-269875" defTabSz="2605088">
              <a:tabLst>
                <a:tab pos="269875" algn="l"/>
              </a:tabLst>
            </a:pP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-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クラスター名称欄に直接入力</a:t>
            </a:r>
          </a:p>
        </p:txBody>
      </p:sp>
      <p:sp>
        <p:nvSpPr>
          <p:cNvPr id="29" name="角丸四角形吹き出し 28"/>
          <p:cNvSpPr/>
          <p:nvPr/>
        </p:nvSpPr>
        <p:spPr>
          <a:xfrm>
            <a:off x="5429730" y="2790115"/>
            <a:ext cx="1040637" cy="433438"/>
          </a:xfrm>
          <a:prstGeom prst="wedgeRoundRectCallout">
            <a:avLst>
              <a:gd name="adj1" fmla="val 1724"/>
              <a:gd name="adj2" fmla="val -106958"/>
              <a:gd name="adj3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9875" indent="-269875" defTabSz="2605088">
              <a:tabLst>
                <a:tab pos="269875" algn="l"/>
              </a:tabLst>
            </a:pPr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設定内容が</a:t>
            </a:r>
            <a:endParaRPr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69875" indent="-269875" defTabSz="2605088">
              <a:tabLst>
                <a:tab pos="269875" algn="l"/>
              </a:tabLst>
            </a:pPr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表示</a:t>
            </a:r>
            <a:endParaRPr kumimoji="1" lang="ja-JP" altLang="en-US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角丸四角形吹き出し 27"/>
          <p:cNvSpPr/>
          <p:nvPr/>
        </p:nvSpPr>
        <p:spPr>
          <a:xfrm>
            <a:off x="3445910" y="5598027"/>
            <a:ext cx="1978884" cy="478455"/>
          </a:xfrm>
          <a:prstGeom prst="wedgeRoundRectCallout">
            <a:avLst>
              <a:gd name="adj1" fmla="val 97020"/>
              <a:gd name="adj2" fmla="val -229459"/>
              <a:gd name="adj3" fmla="val 16667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9875" indent="-269875" defTabSz="2605088">
              <a:tabLst>
                <a:tab pos="269875" algn="l"/>
              </a:tabLst>
            </a:pP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使用する種別を</a:t>
            </a:r>
            <a:endParaRPr kumimoji="1"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69875" indent="-269875" defTabSz="2605088">
              <a:tabLst>
                <a:tab pos="269875" algn="l"/>
              </a:tabLst>
            </a:pP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選択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858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B6C8E73-6648-6240-4A58-8205236CE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39" y="817058"/>
            <a:ext cx="3896296" cy="54922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92D2AB-644A-AA19-02DD-D9EB7B699E39}"/>
              </a:ext>
            </a:extLst>
          </p:cNvPr>
          <p:cNvSpPr txBox="1"/>
          <p:nvPr/>
        </p:nvSpPr>
        <p:spPr>
          <a:xfrm>
            <a:off x="0" y="0"/>
            <a:ext cx="12192000" cy="62068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tIns="72000" bIns="0" rtlCol="0" anchor="ctr">
            <a:noAutofit/>
          </a:bodyPr>
          <a:lstStyle/>
          <a:p>
            <a:pPr marL="177800"/>
            <a:r>
              <a:rPr lang="ja-JP" altLang="en-US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講習で使用する</a:t>
            </a:r>
            <a:r>
              <a:rPr lang="en-US" altLang="ja-JP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Excel</a:t>
            </a:r>
            <a:r>
              <a:rPr lang="ja-JP" altLang="en-US" sz="24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ファイルに設定する「クラスター」の種別①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00E8604B-D1CA-62F5-5ADE-EB8BB3506868}"/>
              </a:ext>
            </a:extLst>
          </p:cNvPr>
          <p:cNvGraphicFramePr>
            <a:graphicFrameLocks noGrp="1"/>
          </p:cNvGraphicFramePr>
          <p:nvPr/>
        </p:nvGraphicFramePr>
        <p:xfrm>
          <a:off x="6057202" y="1367472"/>
          <a:ext cx="5439398" cy="3956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506">
                  <a:extLst>
                    <a:ext uri="{9D8B030D-6E8A-4147-A177-3AD203B41FA5}">
                      <a16:colId xmlns:a16="http://schemas.microsoft.com/office/drawing/2014/main" val="1988358298"/>
                    </a:ext>
                  </a:extLst>
                </a:gridCol>
                <a:gridCol w="2234020">
                  <a:extLst>
                    <a:ext uri="{9D8B030D-6E8A-4147-A177-3AD203B41FA5}">
                      <a16:colId xmlns:a16="http://schemas.microsoft.com/office/drawing/2014/main" val="1013444405"/>
                    </a:ext>
                  </a:extLst>
                </a:gridCol>
                <a:gridCol w="2330872">
                  <a:extLst>
                    <a:ext uri="{9D8B030D-6E8A-4147-A177-3AD203B41FA5}">
                      <a16:colId xmlns:a16="http://schemas.microsoft.com/office/drawing/2014/main" val="3967385857"/>
                    </a:ext>
                  </a:extLst>
                </a:gridCol>
              </a:tblGrid>
              <a:tr h="4219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丸数字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クラスター名称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600" b="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クラスター種別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276408"/>
                  </a:ext>
                </a:extLst>
              </a:tr>
              <a:tr h="441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入力者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キーボードテキスト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408409"/>
                  </a:ext>
                </a:extLst>
              </a:tr>
              <a:tr h="441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メーカー名</a:t>
                      </a:r>
                      <a:endParaRPr kumimoji="1" lang="en-US" altLang="ja-JP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単一選択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632934"/>
                  </a:ext>
                </a:extLst>
              </a:tr>
              <a:tr h="441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検査状況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複数選択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948383"/>
                  </a:ext>
                </a:extLst>
              </a:tr>
              <a:tr h="441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正常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チェック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69977"/>
                  </a:ext>
                </a:extLst>
              </a:tr>
              <a:tr h="441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異常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チェック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47815"/>
                  </a:ext>
                </a:extLst>
              </a:tr>
              <a:tr h="441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数値入力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数値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65450"/>
                  </a:ext>
                </a:extLst>
              </a:tr>
              <a:tr h="441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フリードロー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フリードロー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74443"/>
                  </a:ext>
                </a:extLst>
              </a:tr>
              <a:tr h="4417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788615"/>
                  </a:ext>
                </a:extLst>
              </a:tr>
            </a:tbl>
          </a:graphicData>
        </a:graphic>
      </p:graphicFrame>
      <p:sp>
        <p:nvSpPr>
          <p:cNvPr id="23" name="右矢印 23">
            <a:extLst>
              <a:ext uri="{FF2B5EF4-FFF2-40B4-BE49-F238E27FC236}">
                <a16:creationId xmlns:a16="http://schemas.microsoft.com/office/drawing/2014/main" id="{AE6C17DB-1A97-FDBF-DD03-C6D0673569F6}"/>
              </a:ext>
            </a:extLst>
          </p:cNvPr>
          <p:cNvSpPr/>
          <p:nvPr/>
        </p:nvSpPr>
        <p:spPr>
          <a:xfrm rot="10800000">
            <a:off x="5284764" y="3218967"/>
            <a:ext cx="423091" cy="72008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03B09156-2146-122B-F993-9819BDFF8C02}"/>
              </a:ext>
            </a:extLst>
          </p:cNvPr>
          <p:cNvGrpSpPr/>
          <p:nvPr/>
        </p:nvGrpSpPr>
        <p:grpSpPr>
          <a:xfrm>
            <a:off x="2066227" y="1431485"/>
            <a:ext cx="2227639" cy="4284813"/>
            <a:chOff x="2066227" y="1426249"/>
            <a:chExt cx="2227639" cy="424929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BA269C8-6960-DB65-BF59-11A6F346214E}"/>
                </a:ext>
              </a:extLst>
            </p:cNvPr>
            <p:cNvSpPr/>
            <p:nvPr/>
          </p:nvSpPr>
          <p:spPr>
            <a:xfrm>
              <a:off x="2377084" y="1426249"/>
              <a:ext cx="421483" cy="270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①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85D0C2E-6CAF-803B-A303-A859BD2E16EF}"/>
                </a:ext>
              </a:extLst>
            </p:cNvPr>
            <p:cNvSpPr/>
            <p:nvPr/>
          </p:nvSpPr>
          <p:spPr>
            <a:xfrm>
              <a:off x="2377085" y="1794583"/>
              <a:ext cx="421483" cy="270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②</a:t>
              </a: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BACE8ED-C919-D809-F2D1-E5DE5D0EFD89}"/>
                </a:ext>
              </a:extLst>
            </p:cNvPr>
            <p:cNvSpPr/>
            <p:nvPr/>
          </p:nvSpPr>
          <p:spPr>
            <a:xfrm>
              <a:off x="2377083" y="2162917"/>
              <a:ext cx="421483" cy="270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③</a:t>
              </a: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2EA24D0-62AB-E61E-7393-7B39FB1F7147}"/>
                </a:ext>
              </a:extLst>
            </p:cNvPr>
            <p:cNvSpPr/>
            <p:nvPr/>
          </p:nvSpPr>
          <p:spPr>
            <a:xfrm>
              <a:off x="2066227" y="2927950"/>
              <a:ext cx="421483" cy="270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④</a:t>
              </a: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F63D578B-13C8-7E55-7EAE-5F525F4F457D}"/>
                </a:ext>
              </a:extLst>
            </p:cNvPr>
            <p:cNvSpPr/>
            <p:nvPr/>
          </p:nvSpPr>
          <p:spPr>
            <a:xfrm>
              <a:off x="2969305" y="2928196"/>
              <a:ext cx="421483" cy="270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⑤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684F4EA0-994A-91DD-7651-40ED8A167FE8}"/>
                </a:ext>
              </a:extLst>
            </p:cNvPr>
            <p:cNvSpPr/>
            <p:nvPr/>
          </p:nvSpPr>
          <p:spPr>
            <a:xfrm>
              <a:off x="2855640" y="3978494"/>
              <a:ext cx="421483" cy="270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⑦</a:t>
              </a: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A8EAFB8-7E6B-969C-C396-C5A092212EFE}"/>
                </a:ext>
              </a:extLst>
            </p:cNvPr>
            <p:cNvSpPr/>
            <p:nvPr/>
          </p:nvSpPr>
          <p:spPr>
            <a:xfrm>
              <a:off x="3872383" y="2927950"/>
              <a:ext cx="421483" cy="270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⑥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17CBFC82-9B0F-9A16-C9F5-FC77AE3AA34B}"/>
                </a:ext>
              </a:extLst>
            </p:cNvPr>
            <p:cNvSpPr/>
            <p:nvPr/>
          </p:nvSpPr>
          <p:spPr>
            <a:xfrm>
              <a:off x="2377082" y="5171356"/>
              <a:ext cx="421483" cy="2747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①</a:t>
              </a: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C31A639C-3EDB-5CEF-3AFF-747A7CF49836}"/>
                </a:ext>
              </a:extLst>
            </p:cNvPr>
            <p:cNvSpPr/>
            <p:nvPr/>
          </p:nvSpPr>
          <p:spPr>
            <a:xfrm>
              <a:off x="2377081" y="5400840"/>
              <a:ext cx="421483" cy="2747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/>
              <a:r>
                <a:rPr lang="ja-JP" altLang="en-US" sz="1200" b="1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⑥</a:t>
              </a:r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6309049-9EB6-5AD7-38A9-60507435ED7F}"/>
              </a:ext>
            </a:extLst>
          </p:cNvPr>
          <p:cNvSpPr/>
          <p:nvPr/>
        </p:nvSpPr>
        <p:spPr>
          <a:xfrm>
            <a:off x="4083124" y="5628929"/>
            <a:ext cx="4214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⑧</a:t>
            </a:r>
            <a:endParaRPr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FDBF128-B9EB-C591-7CAE-87D52F91D465}"/>
              </a:ext>
            </a:extLst>
          </p:cNvPr>
          <p:cNvSpPr/>
          <p:nvPr/>
        </p:nvSpPr>
        <p:spPr>
          <a:xfrm>
            <a:off x="2379097" y="5670701"/>
            <a:ext cx="4214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⑥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7E9FE20-1B11-4E01-D4D1-28970C20D722}"/>
              </a:ext>
            </a:extLst>
          </p:cNvPr>
          <p:cNvSpPr/>
          <p:nvPr/>
        </p:nvSpPr>
        <p:spPr>
          <a:xfrm>
            <a:off x="2376163" y="5881631"/>
            <a:ext cx="4214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⑥</a:t>
            </a:r>
          </a:p>
        </p:txBody>
      </p:sp>
    </p:spTree>
    <p:extLst>
      <p:ext uri="{BB962C8B-B14F-4D97-AF65-F5344CB8AC3E}">
        <p14:creationId xmlns:p14="http://schemas.microsoft.com/office/powerpoint/2010/main" val="33869889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"/>
</p:tagLst>
</file>

<file path=ppt/theme/theme1.xml><?xml version="1.0" encoding="utf-8"?>
<a:theme xmlns:a="http://schemas.openxmlformats.org/drawingml/2006/main" name="PowerPoint 2010 のご紹介">
  <a:themeElements>
    <a:clrScheme name="Fresh">
      <a:dk1>
        <a:srgbClr val="262626"/>
      </a:dk1>
      <a:lt1>
        <a:sysClr val="window" lastClr="FFFFFF"/>
      </a:lt1>
      <a:dk2>
        <a:srgbClr val="595959"/>
      </a:dk2>
      <a:lt2>
        <a:srgbClr val="EEECE1"/>
      </a:lt2>
      <a:accent1>
        <a:srgbClr val="F4891E"/>
      </a:accent1>
      <a:accent2>
        <a:srgbClr val="7BCF27"/>
      </a:accent2>
      <a:accent3>
        <a:srgbClr val="9BBB59"/>
      </a:accent3>
      <a:accent4>
        <a:srgbClr val="00B0F0"/>
      </a:accent4>
      <a:accent5>
        <a:srgbClr val="4BACC6"/>
      </a:accent5>
      <a:accent6>
        <a:srgbClr val="F79646"/>
      </a:accent6>
      <a:hlink>
        <a:srgbClr val="00B0F0"/>
      </a:hlink>
      <a:folHlink>
        <a:srgbClr val="F4891E"/>
      </a:folHlink>
    </a:clrScheme>
    <a:fontScheme name="ユーザー定義 1">
      <a:majorFont>
        <a:latin typeface="Calibri"/>
        <a:ea typeface="ＭＳ Ｐゴシック"/>
        <a:cs typeface=""/>
      </a:majorFont>
      <a:minorFont>
        <a:latin typeface="Calibri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1072</TotalTime>
  <Words>322</Words>
  <Application>Microsoft Office PowerPoint</Application>
  <PresentationFormat>ワイド画面</PresentationFormat>
  <Paragraphs>72</Paragraphs>
  <Slides>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Myriad Pro</vt:lpstr>
      <vt:lpstr>メイリオ</vt:lpstr>
      <vt:lpstr>Arial</vt:lpstr>
      <vt:lpstr>Calibri</vt:lpstr>
      <vt:lpstr>PowerPoint 2010 のご紹介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帳票定義作成編_さっそく使ってみよう</dc:title>
  <dc:creator>伊藤 大輔</dc:creator>
  <cp:lastModifiedBy>伊藤 大輔</cp:lastModifiedBy>
  <cp:revision>50</cp:revision>
  <dcterms:created xsi:type="dcterms:W3CDTF">2012-01-24T01:18:54Z</dcterms:created>
  <dcterms:modified xsi:type="dcterms:W3CDTF">2026-03-03T08:36:25Z</dcterms:modified>
</cp:coreProperties>
</file>