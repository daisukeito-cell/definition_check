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77" r:id="rId2"/>
    <p:sldId id="4501" r:id="rId3"/>
    <p:sldId id="4528" r:id="rId4"/>
    <p:sldId id="4519" r:id="rId5"/>
    <p:sldId id="4546" r:id="rId6"/>
    <p:sldId id="4531" r:id="rId7"/>
    <p:sldId id="4541" r:id="rId8"/>
    <p:sldId id="4533" r:id="rId9"/>
    <p:sldId id="4534" r:id="rId10"/>
    <p:sldId id="4535" r:id="rId11"/>
    <p:sldId id="4511" r:id="rId12"/>
    <p:sldId id="4547" r:id="rId13"/>
    <p:sldId id="4544" r:id="rId14"/>
  </p:sldIdLst>
  <p:sldSz cx="12192000" cy="6858000"/>
  <p:notesSz cx="7104063" cy="10234613"/>
  <p:defaultTextStyle>
    <a:defPPr>
      <a:defRPr kumimoji="1" lang="ja-JP"/>
    </a:defPPr>
    <a:lvl1pPr marL="0" algn="l" defTabSz="914400" rtl="0" eaLnBrk="1" latinLnBrk="0" hangingPunct="1">
      <a:defRPr kumimoji="1" lang="ja-JP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CB6BBEF7-9717-4733-A929-535518E6EBF6}">
          <p14:sldIdLst>
            <p14:sldId id="277"/>
          </p14:sldIdLst>
        </p14:section>
        <p14:section name="タイトルなしのセクション" id="{DAEEE08E-E74A-49D1-8EDB-0EC47F44F318}">
          <p14:sldIdLst>
            <p14:sldId id="4501"/>
            <p14:sldId id="4528"/>
            <p14:sldId id="4519"/>
            <p14:sldId id="4546"/>
            <p14:sldId id="4531"/>
            <p14:sldId id="4541"/>
            <p14:sldId id="4533"/>
            <p14:sldId id="4534"/>
            <p14:sldId id="4535"/>
            <p14:sldId id="4511"/>
            <p14:sldId id="4547"/>
            <p14:sldId id="45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EA8EC"/>
    <a:srgbClr val="C00000"/>
    <a:srgbClr val="6600CC"/>
    <a:srgbClr val="CCFFCC"/>
    <a:srgbClr val="FDE7D5"/>
    <a:srgbClr val="333399"/>
    <a:srgbClr val="FFFFFF"/>
    <a:srgbClr val="CCECFF"/>
    <a:srgbClr val="FEE6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4C1A8A3-306A-4EB7-A6B1-4F7E0EB9C5D6}" styleName="中間スタイル 3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96" autoAdjust="0"/>
    <p:restoredTop sz="95026" autoAdjust="0"/>
  </p:normalViewPr>
  <p:slideViewPr>
    <p:cSldViewPr>
      <p:cViewPr varScale="1">
        <p:scale>
          <a:sx n="76" d="100"/>
          <a:sy n="76" d="100"/>
        </p:scale>
        <p:origin x="398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162"/>
    </p:cViewPr>
  </p:sorterViewPr>
  <p:notesViewPr>
    <p:cSldViewPr>
      <p:cViewPr>
        <p:scale>
          <a:sx n="75" d="100"/>
          <a:sy n="75" d="100"/>
        </p:scale>
        <p:origin x="-1968" y="726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3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924" cy="511649"/>
          </a:xfrm>
          <a:prstGeom prst="rect">
            <a:avLst/>
          </a:prstGeom>
        </p:spPr>
        <p:txBody>
          <a:bodyPr vert="horz" lIns="94669" tIns="47335" rIns="94669" bIns="4733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4023482" y="0"/>
            <a:ext cx="3078924" cy="511649"/>
          </a:xfrm>
          <a:prstGeom prst="rect">
            <a:avLst/>
          </a:prstGeom>
        </p:spPr>
        <p:txBody>
          <a:bodyPr vert="horz" lIns="94669" tIns="47335" rIns="94669" bIns="47335" rtlCol="0"/>
          <a:lstStyle>
            <a:lvl1pPr algn="r">
              <a:defRPr sz="1200"/>
            </a:lvl1pPr>
          </a:lstStyle>
          <a:p>
            <a:fld id="{0220A4B1-6D73-4E92-A2F9-7B11B307AFF0}" type="datetimeFigureOut">
              <a:rPr kumimoji="1" lang="ja-JP" altLang="en-US" smtClean="0"/>
              <a:t>2025/8/4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1" y="9721330"/>
            <a:ext cx="3078924" cy="511648"/>
          </a:xfrm>
          <a:prstGeom prst="rect">
            <a:avLst/>
          </a:prstGeom>
        </p:spPr>
        <p:txBody>
          <a:bodyPr vert="horz" lIns="94669" tIns="47335" rIns="94669" bIns="4733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4023482" y="9721330"/>
            <a:ext cx="3078924" cy="511648"/>
          </a:xfrm>
          <a:prstGeom prst="rect">
            <a:avLst/>
          </a:prstGeom>
        </p:spPr>
        <p:txBody>
          <a:bodyPr vert="horz" lIns="94669" tIns="47335" rIns="94669" bIns="47335" rtlCol="0" anchor="b"/>
          <a:lstStyle>
            <a:lvl1pPr algn="r">
              <a:defRPr sz="1200"/>
            </a:lvl1pPr>
          </a:lstStyle>
          <a:p>
            <a:fld id="{D4381593-4517-4F6D-9CE2-9EFA26A9DC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70190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8427" cy="511731"/>
          </a:xfrm>
          <a:prstGeom prst="rect">
            <a:avLst/>
          </a:prstGeom>
        </p:spPr>
        <p:txBody>
          <a:bodyPr vert="horz" lIns="94669" tIns="47335" rIns="94669" bIns="47335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1731"/>
          </a:xfrm>
          <a:prstGeom prst="rect">
            <a:avLst/>
          </a:prstGeom>
        </p:spPr>
        <p:txBody>
          <a:bodyPr vert="horz" lIns="94669" tIns="47335" rIns="94669" bIns="47335" rtlCol="0"/>
          <a:lstStyle>
            <a:lvl1pPr algn="r" latinLnBrk="0">
              <a:defRPr kumimoji="1" lang="ja-JP" sz="1200"/>
            </a:lvl1pPr>
          </a:lstStyle>
          <a:p>
            <a:fld id="{00F830A1-3891-4B82-A120-081866556DA0}" type="datetimeFigureOut">
              <a:pPr/>
              <a:t>2025/8/4</a:t>
            </a:fld>
            <a:endParaRPr kumimoji="1" lang="ja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69" tIns="47335" rIns="94669" bIns="47335" rtlCol="0" anchor="ctr"/>
          <a:lstStyle/>
          <a:p>
            <a:endParaRPr kumimoji="1" lang="ja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8" y="4861442"/>
            <a:ext cx="5683250" cy="4605576"/>
          </a:xfrm>
          <a:prstGeom prst="rect">
            <a:avLst/>
          </a:prstGeom>
        </p:spPr>
        <p:txBody>
          <a:bodyPr vert="horz" lIns="94669" tIns="47335" rIns="94669" bIns="47335" rtlCol="0"/>
          <a:lstStyle/>
          <a:p>
            <a:pPr lvl="0"/>
            <a:r>
              <a:rPr kumimoji="1" lang="ja-JP"/>
              <a:t>マスター テキストの書式設定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07"/>
            <a:ext cx="3078427" cy="511731"/>
          </a:xfrm>
          <a:prstGeom prst="rect">
            <a:avLst/>
          </a:prstGeom>
        </p:spPr>
        <p:txBody>
          <a:bodyPr vert="horz" lIns="94669" tIns="47335" rIns="94669" bIns="47335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1731"/>
          </a:xfrm>
          <a:prstGeom prst="rect">
            <a:avLst/>
          </a:prstGeom>
        </p:spPr>
        <p:txBody>
          <a:bodyPr vert="horz" lIns="94669" tIns="47335" rIns="94669" bIns="47335" rtlCol="0" anchor="b"/>
          <a:lstStyle>
            <a:lvl1pPr algn="r" latinLnBrk="0">
              <a:defRPr kumimoji="1" lang="ja-JP" sz="1200"/>
            </a:lvl1pPr>
          </a:lstStyle>
          <a:p>
            <a:fld id="{58CC9574-A819-4FE4-99A7-1E27AD09ADC2}" type="slidenum">
              <a:pPr/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130021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dirty="0"/>
              <a:t>この プレゼンテーションでは、</a:t>
            </a:r>
            <a:r>
              <a:rPr kumimoji="1" lang="en-US" altLang="ja-JP" dirty="0"/>
              <a:t>i-Reporter</a:t>
            </a:r>
            <a:r>
              <a:rPr kumimoji="1" lang="ja-JP" altLang="en-US" dirty="0"/>
              <a:t>の概要を説明します。</a:t>
            </a:r>
            <a:endParaRPr kumimoji="1" lang="en-US" altLang="ja-JP" dirty="0"/>
          </a:p>
          <a:p>
            <a:r>
              <a:rPr kumimoji="1" lang="ja-JP" altLang="en-US" dirty="0"/>
              <a:t>・タイトル名</a:t>
            </a:r>
            <a:endParaRPr kumimoji="1"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CC9574-A819-4FE4-99A7-1E27AD09ADC2}" type="slidenum">
              <a:rPr kumimoji="1" lang="ja-JP" smtClean="0"/>
              <a:pPr/>
              <a:t>1</a:t>
            </a:fld>
            <a:endParaRPr kumimoji="1" lang="ja-JP" dirty="0"/>
          </a:p>
        </p:txBody>
      </p:sp>
    </p:spTree>
    <p:extLst>
      <p:ext uri="{BB962C8B-B14F-4D97-AF65-F5344CB8AC3E}">
        <p14:creationId xmlns:p14="http://schemas.microsoft.com/office/powerpoint/2010/main" val="225625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・動作環境</a:t>
            </a:r>
            <a:r>
              <a:rPr kumimoji="1" lang="en-US" altLang="ja-JP" dirty="0"/>
              <a:t>pdf </a:t>
            </a:r>
            <a:r>
              <a:rPr kumimoji="1" lang="ja-JP" altLang="en-US" dirty="0"/>
              <a:t>のアドレス直書きで良いか？</a:t>
            </a:r>
            <a:endParaRPr kumimoji="1" lang="en-US" altLang="ja-JP" dirty="0"/>
          </a:p>
          <a:p>
            <a:r>
              <a:rPr kumimoji="1" lang="ja-JP" altLang="en-US"/>
              <a:t>　サポート</a:t>
            </a:r>
            <a:r>
              <a:rPr kumimoji="1" lang="en-US" altLang="ja-JP" dirty="0"/>
              <a:t>WEB</a:t>
            </a:r>
            <a:r>
              <a:rPr kumimoji="1" lang="ja-JP" altLang="en-US" baseline="0" dirty="0"/>
              <a:t> </a:t>
            </a:r>
            <a:r>
              <a:rPr kumimoji="1" lang="en-US" altLang="ja-JP" baseline="0" dirty="0"/>
              <a:t>– </a:t>
            </a:r>
            <a:r>
              <a:rPr kumimoji="1" lang="ja-JP" altLang="en-US" baseline="0" dirty="0"/>
              <a:t>ドキュメント アドレス？</a:t>
            </a:r>
            <a:endParaRPr kumimoji="1"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891980-0BF3-461C-95D4-87E094E9751C}" type="slidenum">
              <a:rPr kumimoji="1" lang="en-US" altLang="ja-JP" smtClean="0"/>
              <a:pPr/>
              <a:t>3</a:t>
            </a:fld>
            <a:endParaRPr kumimoji="1" lang="ja-JP" dirty="0"/>
          </a:p>
        </p:txBody>
      </p:sp>
    </p:spTree>
    <p:extLst>
      <p:ext uri="{BB962C8B-B14F-4D97-AF65-F5344CB8AC3E}">
        <p14:creationId xmlns:p14="http://schemas.microsoft.com/office/powerpoint/2010/main" val="2643447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891980-0BF3-461C-95D4-87E094E9751C}" type="slidenum">
              <a:rPr kumimoji="1" lang="en-US" altLang="ja-JP" smtClean="0"/>
              <a:pPr/>
              <a:t>4</a:t>
            </a:fld>
            <a:endParaRPr kumimoji="1" lang="ja-JP" dirty="0"/>
          </a:p>
        </p:txBody>
      </p:sp>
    </p:spTree>
    <p:extLst>
      <p:ext uri="{BB962C8B-B14F-4D97-AF65-F5344CB8AC3E}">
        <p14:creationId xmlns:p14="http://schemas.microsoft.com/office/powerpoint/2010/main" val="231916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51256-7E71-E2E7-795A-AD0E25279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ED4C8-81D8-C3C5-E5CD-5B2C96EBB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9900" cy="38369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A3E0A1-4A8B-B3EB-131B-DC7D3BF52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・動作環境</a:t>
            </a:r>
            <a:r>
              <a:rPr kumimoji="1" lang="en-US" altLang="ja-JP" dirty="0"/>
              <a:t>pdf </a:t>
            </a:r>
            <a:r>
              <a:rPr kumimoji="1" lang="ja-JP" altLang="en-US" dirty="0"/>
              <a:t>のアドレス直書きで良いか？</a:t>
            </a:r>
            <a:endParaRPr kumimoji="1" lang="en-US" altLang="ja-JP" dirty="0"/>
          </a:p>
          <a:p>
            <a:r>
              <a:rPr kumimoji="1" lang="ja-JP" altLang="en-US"/>
              <a:t>　サポート</a:t>
            </a:r>
            <a:r>
              <a:rPr kumimoji="1" lang="en-US" altLang="ja-JP" dirty="0"/>
              <a:t>WEB</a:t>
            </a:r>
            <a:r>
              <a:rPr kumimoji="1" lang="ja-JP" altLang="en-US" baseline="0" dirty="0"/>
              <a:t> </a:t>
            </a:r>
            <a:r>
              <a:rPr kumimoji="1" lang="en-US" altLang="ja-JP" baseline="0" dirty="0"/>
              <a:t>– </a:t>
            </a:r>
            <a:r>
              <a:rPr kumimoji="1" lang="ja-JP" altLang="en-US" baseline="0" dirty="0"/>
              <a:t>ドキュメント アドレス？</a:t>
            </a:r>
            <a:endParaRPr kumimoji="1" 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20017-4C89-84D7-6A31-432271C29B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891980-0BF3-461C-95D4-87E094E9751C}" type="slidenum">
              <a:rPr kumimoji="1" lang="en-US" altLang="ja-JP" smtClean="0"/>
              <a:pPr/>
              <a:t>5</a:t>
            </a:fld>
            <a:endParaRPr kumimoji="1" lang="ja-JP" dirty="0"/>
          </a:p>
        </p:txBody>
      </p:sp>
    </p:spTree>
    <p:extLst>
      <p:ext uri="{BB962C8B-B14F-4D97-AF65-F5344CB8AC3E}">
        <p14:creationId xmlns:p14="http://schemas.microsoft.com/office/powerpoint/2010/main" val="3570220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・動作環境</a:t>
            </a:r>
            <a:r>
              <a:rPr kumimoji="1" lang="en-US" altLang="ja-JP" dirty="0"/>
              <a:t>pdf </a:t>
            </a:r>
            <a:r>
              <a:rPr kumimoji="1" lang="ja-JP" altLang="en-US" dirty="0"/>
              <a:t>のアドレス直書きで良いか？</a:t>
            </a:r>
            <a:endParaRPr kumimoji="1" lang="en-US" altLang="ja-JP" dirty="0"/>
          </a:p>
          <a:p>
            <a:r>
              <a:rPr kumimoji="1" lang="ja-JP" altLang="en-US"/>
              <a:t>　サポート</a:t>
            </a:r>
            <a:r>
              <a:rPr kumimoji="1" lang="en-US" altLang="ja-JP" dirty="0"/>
              <a:t>WEB</a:t>
            </a:r>
            <a:r>
              <a:rPr kumimoji="1" lang="ja-JP" altLang="en-US" baseline="0" dirty="0"/>
              <a:t> </a:t>
            </a:r>
            <a:r>
              <a:rPr kumimoji="1" lang="en-US" altLang="ja-JP" baseline="0" dirty="0"/>
              <a:t>– </a:t>
            </a:r>
            <a:r>
              <a:rPr kumimoji="1" lang="ja-JP" altLang="en-US" baseline="0" dirty="0"/>
              <a:t>ドキュメント アドレス？</a:t>
            </a:r>
            <a:endParaRPr kumimoji="1"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891980-0BF3-461C-95D4-87E094E9751C}" type="slidenum">
              <a:rPr kumimoji="1" lang="en-US" altLang="ja-JP" smtClean="0"/>
              <a:pPr/>
              <a:t>6</a:t>
            </a:fld>
            <a:endParaRPr kumimoji="1" lang="ja-JP" dirty="0"/>
          </a:p>
        </p:txBody>
      </p:sp>
    </p:spTree>
    <p:extLst>
      <p:ext uri="{BB962C8B-B14F-4D97-AF65-F5344CB8AC3E}">
        <p14:creationId xmlns:p14="http://schemas.microsoft.com/office/powerpoint/2010/main" val="1008052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1D3E0-CF03-6FA6-4ECE-88579984A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8C87FB-5C52-610F-2650-C57F44E8C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9900" cy="38369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F57EA-BD05-FE69-5DA3-43875DDDB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・動作環境</a:t>
            </a:r>
            <a:r>
              <a:rPr kumimoji="1" lang="en-US" altLang="ja-JP" dirty="0"/>
              <a:t>pdf </a:t>
            </a:r>
            <a:r>
              <a:rPr kumimoji="1" lang="ja-JP" altLang="en-US" dirty="0"/>
              <a:t>のアドレス直書きで良いか？</a:t>
            </a:r>
            <a:endParaRPr kumimoji="1" lang="en-US" altLang="ja-JP" dirty="0"/>
          </a:p>
          <a:p>
            <a:r>
              <a:rPr kumimoji="1" lang="ja-JP" altLang="en-US"/>
              <a:t>　サポート</a:t>
            </a:r>
            <a:r>
              <a:rPr kumimoji="1" lang="en-US" altLang="ja-JP" dirty="0"/>
              <a:t>WEB</a:t>
            </a:r>
            <a:r>
              <a:rPr kumimoji="1" lang="ja-JP" altLang="en-US" baseline="0" dirty="0"/>
              <a:t> </a:t>
            </a:r>
            <a:r>
              <a:rPr kumimoji="1" lang="en-US" altLang="ja-JP" baseline="0" dirty="0"/>
              <a:t>– </a:t>
            </a:r>
            <a:r>
              <a:rPr kumimoji="1" lang="ja-JP" altLang="en-US" baseline="0" dirty="0"/>
              <a:t>ドキュメント アドレス？</a:t>
            </a:r>
            <a:endParaRPr kumimoji="1" 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9AFC2-AC7B-7304-D052-A231B30007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891980-0BF3-461C-95D4-87E094E9751C}" type="slidenum">
              <a:rPr kumimoji="1" lang="en-US" altLang="ja-JP" smtClean="0"/>
              <a:pPr/>
              <a:t>7</a:t>
            </a:fld>
            <a:endParaRPr kumimoji="1" lang="ja-JP" dirty="0"/>
          </a:p>
        </p:txBody>
      </p:sp>
    </p:spTree>
    <p:extLst>
      <p:ext uri="{BB962C8B-B14F-4D97-AF65-F5344CB8AC3E}">
        <p14:creationId xmlns:p14="http://schemas.microsoft.com/office/powerpoint/2010/main" val="4211921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・動作環境</a:t>
            </a:r>
            <a:r>
              <a:rPr kumimoji="1" lang="en-US" altLang="ja-JP" dirty="0"/>
              <a:t>pdf </a:t>
            </a:r>
            <a:r>
              <a:rPr kumimoji="1" lang="ja-JP" altLang="en-US" dirty="0"/>
              <a:t>のアドレス直書きで良いか？</a:t>
            </a:r>
            <a:endParaRPr kumimoji="1" lang="en-US" altLang="ja-JP" dirty="0"/>
          </a:p>
          <a:p>
            <a:r>
              <a:rPr kumimoji="1" lang="ja-JP" altLang="en-US"/>
              <a:t>　サポート</a:t>
            </a:r>
            <a:r>
              <a:rPr kumimoji="1" lang="en-US" altLang="ja-JP" dirty="0"/>
              <a:t>WEB</a:t>
            </a:r>
            <a:r>
              <a:rPr kumimoji="1" lang="ja-JP" altLang="en-US" baseline="0" dirty="0"/>
              <a:t> </a:t>
            </a:r>
            <a:r>
              <a:rPr kumimoji="1" lang="en-US" altLang="ja-JP" baseline="0" dirty="0"/>
              <a:t>– </a:t>
            </a:r>
            <a:r>
              <a:rPr kumimoji="1" lang="ja-JP" altLang="en-US" baseline="0" dirty="0"/>
              <a:t>ドキュメント アドレス？</a:t>
            </a:r>
            <a:endParaRPr kumimoji="1"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891980-0BF3-461C-95D4-87E094E9751C}" type="slidenum">
              <a:rPr kumimoji="1" lang="en-US" altLang="ja-JP" smtClean="0"/>
              <a:pPr/>
              <a:t>8</a:t>
            </a:fld>
            <a:endParaRPr kumimoji="1" lang="ja-JP" dirty="0"/>
          </a:p>
        </p:txBody>
      </p:sp>
    </p:spTree>
    <p:extLst>
      <p:ext uri="{BB962C8B-B14F-4D97-AF65-F5344CB8AC3E}">
        <p14:creationId xmlns:p14="http://schemas.microsoft.com/office/powerpoint/2010/main" val="2343854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カンマ区切り１０個くらいのデーターのうち４つを分解するようなやり方</a:t>
            </a:r>
            <a:endParaRPr kumimoji="1" lang="en-US" altLang="ja-JP" dirty="0"/>
          </a:p>
          <a:p>
            <a:r>
              <a:rPr kumimoji="1" lang="ja-JP" altLang="en-US" dirty="0"/>
              <a:t>練習は一つだけでいい</a:t>
            </a:r>
            <a:endParaRPr kumimoji="1" lang="en-US" altLang="ja-JP" dirty="0"/>
          </a:p>
          <a:p>
            <a:r>
              <a:rPr kumimoji="1" lang="ja-JP" altLang="en-US" dirty="0"/>
              <a:t>使ってない人向けの説明はいらない</a:t>
            </a:r>
            <a:endParaRPr kumimoji="1"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891980-0BF3-461C-95D4-87E094E9751C}" type="slidenum">
              <a:rPr kumimoji="1" lang="en-US" altLang="ja-JP" smtClean="0"/>
              <a:pPr/>
              <a:t>9</a:t>
            </a:fld>
            <a:endParaRPr kumimoji="1" lang="ja-JP" dirty="0"/>
          </a:p>
        </p:txBody>
      </p:sp>
    </p:spTree>
    <p:extLst>
      <p:ext uri="{BB962C8B-B14F-4D97-AF65-F5344CB8AC3E}">
        <p14:creationId xmlns:p14="http://schemas.microsoft.com/office/powerpoint/2010/main" val="3280378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・動作環境</a:t>
            </a:r>
            <a:r>
              <a:rPr kumimoji="1" lang="en-US" altLang="ja-JP" dirty="0"/>
              <a:t>pdf </a:t>
            </a:r>
            <a:r>
              <a:rPr kumimoji="1" lang="ja-JP" altLang="en-US" dirty="0"/>
              <a:t>のアドレス直書きで良いか？</a:t>
            </a:r>
            <a:endParaRPr kumimoji="1" lang="en-US" altLang="ja-JP" dirty="0"/>
          </a:p>
          <a:p>
            <a:r>
              <a:rPr kumimoji="1" lang="ja-JP" altLang="en-US"/>
              <a:t>　サポート</a:t>
            </a:r>
            <a:r>
              <a:rPr kumimoji="1" lang="en-US" altLang="ja-JP" dirty="0"/>
              <a:t>WEB</a:t>
            </a:r>
            <a:r>
              <a:rPr kumimoji="1" lang="ja-JP" altLang="en-US" baseline="0" dirty="0"/>
              <a:t> </a:t>
            </a:r>
            <a:r>
              <a:rPr kumimoji="1" lang="en-US" altLang="ja-JP" baseline="0" dirty="0"/>
              <a:t>– </a:t>
            </a:r>
            <a:r>
              <a:rPr kumimoji="1" lang="ja-JP" altLang="en-US" baseline="0" dirty="0"/>
              <a:t>ドキュメント アドレス？</a:t>
            </a:r>
            <a:endParaRPr kumimoji="1"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891980-0BF3-461C-95D4-87E094E9751C}" type="slidenum">
              <a:rPr kumimoji="1" lang="en-US" altLang="ja-JP" smtClean="0"/>
              <a:pPr/>
              <a:t>10</a:t>
            </a:fld>
            <a:endParaRPr kumimoji="1" lang="ja-JP" dirty="0"/>
          </a:p>
        </p:txBody>
      </p:sp>
    </p:spTree>
    <p:extLst>
      <p:ext uri="{BB962C8B-B14F-4D97-AF65-F5344CB8AC3E}">
        <p14:creationId xmlns:p14="http://schemas.microsoft.com/office/powerpoint/2010/main" val="19536313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・動作環境</a:t>
            </a:r>
            <a:r>
              <a:rPr kumimoji="1" lang="en-US" altLang="ja-JP" dirty="0"/>
              <a:t>pdf </a:t>
            </a:r>
            <a:r>
              <a:rPr kumimoji="1" lang="ja-JP" altLang="en-US" dirty="0"/>
              <a:t>のアドレス直書きで良いか？</a:t>
            </a:r>
            <a:endParaRPr kumimoji="1" lang="en-US" altLang="ja-JP" dirty="0"/>
          </a:p>
          <a:p>
            <a:r>
              <a:rPr kumimoji="1" lang="ja-JP" altLang="en-US" dirty="0"/>
              <a:t>　サポート</a:t>
            </a:r>
            <a:r>
              <a:rPr kumimoji="1" lang="en-US" altLang="ja-JP" dirty="0"/>
              <a:t>WEB</a:t>
            </a:r>
            <a:r>
              <a:rPr kumimoji="1" lang="ja-JP" altLang="en-US" baseline="0" dirty="0"/>
              <a:t> </a:t>
            </a:r>
            <a:r>
              <a:rPr kumimoji="1" lang="en-US" altLang="ja-JP" baseline="0" dirty="0"/>
              <a:t>– </a:t>
            </a:r>
            <a:r>
              <a:rPr kumimoji="1" lang="ja-JP" altLang="en-US" baseline="0" dirty="0"/>
              <a:t>ドキュメント アドレス？</a:t>
            </a:r>
            <a:endParaRPr kumimoji="1"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891980-0BF3-461C-95D4-87E094E9751C}" type="slidenum">
              <a:rPr kumimoji="1" lang="en-US" altLang="ja-JP" smtClean="0"/>
              <a:pPr/>
              <a:t>11</a:t>
            </a:fld>
            <a:endParaRPr kumimoji="1" lang="ja-JP" dirty="0"/>
          </a:p>
        </p:txBody>
      </p:sp>
    </p:spTree>
    <p:extLst>
      <p:ext uri="{BB962C8B-B14F-4D97-AF65-F5344CB8AC3E}">
        <p14:creationId xmlns:p14="http://schemas.microsoft.com/office/powerpoint/2010/main" val="32242136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24403-D582-181D-E204-2DB64E703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F692B-9195-3235-97AF-429024E3C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9900" cy="38369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584156-99D5-A9D5-DBA9-96D1498A3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・動作環境</a:t>
            </a:r>
            <a:r>
              <a:rPr kumimoji="1" lang="en-US" altLang="ja-JP" dirty="0"/>
              <a:t>pdf </a:t>
            </a:r>
            <a:r>
              <a:rPr kumimoji="1" lang="ja-JP" altLang="en-US" dirty="0"/>
              <a:t>のアドレス直書きで良いか？</a:t>
            </a:r>
            <a:endParaRPr kumimoji="1" lang="en-US" altLang="ja-JP" dirty="0"/>
          </a:p>
          <a:p>
            <a:r>
              <a:rPr kumimoji="1" lang="ja-JP" altLang="en-US"/>
              <a:t>　サポート</a:t>
            </a:r>
            <a:r>
              <a:rPr kumimoji="1" lang="en-US" altLang="ja-JP" dirty="0"/>
              <a:t>WEB</a:t>
            </a:r>
            <a:r>
              <a:rPr kumimoji="1" lang="ja-JP" altLang="en-US" baseline="0" dirty="0"/>
              <a:t> </a:t>
            </a:r>
            <a:r>
              <a:rPr kumimoji="1" lang="en-US" altLang="ja-JP" baseline="0" dirty="0"/>
              <a:t>– </a:t>
            </a:r>
            <a:r>
              <a:rPr kumimoji="1" lang="ja-JP" altLang="en-US" baseline="0" dirty="0"/>
              <a:t>ドキュメント アドレス？</a:t>
            </a:r>
            <a:endParaRPr kumimoji="1" 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813AF-6C23-FA58-3F63-ECE289C312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891980-0BF3-461C-95D4-87E094E9751C}" type="slidenum">
              <a:rPr kumimoji="1" lang="en-US" altLang="ja-JP" smtClean="0"/>
              <a:pPr/>
              <a:t>12</a:t>
            </a:fld>
            <a:endParaRPr kumimoji="1" lang="ja-JP" dirty="0"/>
          </a:p>
        </p:txBody>
      </p:sp>
    </p:spTree>
    <p:extLst>
      <p:ext uri="{BB962C8B-B14F-4D97-AF65-F5344CB8AC3E}">
        <p14:creationId xmlns:p14="http://schemas.microsoft.com/office/powerpoint/2010/main" val="3759448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9A997-3A92-BB57-D333-55530AB70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7335B4-ED91-3D4D-508E-D03DDE696B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9900" cy="38369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E90729-0FE6-ED5B-91A2-1D87B79B7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2CA8C-C0D7-C8F1-6470-00002AC70A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891980-0BF3-461C-95D4-87E094E9751C}" type="slidenum">
              <a:rPr kumimoji="1" lang="en-US" altLang="ja-JP" smtClean="0"/>
              <a:pPr/>
              <a:t>13</a:t>
            </a:fld>
            <a:endParaRPr kumimoji="1" lang="ja-JP" dirty="0"/>
          </a:p>
        </p:txBody>
      </p:sp>
    </p:spTree>
    <p:extLst>
      <p:ext uri="{BB962C8B-B14F-4D97-AF65-F5344CB8AC3E}">
        <p14:creationId xmlns:p14="http://schemas.microsoft.com/office/powerpoint/2010/main" val="1709040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ノンブル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-9197" y="6492876"/>
            <a:ext cx="12201197" cy="3651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/>
          <a:lstStyle>
            <a:defPPr>
              <a:defRPr kumimoji="1" lang="ja-JP"/>
            </a:defPPr>
            <a:lvl1pPr marL="0" algn="ctr" defTabSz="914400" rtl="0" eaLnBrk="1" latinLnBrk="0" hangingPunct="1">
              <a:defRPr kumimoji="0" lang="ja-JP" sz="105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</a:rPr>
              <a:t>©CIMTOPS Corporation</a:t>
            </a:r>
          </a:p>
        </p:txBody>
      </p:sp>
      <p:cxnSp>
        <p:nvCxnSpPr>
          <p:cNvPr id="17" name="直線コネクタ 16"/>
          <p:cNvCxnSpPr/>
          <p:nvPr userDrawn="1"/>
        </p:nvCxnSpPr>
        <p:spPr>
          <a:xfrm>
            <a:off x="0" y="6492875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159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ノンブル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-9197" y="6492876"/>
            <a:ext cx="12201197" cy="3651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/>
          <a:lstStyle>
            <a:defPPr>
              <a:defRPr kumimoji="1" lang="ja-JP"/>
            </a:defPPr>
            <a:lvl1pPr marL="0" algn="ctr" defTabSz="914400" rtl="0" eaLnBrk="1" latinLnBrk="0" hangingPunct="1">
              <a:defRPr kumimoji="0" lang="ja-JP" sz="105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</a:rPr>
              <a:t>©CIMTOPS Corporation</a:t>
            </a:r>
          </a:p>
        </p:txBody>
      </p:sp>
      <p:cxnSp>
        <p:nvCxnSpPr>
          <p:cNvPr id="17" name="直線コネクタ 16"/>
          <p:cNvCxnSpPr/>
          <p:nvPr userDrawn="1"/>
        </p:nvCxnSpPr>
        <p:spPr>
          <a:xfrm>
            <a:off x="0" y="6492875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C0E1241-FF73-43E8-954B-3F3CACF2BC29}"/>
              </a:ext>
            </a:extLst>
          </p:cNvPr>
          <p:cNvSpPr txBox="1"/>
          <p:nvPr userDrawn="1"/>
        </p:nvSpPr>
        <p:spPr>
          <a:xfrm>
            <a:off x="11423915" y="6492876"/>
            <a:ext cx="768085" cy="36512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5FB837A6-7C55-4832-9375-068F3190A347}" type="slidenum">
              <a:rPr kumimoji="1" lang="ja-JP" alt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</a:rPr>
              <a:pPr algn="ctr"/>
              <a:t>‹#›</a:t>
            </a:fld>
            <a:endParaRPr kumimoji="1" lang="ja-JP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Myriad Pro" pitchFamily="34" charset="0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標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-9197" y="6492876"/>
            <a:ext cx="12201197" cy="365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kumimoji="1" lang="ja-JP"/>
            </a:defPPr>
            <a:lvl1pPr marL="0" algn="ctr" defTabSz="914400" rtl="0" eaLnBrk="1" latinLnBrk="0" hangingPunct="1">
              <a:defRPr kumimoji="0" lang="ja-JP" sz="105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</a:rPr>
              <a:t>©CIMTOPS Corporation</a:t>
            </a:r>
          </a:p>
        </p:txBody>
      </p:sp>
      <p:sp>
        <p:nvSpPr>
          <p:cNvPr id="6" name="テキスト ボックス 5"/>
          <p:cNvSpPr txBox="1"/>
          <p:nvPr userDrawn="1"/>
        </p:nvSpPr>
        <p:spPr>
          <a:xfrm>
            <a:off x="11423915" y="6492876"/>
            <a:ext cx="768085" cy="36512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5FB837A6-7C55-4832-9375-068F3190A347}" type="slidenum">
              <a:rPr kumimoji="1" lang="ja-JP" alt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</a:rPr>
              <a:pPr algn="ctr"/>
              <a:t>‹#›</a:t>
            </a:fld>
            <a:endParaRPr kumimoji="1" lang="ja-JP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Myriad Pro" pitchFamily="34" charset="0"/>
            </a:endParaRPr>
          </a:p>
        </p:txBody>
      </p:sp>
      <p:cxnSp>
        <p:nvCxnSpPr>
          <p:cNvPr id="10" name="直線コネクタ 9"/>
          <p:cNvCxnSpPr/>
          <p:nvPr userDrawn="1"/>
        </p:nvCxnSpPr>
        <p:spPr>
          <a:xfrm>
            <a:off x="0" y="6492875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テキスト ボックス 6"/>
          <p:cNvSpPr txBox="1"/>
          <p:nvPr userDrawn="1"/>
        </p:nvSpPr>
        <p:spPr>
          <a:xfrm>
            <a:off x="0" y="0"/>
            <a:ext cx="12192000" cy="620688"/>
          </a:xfrm>
          <a:prstGeom prst="rect">
            <a:avLst/>
          </a:prstGeom>
          <a:solidFill>
            <a:srgbClr val="333399"/>
          </a:solidFill>
          <a:ln>
            <a:solidFill>
              <a:srgbClr val="333399"/>
            </a:solidFill>
          </a:ln>
        </p:spPr>
        <p:txBody>
          <a:bodyPr wrap="square" tIns="72000" bIns="0" rtlCol="0" anchor="ctr">
            <a:noAutofit/>
          </a:bodyPr>
          <a:lstStyle/>
          <a:p>
            <a:pPr marL="177800"/>
            <a:endParaRPr lang="ja-JP" altLang="en-US" sz="24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eaLnBrk="1" latinLnBrk="0" hangingPunct="1"/>
            <a:r>
              <a:rPr kumimoji="0" lang="ja-JP" altLang="en-US"/>
              <a:t>マスター タイトルの書式設定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latinLnBrk="0" hangingPunct="1">
              <a:defRPr kumimoji="0" lang="ja-JP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8050E-B668-4FA7-85AD-C750C80A6E9B}" type="datetimeFigureOut">
              <a:pPr/>
              <a:t>2025/8/4</a:t>
            </a:fld>
            <a:endParaRPr kumimoji="0"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latinLnBrk="0" hangingPunct="1">
              <a:defRPr kumimoji="0" lang="ja-JP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0"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latinLnBrk="0" hangingPunct="1">
              <a:defRPr kumimoji="0" lang="ja-JP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D5ECE-8B49-45CD-BE81-EF81920D1969}" type="slidenum">
              <a:pPr/>
              <a:t>‹#›</a:t>
            </a:fld>
            <a:endParaRPr kumimoji="0" lang="ja-JP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eaLnBrk="1" latinLnBrk="0" hangingPunct="1"/>
            <a:r>
              <a:rPr kumimoji="0" lang="ja-JP" altLang="en-US"/>
              <a:t>マスター テキストの書式設定</a:t>
            </a:r>
          </a:p>
          <a:p>
            <a:pPr lvl="1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2 </a:t>
            </a:r>
            <a:r>
              <a:rPr kumimoji="0" lang="ja-JP" altLang="en-US"/>
              <a:t>レベル</a:t>
            </a:r>
          </a:p>
          <a:p>
            <a:pPr lvl="2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3 </a:t>
            </a:r>
            <a:r>
              <a:rPr kumimoji="0" lang="ja-JP" altLang="en-US"/>
              <a:t>レベル</a:t>
            </a:r>
          </a:p>
          <a:p>
            <a:pPr lvl="3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4 </a:t>
            </a:r>
            <a:r>
              <a:rPr kumimoji="0" lang="ja-JP" altLang="en-US"/>
              <a:t>レベル</a:t>
            </a:r>
          </a:p>
          <a:p>
            <a:pPr lvl="4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5 </a:t>
            </a:r>
            <a:r>
              <a:rPr kumimoji="0" lang="ja-JP" altLang="en-US"/>
              <a:t>レベル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49" r:id="rId2"/>
    <p:sldLayoutId id="2147483663" r:id="rId3"/>
  </p:sldLayoutIdLst>
  <p:txStyles>
    <p:titleStyle>
      <a:lvl1pPr algn="ctr" defTabSz="914400" rtl="0" eaLnBrk="1" latinLnBrk="0" hangingPunct="1">
        <a:spcBef>
          <a:spcPct val="0"/>
        </a:spcBef>
        <a:buNone/>
        <a:defRPr kumimoji="1" lang="ja-JP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lang="ja-JP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lang="ja-JP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lang="ja-JP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lang="ja-JP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lang="ja-JP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lang="ja-JP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lang="ja-JP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lang="ja-JP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lang="ja-JP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kumimoji="0"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6" Type="http://schemas.openxmlformats.org/officeDocument/2006/relationships/hyperlink" Target="https://manuals.i-reporter.jp/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01896AF-BE13-6A4C-1F2F-8F5B14916D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6" y="2187112"/>
            <a:ext cx="3480456" cy="1199915"/>
          </a:xfrm>
          <a:prstGeom prst="rect">
            <a:avLst/>
          </a:prstGeom>
        </p:spPr>
      </p:pic>
      <p:cxnSp>
        <p:nvCxnSpPr>
          <p:cNvPr id="7" name="直線コネクタ 6"/>
          <p:cNvCxnSpPr/>
          <p:nvPr/>
        </p:nvCxnSpPr>
        <p:spPr>
          <a:xfrm>
            <a:off x="335360" y="3158110"/>
            <a:ext cx="11521280" cy="0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3863752" y="6237312"/>
            <a:ext cx="4464496" cy="202842"/>
          </a:xfrm>
          <a:prstGeom prst="rect">
            <a:avLst/>
          </a:prstGeom>
          <a:noFill/>
          <a:ln>
            <a:noFill/>
          </a:ln>
        </p:spPr>
        <p:txBody>
          <a:bodyPr wrap="square" tIns="0" bIns="18000" rtlCol="0">
            <a:spAutoFit/>
          </a:bodyPr>
          <a:lstStyle/>
          <a:p>
            <a:pPr algn="ctr"/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</a:rPr>
              <a:t>Rev.1.1.1</a:t>
            </a:r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</a:rPr>
              <a:t>  </a:t>
            </a:r>
            <a:r>
              <a:rPr lang="en-US" altLang="ja-JP" sz="12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</a:rPr>
              <a:t>2025.08.04</a:t>
            </a:r>
            <a:endParaRPr lang="ja-JP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itchFamily="50" charset="-128"/>
            </a:endParaRPr>
          </a:p>
        </p:txBody>
      </p:sp>
      <p:sp>
        <p:nvSpPr>
          <p:cNvPr id="6" name="タイトル 1"/>
          <p:cNvSpPr txBox="1">
            <a:spLocks/>
          </p:cNvSpPr>
          <p:nvPr/>
        </p:nvSpPr>
        <p:spPr>
          <a:xfrm>
            <a:off x="3503712" y="3243171"/>
            <a:ext cx="8424936" cy="7618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pPr algn="r">
              <a:lnSpc>
                <a:spcPct val="95000"/>
              </a:lnSpc>
            </a:pPr>
            <a:r>
              <a:rPr lang="ja-JP" altLang="en-US" sz="2800" b="1" dirty="0">
                <a:solidFill>
                  <a:srgbClr val="C00000"/>
                </a:solidFill>
              </a:rPr>
              <a:t>知っておくと便利</a:t>
            </a:r>
            <a:r>
              <a:rPr lang="ja-JP" altLang="en-US" sz="2800" b="1">
                <a:solidFill>
                  <a:srgbClr val="C00000"/>
                </a:solidFill>
              </a:rPr>
              <a:t>な機能 ②</a:t>
            </a:r>
            <a:endParaRPr lang="en-US" altLang="ja-JP" sz="2800" b="1" dirty="0">
              <a:solidFill>
                <a:srgbClr val="C00000"/>
              </a:solidFill>
            </a:endParaRPr>
          </a:p>
          <a:p>
            <a:pPr algn="r">
              <a:lnSpc>
                <a:spcPct val="95000"/>
              </a:lnSpc>
            </a:pPr>
            <a:r>
              <a:rPr lang="ja-JP" altLang="en-US" sz="1400" b="1" dirty="0">
                <a:solidFill>
                  <a:srgbClr val="C00000"/>
                </a:solidFill>
              </a:rPr>
              <a:t>バーコード分解設定</a:t>
            </a:r>
            <a:endParaRPr lang="en-US" altLang="ja-JP" sz="1400" b="1" dirty="0">
              <a:solidFill>
                <a:srgbClr val="C00000"/>
              </a:solidFill>
            </a:endParaRPr>
          </a:p>
        </p:txBody>
      </p:sp>
      <p:sp>
        <p:nvSpPr>
          <p:cNvPr id="10" name="タイトル 1"/>
          <p:cNvSpPr txBox="1">
            <a:spLocks/>
          </p:cNvSpPr>
          <p:nvPr/>
        </p:nvSpPr>
        <p:spPr>
          <a:xfrm>
            <a:off x="3503712" y="2602628"/>
            <a:ext cx="8424936" cy="46633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pPr algn="r">
              <a:lnSpc>
                <a:spcPct val="95000"/>
              </a:lnSpc>
            </a:pPr>
            <a:r>
              <a:rPr lang="en-US" altLang="ja-JP" sz="2000" b="1" dirty="0" err="1">
                <a:solidFill>
                  <a:srgbClr val="C00000"/>
                </a:solidFill>
              </a:rPr>
              <a:t>i</a:t>
            </a:r>
            <a:r>
              <a:rPr lang="en-US" altLang="ja-JP" sz="2000" b="1" dirty="0">
                <a:solidFill>
                  <a:srgbClr val="C00000"/>
                </a:solidFill>
              </a:rPr>
              <a:t>-Reporter</a:t>
            </a:r>
            <a:r>
              <a:rPr lang="ja-JP" altLang="en-US" sz="2000" b="1" dirty="0">
                <a:solidFill>
                  <a:srgbClr val="C00000"/>
                </a:solidFill>
              </a:rPr>
              <a:t>講習会　</a:t>
            </a:r>
            <a:r>
              <a:rPr lang="ja-JP" altLang="en-US" b="1" dirty="0">
                <a:solidFill>
                  <a:srgbClr val="C00000"/>
                </a:solidFill>
              </a:rPr>
              <a:t>帳票定義作成編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7">
            <a:extLst>
              <a:ext uri="{FF2B5EF4-FFF2-40B4-BE49-F238E27FC236}">
                <a16:creationId xmlns:a16="http://schemas.microsoft.com/office/drawing/2014/main" id="{CB0A46FA-05DF-1771-078C-682C3FD625B6}"/>
              </a:ext>
            </a:extLst>
          </p:cNvPr>
          <p:cNvSpPr/>
          <p:nvPr/>
        </p:nvSpPr>
        <p:spPr>
          <a:xfrm>
            <a:off x="4635625" y="3997263"/>
            <a:ext cx="2888221" cy="2217854"/>
          </a:xfrm>
          <a:prstGeom prst="roundRect">
            <a:avLst>
              <a:gd name="adj" fmla="val 3402"/>
            </a:avLst>
          </a:prstGeom>
          <a:solidFill>
            <a:srgbClr val="FEA8EC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角丸四角形 28">
            <a:extLst>
              <a:ext uri="{FF2B5EF4-FFF2-40B4-BE49-F238E27FC236}">
                <a16:creationId xmlns:a16="http://schemas.microsoft.com/office/drawing/2014/main" id="{CE7C2C4B-BCA6-2BCA-FF1C-F8B261E08AE8}"/>
              </a:ext>
            </a:extLst>
          </p:cNvPr>
          <p:cNvSpPr/>
          <p:nvPr/>
        </p:nvSpPr>
        <p:spPr>
          <a:xfrm>
            <a:off x="1066730" y="891050"/>
            <a:ext cx="2834062" cy="2760765"/>
          </a:xfrm>
          <a:prstGeom prst="roundRect">
            <a:avLst>
              <a:gd name="adj" fmla="val 3446"/>
            </a:avLst>
          </a:prstGeom>
          <a:solidFill>
            <a:srgbClr val="66CCF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45D041BE-2751-0E1B-AC61-6771430BF51F}"/>
              </a:ext>
            </a:extLst>
          </p:cNvPr>
          <p:cNvSpPr txBox="1"/>
          <p:nvPr/>
        </p:nvSpPr>
        <p:spPr>
          <a:xfrm>
            <a:off x="0" y="0"/>
            <a:ext cx="12192000" cy="620688"/>
          </a:xfrm>
          <a:prstGeom prst="rect">
            <a:avLst/>
          </a:prstGeom>
          <a:noFill/>
          <a:ln>
            <a:noFill/>
          </a:ln>
        </p:spPr>
        <p:txBody>
          <a:bodyPr wrap="square" tIns="72000" bIns="0" rtlCol="0" anchor="ctr">
            <a:noAutofit/>
          </a:bodyPr>
          <a:lstStyle>
            <a:defPPr>
              <a:defRPr kumimoji="1" lang="ja-JP"/>
            </a:defPPr>
            <a:lvl1pPr marL="177800">
              <a:defRPr sz="2400" b="1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ja-JP" altLang="en-US" dirty="0"/>
              <a:t>はじめに：知っておくと便利な機能</a:t>
            </a:r>
            <a:r>
              <a:rPr lang="en-US" altLang="ja-JP" dirty="0"/>
              <a:t>/</a:t>
            </a:r>
            <a:r>
              <a:rPr lang="ja-JP" altLang="en-US" dirty="0"/>
              <a:t>設定</a:t>
            </a:r>
          </a:p>
        </p:txBody>
      </p:sp>
      <p:sp>
        <p:nvSpPr>
          <p:cNvPr id="18" name="角丸四角形 29">
            <a:extLst>
              <a:ext uri="{FF2B5EF4-FFF2-40B4-BE49-F238E27FC236}">
                <a16:creationId xmlns:a16="http://schemas.microsoft.com/office/drawing/2014/main" id="{A4979EF9-B910-635C-2D2B-FD0B7035F042}"/>
              </a:ext>
            </a:extLst>
          </p:cNvPr>
          <p:cNvSpPr/>
          <p:nvPr/>
        </p:nvSpPr>
        <p:spPr>
          <a:xfrm>
            <a:off x="8291208" y="893688"/>
            <a:ext cx="2845353" cy="2788904"/>
          </a:xfrm>
          <a:prstGeom prst="roundRect">
            <a:avLst>
              <a:gd name="adj" fmla="val 3035"/>
            </a:avLst>
          </a:prstGeom>
          <a:solidFill>
            <a:srgbClr val="FF66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2" name="角丸四角形 50">
            <a:extLst>
              <a:ext uri="{FF2B5EF4-FFF2-40B4-BE49-F238E27FC236}">
                <a16:creationId xmlns:a16="http://schemas.microsoft.com/office/drawing/2014/main" id="{BCB1A819-2E6E-AFDE-F1B1-9E81594B5C84}"/>
              </a:ext>
            </a:extLst>
          </p:cNvPr>
          <p:cNvSpPr/>
          <p:nvPr/>
        </p:nvSpPr>
        <p:spPr>
          <a:xfrm>
            <a:off x="8410486" y="993295"/>
            <a:ext cx="2620691" cy="565327"/>
          </a:xfrm>
          <a:prstGeom prst="roundRect">
            <a:avLst>
              <a:gd name="adj" fmla="val 19236"/>
            </a:avLst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帳票定義を使いやすくする</a:t>
            </a:r>
            <a:endParaRPr lang="en-US" altLang="ja-JP" sz="1400" b="1" dirty="0">
              <a:solidFill>
                <a:schemeClr val="bg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36" name="角丸四角形 7">
            <a:extLst>
              <a:ext uri="{FF2B5EF4-FFF2-40B4-BE49-F238E27FC236}">
                <a16:creationId xmlns:a16="http://schemas.microsoft.com/office/drawing/2014/main" id="{CD717296-E13E-C478-97AF-C2E385FD24A9}"/>
              </a:ext>
            </a:extLst>
          </p:cNvPr>
          <p:cNvSpPr/>
          <p:nvPr/>
        </p:nvSpPr>
        <p:spPr>
          <a:xfrm>
            <a:off x="4683589" y="891050"/>
            <a:ext cx="2824822" cy="2791542"/>
          </a:xfrm>
          <a:prstGeom prst="roundRect">
            <a:avLst>
              <a:gd name="adj" fmla="val 3402"/>
            </a:avLst>
          </a:prstGeom>
          <a:solidFill>
            <a:srgbClr val="00CC9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9" name="角丸四角形 15">
            <a:extLst>
              <a:ext uri="{FF2B5EF4-FFF2-40B4-BE49-F238E27FC236}">
                <a16:creationId xmlns:a16="http://schemas.microsoft.com/office/drawing/2014/main" id="{C347979E-1F1B-C862-DE4A-260835F0E9BA}"/>
              </a:ext>
            </a:extLst>
          </p:cNvPr>
          <p:cNvSpPr/>
          <p:nvPr/>
        </p:nvSpPr>
        <p:spPr>
          <a:xfrm>
            <a:off x="4865059" y="1027769"/>
            <a:ext cx="2448372" cy="530853"/>
          </a:xfrm>
          <a:prstGeom prst="roundRect">
            <a:avLst>
              <a:gd name="adj" fmla="val 18685"/>
            </a:avLst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帳票定義の更新</a:t>
            </a:r>
            <a:endParaRPr kumimoji="1" lang="ja-JP" altLang="en-US" sz="1400" b="1" dirty="0">
              <a:solidFill>
                <a:schemeClr val="bg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3" name="角丸四角形 37">
            <a:extLst>
              <a:ext uri="{FF2B5EF4-FFF2-40B4-BE49-F238E27FC236}">
                <a16:creationId xmlns:a16="http://schemas.microsoft.com/office/drawing/2014/main" id="{B8EFC424-A0BE-338E-CBDB-CFB7AE4B0080}"/>
              </a:ext>
            </a:extLst>
          </p:cNvPr>
          <p:cNvSpPr/>
          <p:nvPr/>
        </p:nvSpPr>
        <p:spPr>
          <a:xfrm>
            <a:off x="1172568" y="993294"/>
            <a:ext cx="2612751" cy="565328"/>
          </a:xfrm>
          <a:prstGeom prst="roundRect">
            <a:avLst>
              <a:gd name="adj" fmla="val 28320"/>
            </a:avLst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帳票定義の作成</a:t>
            </a:r>
            <a:endParaRPr kumimoji="1" lang="ja-JP" altLang="en-US" sz="1400" b="1" dirty="0">
              <a:solidFill>
                <a:schemeClr val="bg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A8C3129-CE24-A1BB-CCA3-0C044456D80D}"/>
              </a:ext>
            </a:extLst>
          </p:cNvPr>
          <p:cNvSpPr/>
          <p:nvPr/>
        </p:nvSpPr>
        <p:spPr>
          <a:xfrm>
            <a:off x="4846040" y="1728211"/>
            <a:ext cx="2677806" cy="1358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210050">
              <a:lnSpc>
                <a:spcPct val="150000"/>
              </a:lnSpc>
            </a:pPr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Excel</a:t>
            </a:r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定義出力</a:t>
            </a:r>
            <a:endParaRPr lang="en-US" altLang="ja-JP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4210050">
              <a:lnSpc>
                <a:spcPct val="150000"/>
              </a:lnSpc>
            </a:pPr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・アクションクラスター</a:t>
            </a:r>
            <a:endParaRPr lang="en-US" altLang="ja-JP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4210050">
              <a:lnSpc>
                <a:spcPct val="150000"/>
              </a:lnSpc>
            </a:pPr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・カーボンコピー</a:t>
            </a:r>
            <a:endParaRPr lang="en-US" altLang="ja-JP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4210050">
              <a:lnSpc>
                <a:spcPct val="150000"/>
              </a:lnSpc>
            </a:pPr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・帳票名称自動作成</a:t>
            </a:r>
            <a:endParaRPr lang="en-US" altLang="ja-JP" sz="1400" b="1" dirty="0">
              <a:solidFill>
                <a:schemeClr val="accent5">
                  <a:lumMod val="20000"/>
                  <a:lumOff val="8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449FF21-813C-4531-56CA-7315B82A8292}"/>
              </a:ext>
            </a:extLst>
          </p:cNvPr>
          <p:cNvSpPr/>
          <p:nvPr/>
        </p:nvSpPr>
        <p:spPr>
          <a:xfrm>
            <a:off x="8381928" y="1728211"/>
            <a:ext cx="2677806" cy="1358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210050">
              <a:lnSpc>
                <a:spcPct val="150000"/>
              </a:lnSpc>
            </a:pPr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・ネットワーク設定</a:t>
            </a:r>
            <a:endParaRPr lang="en-US" altLang="ja-JP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4210050">
              <a:lnSpc>
                <a:spcPct val="150000"/>
              </a:lnSpc>
            </a:pPr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・計算式の設定</a:t>
            </a:r>
            <a:endParaRPr lang="en-US" altLang="ja-JP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4210050">
              <a:lnSpc>
                <a:spcPct val="150000"/>
              </a:lnSpc>
            </a:pPr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・カスタムマスターの設定</a:t>
            </a:r>
            <a:endParaRPr lang="en-US" altLang="ja-JP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4210050">
              <a:lnSpc>
                <a:spcPct val="150000"/>
              </a:lnSpc>
            </a:pPr>
            <a:endParaRPr lang="en-US" altLang="ja-JP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" name="矢印: 右 27">
            <a:extLst>
              <a:ext uri="{FF2B5EF4-FFF2-40B4-BE49-F238E27FC236}">
                <a16:creationId xmlns:a16="http://schemas.microsoft.com/office/drawing/2014/main" id="{0F0B7BBA-9818-C226-1912-A5EBC05860A9}"/>
              </a:ext>
            </a:extLst>
          </p:cNvPr>
          <p:cNvSpPr/>
          <p:nvPr/>
        </p:nvSpPr>
        <p:spPr>
          <a:xfrm>
            <a:off x="3955788" y="1977782"/>
            <a:ext cx="688240" cy="618077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3DDF9146-F646-14F7-6EE3-3244014C8DB5}"/>
              </a:ext>
            </a:extLst>
          </p:cNvPr>
          <p:cNvSpPr/>
          <p:nvPr/>
        </p:nvSpPr>
        <p:spPr>
          <a:xfrm>
            <a:off x="1211368" y="1728211"/>
            <a:ext cx="2535149" cy="195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</a:rPr>
              <a:t>①</a:t>
            </a:r>
            <a:r>
              <a:rPr lang="en-US" altLang="ja-JP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</a:rPr>
              <a:t>Excel</a:t>
            </a:r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</a:rPr>
              <a:t>ファイルの設定</a:t>
            </a:r>
            <a:endParaRPr lang="en-US" altLang="ja-JP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</a:rPr>
              <a:t>②クラスターの設定</a:t>
            </a:r>
            <a:endParaRPr lang="en-US" altLang="ja-JP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itchFamily="50" charset="-128"/>
            </a:endParaRPr>
          </a:p>
          <a:p>
            <a:pPr defTabSz="4210050">
              <a:lnSpc>
                <a:spcPct val="150000"/>
              </a:lnSpc>
            </a:pPr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③入力書式の設定</a:t>
            </a:r>
            <a:endParaRPr lang="en-US" altLang="ja-JP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4210050">
              <a:lnSpc>
                <a:spcPct val="150000"/>
              </a:lnSpc>
            </a:pPr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④選択肢の設定</a:t>
            </a:r>
            <a:endParaRPr lang="en-US" altLang="ja-JP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4210050">
              <a:lnSpc>
                <a:spcPct val="150000"/>
              </a:lnSpc>
            </a:pPr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⑤入力帳票の作成</a:t>
            </a:r>
            <a:endParaRPr lang="en-US" altLang="ja-JP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 UI" pitchFamily="50" charset="-128"/>
            </a:endParaRPr>
          </a:p>
        </p:txBody>
      </p:sp>
      <p:sp>
        <p:nvSpPr>
          <p:cNvPr id="4" name="矢印: 右 3">
            <a:extLst>
              <a:ext uri="{FF2B5EF4-FFF2-40B4-BE49-F238E27FC236}">
                <a16:creationId xmlns:a16="http://schemas.microsoft.com/office/drawing/2014/main" id="{90A608C4-4000-5539-91A8-92888104EE35}"/>
              </a:ext>
            </a:extLst>
          </p:cNvPr>
          <p:cNvSpPr/>
          <p:nvPr/>
        </p:nvSpPr>
        <p:spPr>
          <a:xfrm>
            <a:off x="7563407" y="1984622"/>
            <a:ext cx="688240" cy="618077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角丸四角形 13">
            <a:extLst>
              <a:ext uri="{FF2B5EF4-FFF2-40B4-BE49-F238E27FC236}">
                <a16:creationId xmlns:a16="http://schemas.microsoft.com/office/drawing/2014/main" id="{24D52F71-3498-D9D3-D816-2FEA3307789E}"/>
              </a:ext>
            </a:extLst>
          </p:cNvPr>
          <p:cNvSpPr/>
          <p:nvPr/>
        </p:nvSpPr>
        <p:spPr>
          <a:xfrm>
            <a:off x="4629715" y="3997263"/>
            <a:ext cx="2866027" cy="2217854"/>
          </a:xfrm>
          <a:prstGeom prst="roundRect">
            <a:avLst>
              <a:gd name="adj" fmla="val 3970"/>
            </a:avLst>
          </a:prstGeom>
          <a:noFill/>
          <a:ln w="38100">
            <a:solidFill>
              <a:srgbClr val="C00000"/>
            </a:solidFill>
            <a:prstDash val="sysDot"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矢印: 右 2">
            <a:extLst>
              <a:ext uri="{FF2B5EF4-FFF2-40B4-BE49-F238E27FC236}">
                <a16:creationId xmlns:a16="http://schemas.microsoft.com/office/drawing/2014/main" id="{9A6C9389-FECE-07F6-825A-AF64A487E511}"/>
              </a:ext>
            </a:extLst>
          </p:cNvPr>
          <p:cNvSpPr/>
          <p:nvPr/>
        </p:nvSpPr>
        <p:spPr>
          <a:xfrm rot="8446984">
            <a:off x="7538111" y="3830557"/>
            <a:ext cx="688240" cy="618077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角丸四角形 15">
            <a:extLst>
              <a:ext uri="{FF2B5EF4-FFF2-40B4-BE49-F238E27FC236}">
                <a16:creationId xmlns:a16="http://schemas.microsoft.com/office/drawing/2014/main" id="{9CB18706-546C-8192-5762-D2447320D589}"/>
              </a:ext>
            </a:extLst>
          </p:cNvPr>
          <p:cNvSpPr/>
          <p:nvPr/>
        </p:nvSpPr>
        <p:spPr>
          <a:xfrm>
            <a:off x="4871814" y="4139595"/>
            <a:ext cx="2448372" cy="530853"/>
          </a:xfrm>
          <a:prstGeom prst="roundRect">
            <a:avLst>
              <a:gd name="adj" fmla="val 18685"/>
            </a:avLst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設定応用集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F9383ED-3803-816E-0BED-67FA52F83622}"/>
              </a:ext>
            </a:extLst>
          </p:cNvPr>
          <p:cNvSpPr/>
          <p:nvPr/>
        </p:nvSpPr>
        <p:spPr>
          <a:xfrm>
            <a:off x="4635625" y="4845237"/>
            <a:ext cx="2677806" cy="711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210050">
              <a:lnSpc>
                <a:spcPct val="150000"/>
              </a:lnSpc>
            </a:pPr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・帳票コピー</a:t>
            </a:r>
            <a:endParaRPr lang="en-US" altLang="ja-JP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4210050">
              <a:lnSpc>
                <a:spcPct val="150000"/>
              </a:lnSpc>
            </a:pPr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・バーコード分解設定</a:t>
            </a:r>
            <a:endParaRPr lang="en-US" altLang="ja-JP" sz="1400" b="1" dirty="0">
              <a:solidFill>
                <a:schemeClr val="accent5">
                  <a:lumMod val="20000"/>
                  <a:lumOff val="8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75411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BAD3BC6-ACE2-9B68-BBF0-5E7A683224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200" y="2534765"/>
            <a:ext cx="3983609" cy="1499398"/>
          </a:xfrm>
          <a:prstGeom prst="rect">
            <a:avLst/>
          </a:prstGeom>
        </p:spPr>
      </p:pic>
      <p:pic>
        <p:nvPicPr>
          <p:cNvPr id="22" name="図 21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8C2B766C-34FA-8636-D103-543E395243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3" t="23905" r="27163" b="63554"/>
          <a:stretch/>
        </p:blipFill>
        <p:spPr>
          <a:xfrm>
            <a:off x="1702360" y="4490979"/>
            <a:ext cx="3914938" cy="80619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5EC5270-655C-D0AC-27F1-08CDA69EB4E1}"/>
              </a:ext>
            </a:extLst>
          </p:cNvPr>
          <p:cNvSpPr txBox="1"/>
          <p:nvPr/>
        </p:nvSpPr>
        <p:spPr>
          <a:xfrm>
            <a:off x="983432" y="846800"/>
            <a:ext cx="10225136" cy="1358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8429625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「バーコード」クラスターでは、製品の情報などの情報を持つバーコード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/QR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コード（以下「バーコード」）の情報を、特定のデバイスで読み取った値を他の「バーコード」クラスターに入力する機能です。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just" defTabSz="8429625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■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iOS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版　　  ：内蔵カメラ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/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外付けバーコードリーダーに対応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just" defTabSz="8429625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■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Windows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版：外付けバーコードリーダーに対応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23D62B1-E354-FD08-7B9A-80348DA2C1AE}"/>
              </a:ext>
            </a:extLst>
          </p:cNvPr>
          <p:cNvSpPr txBox="1"/>
          <p:nvPr/>
        </p:nvSpPr>
        <p:spPr>
          <a:xfrm>
            <a:off x="0" y="0"/>
            <a:ext cx="12192000" cy="620688"/>
          </a:xfrm>
          <a:prstGeom prst="rect">
            <a:avLst/>
          </a:prstGeom>
          <a:noFill/>
          <a:ln>
            <a:noFill/>
          </a:ln>
        </p:spPr>
        <p:txBody>
          <a:bodyPr wrap="square" tIns="72000" bIns="0" rtlCol="0" anchor="ctr">
            <a:noAutofit/>
          </a:bodyPr>
          <a:lstStyle/>
          <a:p>
            <a:pPr marL="177800"/>
            <a:r>
              <a:rPr lang="ja-JP" altLang="en-US" sz="2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バーコード分解設定　概要</a:t>
            </a: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243D8B07-010B-477C-5B64-8244EC790C33}"/>
              </a:ext>
            </a:extLst>
          </p:cNvPr>
          <p:cNvCxnSpPr/>
          <p:nvPr/>
        </p:nvCxnSpPr>
        <p:spPr>
          <a:xfrm>
            <a:off x="6294171" y="3271748"/>
            <a:ext cx="936104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973B710-EE46-B45B-7B82-E9920B408419}"/>
              </a:ext>
            </a:extLst>
          </p:cNvPr>
          <p:cNvSpPr/>
          <p:nvPr/>
        </p:nvSpPr>
        <p:spPr>
          <a:xfrm>
            <a:off x="6042143" y="3433506"/>
            <a:ext cx="144016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バーコード読み取り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4FC297E9-673D-D2F8-F66E-A5F92751A83F}"/>
              </a:ext>
            </a:extLst>
          </p:cNvPr>
          <p:cNvSpPr/>
          <p:nvPr/>
        </p:nvSpPr>
        <p:spPr>
          <a:xfrm>
            <a:off x="6037148" y="4954605"/>
            <a:ext cx="144016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読み取り結果</a:t>
            </a: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2EC5E134-784B-91C0-260B-984B3329C042}"/>
              </a:ext>
            </a:extLst>
          </p:cNvPr>
          <p:cNvCxnSpPr>
            <a:cxnSpLocks/>
          </p:cNvCxnSpPr>
          <p:nvPr/>
        </p:nvCxnSpPr>
        <p:spPr>
          <a:xfrm flipH="1">
            <a:off x="6289176" y="4796544"/>
            <a:ext cx="936104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図 15">
            <a:extLst>
              <a:ext uri="{FF2B5EF4-FFF2-40B4-BE49-F238E27FC236}">
                <a16:creationId xmlns:a16="http://schemas.microsoft.com/office/drawing/2014/main" id="{B3F9899C-8F22-432B-F929-986A69F2309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6873" r="35780" b="45479"/>
          <a:stretch/>
        </p:blipFill>
        <p:spPr>
          <a:xfrm>
            <a:off x="7897158" y="3903437"/>
            <a:ext cx="1389562" cy="1499399"/>
          </a:xfrm>
          <a:prstGeom prst="rect">
            <a:avLst/>
          </a:prstGeom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4A424E7-69E0-7B6E-B3B4-2B7FCBABBFF5}"/>
              </a:ext>
            </a:extLst>
          </p:cNvPr>
          <p:cNvSpPr/>
          <p:nvPr/>
        </p:nvSpPr>
        <p:spPr>
          <a:xfrm>
            <a:off x="7847700" y="2800234"/>
            <a:ext cx="1560668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液晶テレビの製品情報</a:t>
            </a:r>
          </a:p>
        </p:txBody>
      </p:sp>
      <p:pic>
        <p:nvPicPr>
          <p:cNvPr id="7" name="図 6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A4D38CEB-555B-CD6D-3C39-EC8502184A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6364" y="3054150"/>
            <a:ext cx="803339" cy="80333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21906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D380FAAD-41BE-1C09-5486-AE5540D64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445" y="2753237"/>
            <a:ext cx="2826024" cy="11273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図 17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15168E28-F2D6-D1B7-A0D0-E72011D724A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3" t="23905" r="27163" b="63554"/>
          <a:stretch/>
        </p:blipFill>
        <p:spPr>
          <a:xfrm>
            <a:off x="8016338" y="4798986"/>
            <a:ext cx="2919841" cy="601277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57D173D-D275-E6BA-A76F-9A4AF00A632C}"/>
              </a:ext>
            </a:extLst>
          </p:cNvPr>
          <p:cNvSpPr/>
          <p:nvPr/>
        </p:nvSpPr>
        <p:spPr>
          <a:xfrm>
            <a:off x="695399" y="899428"/>
            <a:ext cx="108012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1299825">
              <a:tabLst>
                <a:tab pos="269875" algn="l"/>
                <a:tab pos="538163" algn="l"/>
                <a:tab pos="803275" algn="l"/>
              </a:tabLst>
            </a:pPr>
            <a:r>
              <a:rPr lang="ja-JP" altLang="en-US" b="1" dirty="0">
                <a:solidFill>
                  <a:schemeClr val="accent5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設定はすべて、</a:t>
            </a:r>
            <a:r>
              <a:rPr lang="en-US" altLang="ja-JP" b="1" dirty="0" err="1">
                <a:solidFill>
                  <a:schemeClr val="accent5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ConMas</a:t>
            </a:r>
            <a:r>
              <a:rPr lang="en-US" altLang="ja-JP" b="1" dirty="0">
                <a:solidFill>
                  <a:schemeClr val="accent5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Designer</a:t>
            </a:r>
            <a:r>
              <a:rPr lang="ja-JP" altLang="en-US" b="1" dirty="0">
                <a:solidFill>
                  <a:schemeClr val="accent5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で行います。手順は以下の通りです。</a:t>
            </a:r>
            <a:endParaRPr lang="en-US" altLang="ja-JP" b="1" dirty="0">
              <a:solidFill>
                <a:schemeClr val="accent5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7936C65-75D0-AF2A-9E8B-2CE0CD87F847}"/>
              </a:ext>
            </a:extLst>
          </p:cNvPr>
          <p:cNvSpPr txBox="1"/>
          <p:nvPr/>
        </p:nvSpPr>
        <p:spPr>
          <a:xfrm>
            <a:off x="983432" y="2122937"/>
            <a:ext cx="32390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1299825">
              <a:tabLst>
                <a:tab pos="269875" algn="l"/>
                <a:tab pos="538163" algn="l"/>
                <a:tab pos="803275" algn="l"/>
              </a:tabLst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</a:rPr>
              <a:t>① バーコードクラスター用意</a:t>
            </a:r>
            <a:endParaRPr lang="en-US" altLang="ja-JP" sz="1400" b="1" dirty="0">
              <a:latin typeface="メイリオ" panose="020B0604030504040204" pitchFamily="50" charset="-128"/>
              <a:ea typeface="メイリオ" panose="020B0604030504040204" pitchFamily="50" charset="-128"/>
              <a:cs typeface="Meiryo UI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65C45AC-8F4A-24EF-4000-E23ED6F846AB}"/>
              </a:ext>
            </a:extLst>
          </p:cNvPr>
          <p:cNvSpPr txBox="1"/>
          <p:nvPr/>
        </p:nvSpPr>
        <p:spPr>
          <a:xfrm>
            <a:off x="4400598" y="2641701"/>
            <a:ext cx="3345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1299825">
              <a:tabLst>
                <a:tab pos="269875" algn="l"/>
                <a:tab pos="538163" algn="l"/>
                <a:tab pos="803275" algn="l"/>
              </a:tabLst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</a:rPr>
              <a:t>② バーコード読み取り設定</a:t>
            </a:r>
            <a:endParaRPr lang="en-US" altLang="ja-JP" sz="1400" b="1" dirty="0">
              <a:latin typeface="メイリオ" panose="020B0604030504040204" pitchFamily="50" charset="-128"/>
              <a:ea typeface="メイリオ" panose="020B0604030504040204" pitchFamily="50" charset="-128"/>
              <a:cs typeface="Meiryo UI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720C936-FFFB-9B21-90D3-CB0708F12F36}"/>
              </a:ext>
            </a:extLst>
          </p:cNvPr>
          <p:cNvSpPr txBox="1"/>
          <p:nvPr/>
        </p:nvSpPr>
        <p:spPr>
          <a:xfrm>
            <a:off x="7881496" y="3183312"/>
            <a:ext cx="324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1299825">
              <a:tabLst>
                <a:tab pos="269875" algn="l"/>
                <a:tab pos="538163" algn="l"/>
                <a:tab pos="803275" algn="l"/>
              </a:tabLst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</a:rPr>
              <a:t>③ 分解先の指定</a:t>
            </a:r>
            <a:endParaRPr lang="en-US" altLang="ja-JP" sz="1400" b="1" dirty="0">
              <a:latin typeface="メイリオ" panose="020B0604030504040204" pitchFamily="50" charset="-128"/>
              <a:ea typeface="メイリオ" panose="020B0604030504040204" pitchFamily="50" charset="-128"/>
              <a:cs typeface="Meiryo UI" pitchFamily="50" charset="-128"/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8191EBB-87BC-7238-712A-E1421DD1AA79}"/>
              </a:ext>
            </a:extLst>
          </p:cNvPr>
          <p:cNvSpPr/>
          <p:nvPr/>
        </p:nvSpPr>
        <p:spPr>
          <a:xfrm>
            <a:off x="983432" y="1988840"/>
            <a:ext cx="3247704" cy="2476489"/>
          </a:xfrm>
          <a:prstGeom prst="roundRect">
            <a:avLst>
              <a:gd name="adj" fmla="val 3029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  <a:noFill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FED4E608-8635-7C5E-DE0C-06B3C084B1A8}"/>
              </a:ext>
            </a:extLst>
          </p:cNvPr>
          <p:cNvSpPr/>
          <p:nvPr/>
        </p:nvSpPr>
        <p:spPr>
          <a:xfrm>
            <a:off x="4441762" y="2554985"/>
            <a:ext cx="3247704" cy="2476489"/>
          </a:xfrm>
          <a:prstGeom prst="roundRect">
            <a:avLst>
              <a:gd name="adj" fmla="val 3029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  <a:noFill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DA308FEF-AC74-7FB2-7BAE-BCFBC5CD0066}"/>
              </a:ext>
            </a:extLst>
          </p:cNvPr>
          <p:cNvSpPr/>
          <p:nvPr/>
        </p:nvSpPr>
        <p:spPr>
          <a:xfrm>
            <a:off x="7874152" y="3102832"/>
            <a:ext cx="3247704" cy="2476489"/>
          </a:xfrm>
          <a:prstGeom prst="roundRect">
            <a:avLst>
              <a:gd name="adj" fmla="val 3029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  <a:noFill/>
            </a:endParaRPr>
          </a:p>
        </p:txBody>
      </p:sp>
      <p:sp>
        <p:nvSpPr>
          <p:cNvPr id="46" name="矢印: 下 45">
            <a:extLst>
              <a:ext uri="{FF2B5EF4-FFF2-40B4-BE49-F238E27FC236}">
                <a16:creationId xmlns:a16="http://schemas.microsoft.com/office/drawing/2014/main" id="{3DF6C10F-5089-7291-E7FB-D601C1C1BE6F}"/>
              </a:ext>
            </a:extLst>
          </p:cNvPr>
          <p:cNvSpPr/>
          <p:nvPr/>
        </p:nvSpPr>
        <p:spPr>
          <a:xfrm rot="16200000">
            <a:off x="7473073" y="3637359"/>
            <a:ext cx="624085" cy="287349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矢印: 下 46">
            <a:extLst>
              <a:ext uri="{FF2B5EF4-FFF2-40B4-BE49-F238E27FC236}">
                <a16:creationId xmlns:a16="http://schemas.microsoft.com/office/drawing/2014/main" id="{DE476EFE-B0A3-C409-0120-5B6C1384948C}"/>
              </a:ext>
            </a:extLst>
          </p:cNvPr>
          <p:cNvSpPr/>
          <p:nvPr/>
        </p:nvSpPr>
        <p:spPr>
          <a:xfrm rot="16200000">
            <a:off x="4014702" y="3035372"/>
            <a:ext cx="624085" cy="287349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A770331-7B34-3E70-D1FD-F8E5873EC48B}"/>
              </a:ext>
            </a:extLst>
          </p:cNvPr>
          <p:cNvSpPr txBox="1"/>
          <p:nvPr/>
        </p:nvSpPr>
        <p:spPr>
          <a:xfrm>
            <a:off x="0" y="0"/>
            <a:ext cx="12192000" cy="620688"/>
          </a:xfrm>
          <a:prstGeom prst="rect">
            <a:avLst/>
          </a:prstGeom>
          <a:noFill/>
        </p:spPr>
        <p:txBody>
          <a:bodyPr wrap="square" tIns="72000" bIns="0" rtlCol="0" anchor="ctr">
            <a:noAutofit/>
          </a:bodyPr>
          <a:lstStyle/>
          <a:p>
            <a:pPr marL="177800"/>
            <a:r>
              <a:rPr lang="ja-JP" altLang="en-US" sz="2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バーコード分解設定　手順　</a:t>
            </a:r>
            <a:endParaRPr lang="ja-JP" altLang="en-US" sz="28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4C9FD1A-9340-BFC6-DA19-EE8191747E89}"/>
              </a:ext>
            </a:extLst>
          </p:cNvPr>
          <p:cNvSpPr/>
          <p:nvPr/>
        </p:nvSpPr>
        <p:spPr>
          <a:xfrm>
            <a:off x="8016338" y="4798986"/>
            <a:ext cx="2919841" cy="601277"/>
          </a:xfrm>
          <a:prstGeom prst="rect">
            <a:avLst/>
          </a:prstGeom>
          <a:noFill/>
          <a:ln w="28575">
            <a:solidFill>
              <a:srgbClr val="3333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6C2CC6C-4E30-F9B7-A48E-37A28EB72272}"/>
              </a:ext>
            </a:extLst>
          </p:cNvPr>
          <p:cNvSpPr txBox="1"/>
          <p:nvPr/>
        </p:nvSpPr>
        <p:spPr>
          <a:xfrm>
            <a:off x="696840" y="5676158"/>
            <a:ext cx="94613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1299825">
              <a:tabLst>
                <a:tab pos="269875" algn="l"/>
                <a:tab pos="538163" algn="l"/>
                <a:tab pos="803275" algn="l"/>
              </a:tabLst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</a:rPr>
              <a:t>講習では基本的な操作のみを紹介しています。詳細についてはマニュアルをご参考ください。</a:t>
            </a:r>
            <a:endParaRPr lang="en-US" altLang="ja-JP" sz="1400" b="1" dirty="0">
              <a:latin typeface="メイリオ" panose="020B0604030504040204" pitchFamily="50" charset="-128"/>
              <a:ea typeface="メイリオ" panose="020B0604030504040204" pitchFamily="50" charset="-128"/>
              <a:cs typeface="Meiryo UI" pitchFamily="50" charset="-128"/>
            </a:endParaRPr>
          </a:p>
          <a:p>
            <a:pPr defTabSz="11299825">
              <a:tabLst>
                <a:tab pos="269875" algn="l"/>
                <a:tab pos="538163" algn="l"/>
                <a:tab pos="803275" algn="l"/>
              </a:tabLst>
            </a:pPr>
            <a:r>
              <a:rPr lang="en-US" altLang="ja-JP" sz="1400" b="1" dirty="0" err="1"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  <a:hlinkClick r:id="rId6"/>
              </a:rPr>
              <a:t>i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  <a:hlinkClick r:id="rId6"/>
              </a:rPr>
              <a:t>-Reporter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  <a:hlinkClick r:id="rId6"/>
              </a:rPr>
              <a:t>利用者マニュアル</a:t>
            </a:r>
            <a:endParaRPr lang="en-US" altLang="ja-JP" sz="1400" b="1" dirty="0">
              <a:latin typeface="メイリオ" panose="020B0604030504040204" pitchFamily="50" charset="-128"/>
              <a:ea typeface="メイリオ" panose="020B0604030504040204" pitchFamily="50" charset="-128"/>
              <a:cs typeface="Meiryo UI" pitchFamily="50" charset="-128"/>
            </a:endParaRP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AA42876B-232E-787F-0A1F-2E3CF4F5C4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8099" y="3100834"/>
            <a:ext cx="2945172" cy="4666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EBDABD5C-D873-AFC0-4121-FB7B753BD37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3707" r="16725" b="26872"/>
          <a:stretch/>
        </p:blipFill>
        <p:spPr>
          <a:xfrm>
            <a:off x="4588099" y="3703923"/>
            <a:ext cx="2936172" cy="11910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CF572E85-1371-8324-5155-747A671F52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6338" y="3587926"/>
            <a:ext cx="2959660" cy="11139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19322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5E34D-5739-3A45-503D-A7ACE71D3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FF8FA0C-ADD0-B109-9E5C-286FEF36F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3712" y="2636912"/>
            <a:ext cx="7136532" cy="2846919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1199E6F-4336-7A47-B14C-5E7851B245DD}"/>
              </a:ext>
            </a:extLst>
          </p:cNvPr>
          <p:cNvSpPr txBox="1"/>
          <p:nvPr/>
        </p:nvSpPr>
        <p:spPr>
          <a:xfrm>
            <a:off x="1080122" y="836712"/>
            <a:ext cx="10056438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8429625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■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Excel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上でのクラスター設定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just" defTabSz="8429625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対象となるセル　　をすべて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バーコード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】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クラスターに設定をします。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just" defTabSz="8429625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バーコード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】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クラスターへ設定後は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Designer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へと取り込みます。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27A68DD-2C49-D71E-ADC1-89D482B50DDD}"/>
              </a:ext>
            </a:extLst>
          </p:cNvPr>
          <p:cNvSpPr txBox="1"/>
          <p:nvPr/>
        </p:nvSpPr>
        <p:spPr>
          <a:xfrm>
            <a:off x="0" y="0"/>
            <a:ext cx="12192000" cy="620688"/>
          </a:xfrm>
          <a:prstGeom prst="rect">
            <a:avLst/>
          </a:prstGeom>
          <a:noFill/>
          <a:ln>
            <a:noFill/>
          </a:ln>
        </p:spPr>
        <p:txBody>
          <a:bodyPr wrap="square" tIns="72000" bIns="0" rtlCol="0" anchor="ctr">
            <a:noAutofit/>
          </a:bodyPr>
          <a:lstStyle/>
          <a:p>
            <a:pPr marL="177800"/>
            <a:r>
              <a:rPr lang="ja-JP" altLang="en-US" sz="2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バーコード分解設定　手順</a:t>
            </a:r>
            <a:r>
              <a:rPr lang="ja-JP" altLang="en-US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①クラスター種別設定</a:t>
            </a:r>
            <a:endParaRPr lang="en-US" altLang="ja-JP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7" name="星: 5 pt 16">
            <a:extLst>
              <a:ext uri="{FF2B5EF4-FFF2-40B4-BE49-F238E27FC236}">
                <a16:creationId xmlns:a16="http://schemas.microsoft.com/office/drawing/2014/main" id="{30252F3A-A68E-4FB4-35A9-241BFBD52ED2}"/>
              </a:ext>
            </a:extLst>
          </p:cNvPr>
          <p:cNvSpPr/>
          <p:nvPr/>
        </p:nvSpPr>
        <p:spPr>
          <a:xfrm>
            <a:off x="2711624" y="1282153"/>
            <a:ext cx="144016" cy="14401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D6E9520-8896-AF23-BFA8-9C6F826600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4920" y="2087635"/>
            <a:ext cx="1368152" cy="38654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星: 5 pt 6">
            <a:extLst>
              <a:ext uri="{FF2B5EF4-FFF2-40B4-BE49-F238E27FC236}">
                <a16:creationId xmlns:a16="http://schemas.microsoft.com/office/drawing/2014/main" id="{C0C67CC0-D8D8-C701-A9E8-83878B24D095}"/>
              </a:ext>
            </a:extLst>
          </p:cNvPr>
          <p:cNvSpPr/>
          <p:nvPr/>
        </p:nvSpPr>
        <p:spPr>
          <a:xfrm>
            <a:off x="4404992" y="4797152"/>
            <a:ext cx="72008" cy="7200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星: 5 pt 7">
            <a:extLst>
              <a:ext uri="{FF2B5EF4-FFF2-40B4-BE49-F238E27FC236}">
                <a16:creationId xmlns:a16="http://schemas.microsoft.com/office/drawing/2014/main" id="{6B74412C-0E1E-E9F9-AEC8-088BB6B3EBB9}"/>
              </a:ext>
            </a:extLst>
          </p:cNvPr>
          <p:cNvSpPr/>
          <p:nvPr/>
        </p:nvSpPr>
        <p:spPr>
          <a:xfrm>
            <a:off x="6116738" y="4797152"/>
            <a:ext cx="72008" cy="7200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星: 5 pt 8">
            <a:extLst>
              <a:ext uri="{FF2B5EF4-FFF2-40B4-BE49-F238E27FC236}">
                <a16:creationId xmlns:a16="http://schemas.microsoft.com/office/drawing/2014/main" id="{4F09FCFD-B176-E7EC-C36C-870EA2F9DD61}"/>
              </a:ext>
            </a:extLst>
          </p:cNvPr>
          <p:cNvSpPr/>
          <p:nvPr/>
        </p:nvSpPr>
        <p:spPr>
          <a:xfrm>
            <a:off x="7864488" y="4797152"/>
            <a:ext cx="72008" cy="7200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星: 5 pt 10">
            <a:extLst>
              <a:ext uri="{FF2B5EF4-FFF2-40B4-BE49-F238E27FC236}">
                <a16:creationId xmlns:a16="http://schemas.microsoft.com/office/drawing/2014/main" id="{BAF6D3DF-4BCA-C625-9B9C-82F27CEABE85}"/>
              </a:ext>
            </a:extLst>
          </p:cNvPr>
          <p:cNvSpPr/>
          <p:nvPr/>
        </p:nvSpPr>
        <p:spPr>
          <a:xfrm>
            <a:off x="9612238" y="4797152"/>
            <a:ext cx="72008" cy="7200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3628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2B5023C7-8B70-C4FA-B314-D9E923947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19" y="1719380"/>
            <a:ext cx="3802910" cy="41923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B2786DB6-1374-CF68-BFF3-C79852B297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848" y="1869064"/>
            <a:ext cx="6480720" cy="1178313"/>
          </a:xfrm>
          <a:prstGeom prst="rect">
            <a:avLst/>
          </a:prstGeom>
        </p:spPr>
      </p:pic>
      <p:sp>
        <p:nvSpPr>
          <p:cNvPr id="10" name="線吹き出し 1 (枠付き) 24">
            <a:extLst>
              <a:ext uri="{FF2B5EF4-FFF2-40B4-BE49-F238E27FC236}">
                <a16:creationId xmlns:a16="http://schemas.microsoft.com/office/drawing/2014/main" id="{4734A7FE-4935-0068-66AC-BB67F45DADD5}"/>
              </a:ext>
            </a:extLst>
          </p:cNvPr>
          <p:cNvSpPr/>
          <p:nvPr/>
        </p:nvSpPr>
        <p:spPr>
          <a:xfrm>
            <a:off x="4727848" y="4205784"/>
            <a:ext cx="6336704" cy="1726215"/>
          </a:xfrm>
          <a:prstGeom prst="rect">
            <a:avLst/>
          </a:prstGeom>
          <a:solidFill>
            <a:srgbClr val="CCFFCC"/>
          </a:solidFill>
          <a:ln w="12700">
            <a:solidFill>
              <a:srgbClr val="215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bIns="108000" rtlCol="0" anchor="t">
            <a:spAutoFit/>
          </a:bodyPr>
          <a:lstStyle/>
          <a:p>
            <a:pPr defTabSz="4933950">
              <a:tabLst>
                <a:tab pos="1252538" algn="l"/>
                <a:tab pos="1524000" algn="l"/>
              </a:tabLst>
            </a:pPr>
            <a:r>
              <a:rPr lang="ja-JP" altLang="en-US" sz="1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「読み取りデバイスの指定」補足</a:t>
            </a:r>
            <a:endParaRPr lang="en-US" altLang="ja-JP" sz="14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4933950">
              <a:tabLst>
                <a:tab pos="1252538" algn="l"/>
                <a:tab pos="1524000" algn="l"/>
              </a:tabLst>
            </a:pPr>
            <a:r>
              <a:rPr lang="en-US" altLang="ja-JP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内蔵カメラ</a:t>
            </a:r>
            <a:r>
              <a:rPr lang="en-US" altLang="ja-JP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	</a:t>
            </a:r>
            <a:r>
              <a:rPr lang="en-US" altLang="ja-JP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iPad/iPhone</a:t>
            </a:r>
            <a:r>
              <a:rPr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内蔵のカメラを使用します。</a:t>
            </a:r>
            <a:endParaRPr lang="en-US" altLang="ja-JP" sz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4933950">
              <a:tabLst>
                <a:tab pos="1252538" algn="l"/>
                <a:tab pos="1524000" algn="l"/>
              </a:tabLst>
            </a:pPr>
            <a:r>
              <a:rPr lang="en-US" altLang="ja-JP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	※	</a:t>
            </a:r>
            <a:r>
              <a:rPr lang="en-US" altLang="ja-JP" sz="1200" dirty="0" err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WindowsPC</a:t>
            </a:r>
            <a:r>
              <a:rPr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では</a:t>
            </a:r>
            <a:r>
              <a:rPr lang="en-US" altLang="ja-JP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OS</a:t>
            </a:r>
            <a:r>
              <a:rPr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で内蔵カメラは非対応となります。</a:t>
            </a:r>
            <a:endParaRPr lang="en-US" altLang="ja-JP" sz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4933950">
              <a:tabLst>
                <a:tab pos="1252538" algn="l"/>
                <a:tab pos="1524000" algn="l"/>
              </a:tabLst>
            </a:pPr>
            <a:endParaRPr lang="en-US" altLang="ja-JP" sz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4933950">
              <a:tabLst>
                <a:tab pos="1252538" algn="l"/>
                <a:tab pos="1524000" algn="l"/>
              </a:tabLst>
            </a:pPr>
            <a:r>
              <a:rPr lang="en-US" altLang="ja-JP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外付けバーコードリーダー</a:t>
            </a:r>
            <a:r>
              <a:rPr lang="en-US" altLang="ja-JP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r>
              <a:rPr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接続可能なバーコードリーダーを使用します。</a:t>
            </a:r>
            <a:endParaRPr lang="en-US" altLang="ja-JP" sz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4933950">
              <a:tabLst>
                <a:tab pos="1252538" algn="l"/>
                <a:tab pos="1524000" algn="l"/>
              </a:tabLst>
            </a:pPr>
            <a:r>
              <a:rPr lang="en-US" altLang="ja-JP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	※	Windows/iPad/iPhone</a:t>
            </a:r>
            <a:r>
              <a:rPr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いずれも使用可能です。</a:t>
            </a:r>
            <a:endParaRPr lang="en-US" altLang="ja-JP" sz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4933950">
              <a:tabLst>
                <a:tab pos="1252538" algn="l"/>
                <a:tab pos="1524000" algn="l"/>
              </a:tabLst>
            </a:pPr>
            <a:endParaRPr lang="en-US" altLang="ja-JP" sz="1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4933950">
              <a:tabLst>
                <a:tab pos="1252538" algn="l"/>
                <a:tab pos="1524000" algn="l"/>
              </a:tabLst>
            </a:pPr>
            <a:r>
              <a:rPr lang="en-US" altLang="ja-JP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アプリで選択する</a:t>
            </a:r>
            <a:r>
              <a:rPr lang="en-US" altLang="ja-JP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r>
              <a:rPr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クラスターを起動してから、上記いずれかを選択します</a:t>
            </a:r>
            <a:endParaRPr lang="en-US" altLang="ja-JP" sz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8DDFB1D-CCEA-0A1A-F78B-477AB1830539}"/>
              </a:ext>
            </a:extLst>
          </p:cNvPr>
          <p:cNvSpPr txBox="1"/>
          <p:nvPr/>
        </p:nvSpPr>
        <p:spPr>
          <a:xfrm>
            <a:off x="983432" y="836712"/>
            <a:ext cx="10225136" cy="71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8429625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  <a:tab pos="538163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「バーコード」クラスターでは、デバイスを起動するクラスターのパラメーター設定画面を開き、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just" defTabSz="8429625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  <a:tab pos="538163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「読み取りデバイスの指定」から使用するデバイスを指定します。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CE9205C-E915-92AC-D1D5-F51E0D7165E8}"/>
              </a:ext>
            </a:extLst>
          </p:cNvPr>
          <p:cNvSpPr txBox="1"/>
          <p:nvPr/>
        </p:nvSpPr>
        <p:spPr>
          <a:xfrm>
            <a:off x="0" y="0"/>
            <a:ext cx="12192000" cy="620688"/>
          </a:xfrm>
          <a:prstGeom prst="rect">
            <a:avLst/>
          </a:prstGeom>
          <a:noFill/>
          <a:ln>
            <a:noFill/>
          </a:ln>
        </p:spPr>
        <p:txBody>
          <a:bodyPr wrap="square" tIns="72000" bIns="0" rtlCol="0" anchor="ctr">
            <a:noAutofit/>
          </a:bodyPr>
          <a:lstStyle/>
          <a:p>
            <a:pPr marL="177800"/>
            <a:r>
              <a:rPr lang="ja-JP" altLang="en-US" sz="2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バーコード分解設定　手順</a:t>
            </a:r>
            <a:r>
              <a:rPr lang="ja-JP" altLang="en-US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②読み取りデバイスの指定</a:t>
            </a:r>
            <a:endParaRPr lang="en-US" altLang="ja-JP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角丸四角形 10">
            <a:extLst>
              <a:ext uri="{FF2B5EF4-FFF2-40B4-BE49-F238E27FC236}">
                <a16:creationId xmlns:a16="http://schemas.microsoft.com/office/drawing/2014/main" id="{7DA1EA7F-297B-750B-3AE5-F86227719B46}"/>
              </a:ext>
            </a:extLst>
          </p:cNvPr>
          <p:cNvSpPr/>
          <p:nvPr/>
        </p:nvSpPr>
        <p:spPr>
          <a:xfrm>
            <a:off x="1055440" y="3861047"/>
            <a:ext cx="3096344" cy="738995"/>
          </a:xfrm>
          <a:prstGeom prst="roundRect">
            <a:avLst>
              <a:gd name="adj" fmla="val 8632"/>
            </a:avLst>
          </a:prstGeom>
          <a:noFill/>
          <a:ln w="38100">
            <a:solidFill>
              <a:srgbClr val="FF0000"/>
            </a:solidFill>
            <a:prstDash val="sysDot"/>
          </a:ln>
          <a:effectLst>
            <a:glow rad="508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7" name="曲線コネクタ 20">
            <a:extLst>
              <a:ext uri="{FF2B5EF4-FFF2-40B4-BE49-F238E27FC236}">
                <a16:creationId xmlns:a16="http://schemas.microsoft.com/office/drawing/2014/main" id="{1DC4AE7F-7017-4403-6263-822D265D15C1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151786" y="4600044"/>
            <a:ext cx="576062" cy="468848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sysDot"/>
            <a:tailEnd type="triangle"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角丸四角形吹き出し 9">
            <a:extLst>
              <a:ext uri="{FF2B5EF4-FFF2-40B4-BE49-F238E27FC236}">
                <a16:creationId xmlns:a16="http://schemas.microsoft.com/office/drawing/2014/main" id="{A101E88D-3E66-C8EE-A24F-A9FEF251CC6F}"/>
              </a:ext>
            </a:extLst>
          </p:cNvPr>
          <p:cNvSpPr/>
          <p:nvPr/>
        </p:nvSpPr>
        <p:spPr>
          <a:xfrm>
            <a:off x="5879976" y="3276466"/>
            <a:ext cx="3437156" cy="539082"/>
          </a:xfrm>
          <a:prstGeom prst="wedgeRoundRectCallout">
            <a:avLst>
              <a:gd name="adj1" fmla="val -34647"/>
              <a:gd name="adj2" fmla="val -118478"/>
              <a:gd name="adj3" fmla="val 16667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</a:rPr>
              <a:t>iOS</a:t>
            </a:r>
            <a:r>
              <a:rPr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</a:rPr>
              <a:t>版</a:t>
            </a:r>
            <a:r>
              <a:rPr lang="en-US" altLang="ja-JP" sz="1200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</a:rPr>
              <a:t>i</a:t>
            </a:r>
            <a:r>
              <a:rPr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</a:rPr>
              <a:t>-Reporter</a:t>
            </a:r>
            <a:r>
              <a:rPr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</a:rPr>
              <a:t>を使用時に</a:t>
            </a:r>
            <a:endParaRPr lang="en-US" altLang="ja-JP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itchFamily="50" charset="-128"/>
            </a:endParaRPr>
          </a:p>
          <a:p>
            <a:pPr algn="ctr"/>
            <a:r>
              <a:rPr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</a:rPr>
              <a:t>内蔵カメラを呼び出すように設定する。</a:t>
            </a:r>
            <a:endParaRPr lang="en-US" altLang="ja-JP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itchFamily="50" charset="-128"/>
            </a:endParaRPr>
          </a:p>
        </p:txBody>
      </p:sp>
      <p:sp>
        <p:nvSpPr>
          <p:cNvPr id="6" name="角丸四角形 10">
            <a:extLst>
              <a:ext uri="{FF2B5EF4-FFF2-40B4-BE49-F238E27FC236}">
                <a16:creationId xmlns:a16="http://schemas.microsoft.com/office/drawing/2014/main" id="{1B0E7664-DD8F-F912-CFAE-31A3BDF15473}"/>
              </a:ext>
            </a:extLst>
          </p:cNvPr>
          <p:cNvSpPr/>
          <p:nvPr/>
        </p:nvSpPr>
        <p:spPr>
          <a:xfrm>
            <a:off x="2063552" y="2204864"/>
            <a:ext cx="1800200" cy="288032"/>
          </a:xfrm>
          <a:prstGeom prst="roundRect">
            <a:avLst>
              <a:gd name="adj" fmla="val 8632"/>
            </a:avLst>
          </a:prstGeom>
          <a:noFill/>
          <a:ln w="38100">
            <a:solidFill>
              <a:srgbClr val="FF0000"/>
            </a:solidFill>
            <a:prstDash val="sysDot"/>
          </a:ln>
          <a:effectLst>
            <a:glow rad="508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4769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C52DB-05ED-2538-8097-302B7456E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5BD012BA-C549-1091-F22D-DA3F6AE402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01" r="-1" b="20213"/>
          <a:stretch/>
        </p:blipFill>
        <p:spPr>
          <a:xfrm>
            <a:off x="1154754" y="2746403"/>
            <a:ext cx="7240855" cy="29679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12B795-52D0-957B-402A-2B2FA0D29597}"/>
              </a:ext>
            </a:extLst>
          </p:cNvPr>
          <p:cNvSpPr txBox="1"/>
          <p:nvPr/>
        </p:nvSpPr>
        <p:spPr>
          <a:xfrm>
            <a:off x="983432" y="836712"/>
            <a:ext cx="10225136" cy="1358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8429625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  <a:tab pos="538163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デバイスを起動するクラスター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分解元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】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と読み取った値を分解するクラスター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分解先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】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は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just" defTabSz="8429625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  <a:tab pos="538163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いずれも「バーコード」クラスターであることが必須です。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just" defTabSz="8429625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  <a:tab pos="538163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クラスターモード「バーコード分解設定」に変更し、分解元にしたクラスターをダブルクリックします。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just" defTabSz="8429625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  <a:tab pos="538163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「バーコード分解　区切り文字タイプ」の画面で、読み取るデーターの区切り文字を選択します。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8815F0D-27AA-157C-B855-FC76B1574C64}"/>
              </a:ext>
            </a:extLst>
          </p:cNvPr>
          <p:cNvSpPr txBox="1"/>
          <p:nvPr/>
        </p:nvSpPr>
        <p:spPr>
          <a:xfrm>
            <a:off x="0" y="0"/>
            <a:ext cx="12192000" cy="620688"/>
          </a:xfrm>
          <a:prstGeom prst="rect">
            <a:avLst/>
          </a:prstGeom>
          <a:noFill/>
          <a:ln>
            <a:noFill/>
          </a:ln>
        </p:spPr>
        <p:txBody>
          <a:bodyPr wrap="square" tIns="72000" bIns="0" rtlCol="0" anchor="ctr">
            <a:noAutofit/>
          </a:bodyPr>
          <a:lstStyle/>
          <a:p>
            <a:pPr marL="177800"/>
            <a:r>
              <a:rPr lang="ja-JP" altLang="en-US" sz="2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バーコード分解設定　手順</a:t>
            </a:r>
            <a:r>
              <a:rPr lang="ja-JP" altLang="en-US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③分解元と区切り文字タイプの指定</a:t>
            </a:r>
            <a:endParaRPr lang="en-US" altLang="ja-JP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AF4E50C0-69A2-2526-85C4-49CCA3FE46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5678" y="3682173"/>
            <a:ext cx="1042686" cy="679427"/>
          </a:xfrm>
          <a:prstGeom prst="rect">
            <a:avLst/>
          </a:prstGeom>
        </p:spPr>
      </p:pic>
      <p:sp>
        <p:nvSpPr>
          <p:cNvPr id="6" name="角丸四角形 10">
            <a:extLst>
              <a:ext uri="{FF2B5EF4-FFF2-40B4-BE49-F238E27FC236}">
                <a16:creationId xmlns:a16="http://schemas.microsoft.com/office/drawing/2014/main" id="{EA87CAF9-8397-E80D-BF83-D5AF9FE58FE4}"/>
              </a:ext>
            </a:extLst>
          </p:cNvPr>
          <p:cNvSpPr/>
          <p:nvPr/>
        </p:nvSpPr>
        <p:spPr>
          <a:xfrm>
            <a:off x="2927648" y="4463959"/>
            <a:ext cx="1362021" cy="493757"/>
          </a:xfrm>
          <a:prstGeom prst="roundRect">
            <a:avLst>
              <a:gd name="adj" fmla="val 8632"/>
            </a:avLst>
          </a:prstGeom>
          <a:noFill/>
          <a:ln w="38100">
            <a:solidFill>
              <a:srgbClr val="FF0000"/>
            </a:solidFill>
            <a:prstDash val="sysDot"/>
          </a:ln>
          <a:effectLst>
            <a:glow rad="508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778F363C-3130-0716-4E31-90A9603D51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1233" y="2680114"/>
            <a:ext cx="4105940" cy="23342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角丸四角形 10">
            <a:extLst>
              <a:ext uri="{FF2B5EF4-FFF2-40B4-BE49-F238E27FC236}">
                <a16:creationId xmlns:a16="http://schemas.microsoft.com/office/drawing/2014/main" id="{7C493A37-8958-05B4-240A-90E62A740CB0}"/>
              </a:ext>
            </a:extLst>
          </p:cNvPr>
          <p:cNvSpPr/>
          <p:nvPr/>
        </p:nvSpPr>
        <p:spPr>
          <a:xfrm>
            <a:off x="6734778" y="3029416"/>
            <a:ext cx="3321662" cy="637567"/>
          </a:xfrm>
          <a:prstGeom prst="roundRect">
            <a:avLst>
              <a:gd name="adj" fmla="val 8632"/>
            </a:avLst>
          </a:prstGeom>
          <a:noFill/>
          <a:ln w="38100">
            <a:solidFill>
              <a:srgbClr val="FF0000"/>
            </a:solidFill>
            <a:prstDash val="sysDot"/>
          </a:ln>
          <a:effectLst>
            <a:glow rad="508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角丸四角形吹き出し 15">
            <a:extLst>
              <a:ext uri="{FF2B5EF4-FFF2-40B4-BE49-F238E27FC236}">
                <a16:creationId xmlns:a16="http://schemas.microsoft.com/office/drawing/2014/main" id="{F85503E2-2CD2-75A6-CAB2-F7CA81ADDD04}"/>
              </a:ext>
            </a:extLst>
          </p:cNvPr>
          <p:cNvSpPr/>
          <p:nvPr/>
        </p:nvSpPr>
        <p:spPr>
          <a:xfrm>
            <a:off x="8149616" y="4147715"/>
            <a:ext cx="2085455" cy="360040"/>
          </a:xfrm>
          <a:prstGeom prst="wedgeRoundRectCallout">
            <a:avLst>
              <a:gd name="adj1" fmla="val -48899"/>
              <a:gd name="adj2" fmla="val -147254"/>
              <a:gd name="adj3" fmla="val 16667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区切り文字タイプを選択</a:t>
            </a:r>
            <a:endParaRPr lang="en-US" altLang="ja-JP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9" name="角丸四角形 10">
            <a:extLst>
              <a:ext uri="{FF2B5EF4-FFF2-40B4-BE49-F238E27FC236}">
                <a16:creationId xmlns:a16="http://schemas.microsoft.com/office/drawing/2014/main" id="{C9E7BC06-778B-E1E3-8C5C-834ECB1BC2DA}"/>
              </a:ext>
            </a:extLst>
          </p:cNvPr>
          <p:cNvSpPr/>
          <p:nvPr/>
        </p:nvSpPr>
        <p:spPr>
          <a:xfrm>
            <a:off x="1202345" y="4579047"/>
            <a:ext cx="1081014" cy="263580"/>
          </a:xfrm>
          <a:prstGeom prst="roundRect">
            <a:avLst>
              <a:gd name="adj" fmla="val 8632"/>
            </a:avLst>
          </a:prstGeom>
          <a:noFill/>
          <a:ln w="38100">
            <a:solidFill>
              <a:srgbClr val="FF0000"/>
            </a:solidFill>
            <a:prstDash val="sysDot"/>
          </a:ln>
          <a:effectLst>
            <a:glow rad="508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角丸四角形吹き出し 12">
            <a:extLst>
              <a:ext uri="{FF2B5EF4-FFF2-40B4-BE49-F238E27FC236}">
                <a16:creationId xmlns:a16="http://schemas.microsoft.com/office/drawing/2014/main" id="{9DE4516C-4A03-41F7-AAAB-43EEA6ADF9A8}"/>
              </a:ext>
            </a:extLst>
          </p:cNvPr>
          <p:cNvSpPr/>
          <p:nvPr/>
        </p:nvSpPr>
        <p:spPr>
          <a:xfrm>
            <a:off x="2351584" y="2456618"/>
            <a:ext cx="1838011" cy="493757"/>
          </a:xfrm>
          <a:prstGeom prst="wedgeRoundRectCallout">
            <a:avLst>
              <a:gd name="adj1" fmla="val -59408"/>
              <a:gd name="adj2" fmla="val 363936"/>
              <a:gd name="adj3" fmla="val 16667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バーコード分解設定</a:t>
            </a:r>
            <a:endParaRPr lang="en-US" altLang="ja-JP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を選択</a:t>
            </a:r>
            <a:endParaRPr lang="en-US" altLang="ja-JP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33" name="角丸四角形吹き出し 13">
            <a:extLst>
              <a:ext uri="{FF2B5EF4-FFF2-40B4-BE49-F238E27FC236}">
                <a16:creationId xmlns:a16="http://schemas.microsoft.com/office/drawing/2014/main" id="{242BF46A-7D46-D70C-3A5A-7EE384C91B34}"/>
              </a:ext>
            </a:extLst>
          </p:cNvPr>
          <p:cNvSpPr/>
          <p:nvPr/>
        </p:nvSpPr>
        <p:spPr>
          <a:xfrm>
            <a:off x="2495600" y="5272339"/>
            <a:ext cx="2592288" cy="514228"/>
          </a:xfrm>
          <a:prstGeom prst="wedgeRoundRectCallout">
            <a:avLst>
              <a:gd name="adj1" fmla="val -24187"/>
              <a:gd name="adj2" fmla="val -122786"/>
              <a:gd name="adj3" fmla="val 16667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デバイスを起動するクラスターを</a:t>
            </a:r>
            <a:endParaRPr lang="en-US" altLang="ja-JP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ダブルクリック</a:t>
            </a:r>
            <a:endParaRPr lang="en-US" altLang="ja-JP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5500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図 20">
            <a:extLst>
              <a:ext uri="{FF2B5EF4-FFF2-40B4-BE49-F238E27FC236}">
                <a16:creationId xmlns:a16="http://schemas.microsoft.com/office/drawing/2014/main" id="{AEE34ADC-255D-B10D-FE83-A01E59574D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4852"/>
          <a:stretch/>
        </p:blipFill>
        <p:spPr>
          <a:xfrm>
            <a:off x="5267130" y="2276871"/>
            <a:ext cx="4408181" cy="1719331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0AA456A8-B10B-7EE9-9429-2B839F0AE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4778" y="2784459"/>
            <a:ext cx="6505558" cy="140037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57A6EE1-F0DF-EA39-71E4-D659D0FF08ED}"/>
              </a:ext>
            </a:extLst>
          </p:cNvPr>
          <p:cNvSpPr txBox="1"/>
          <p:nvPr/>
        </p:nvSpPr>
        <p:spPr>
          <a:xfrm>
            <a:off x="983432" y="836712"/>
            <a:ext cx="10297144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 algn="just" defTabSz="8428038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  <a:tab pos="538163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	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区切り文字で分割されているデーターを、先頭から順に「データー番号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」「データー番号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」の順に並んでいると考えます。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marL="269875" indent="-269875" algn="just" defTabSz="8428038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  <a:tab pos="538163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	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「データー番号間〇〇」の値と、そのデーターが入力されるクラスターの間の「関連付け」を行います。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marL="269875" indent="-269875" algn="just" defTabSz="8428038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  <a:tab pos="538163" algn="l"/>
              </a:tabLst>
            </a:pPr>
            <a:r>
              <a:rPr lang="en-US" altLang="ja-JP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「バーコード」クラスターになっていないと分解設定はできません。</a:t>
            </a:r>
            <a:endParaRPr lang="en-US" altLang="ja-JP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8BAD3A0-7A50-2DE9-DFE5-2B9DE96789C8}"/>
              </a:ext>
            </a:extLst>
          </p:cNvPr>
          <p:cNvSpPr txBox="1"/>
          <p:nvPr/>
        </p:nvSpPr>
        <p:spPr>
          <a:xfrm>
            <a:off x="0" y="0"/>
            <a:ext cx="12192000" cy="620688"/>
          </a:xfrm>
          <a:prstGeom prst="rect">
            <a:avLst/>
          </a:prstGeom>
          <a:noFill/>
          <a:ln>
            <a:noFill/>
          </a:ln>
        </p:spPr>
        <p:txBody>
          <a:bodyPr wrap="square" tIns="72000" bIns="0" rtlCol="0" anchor="ctr">
            <a:noAutofit/>
          </a:bodyPr>
          <a:lstStyle/>
          <a:p>
            <a:pPr marL="177800"/>
            <a:r>
              <a:rPr lang="ja-JP" altLang="en-US" sz="2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バーコード分解設定　手順</a:t>
            </a:r>
            <a:r>
              <a:rPr lang="ja-JP" altLang="en-US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④区切りデーターとクラスターとの「関連付け」</a:t>
            </a:r>
            <a:endParaRPr lang="en-US" altLang="ja-JP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4C5A8D4-94D9-1897-B738-15CC5C7E95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8279" y="3157335"/>
            <a:ext cx="1581371" cy="182905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24FD1B6-D843-A654-F971-91DD67CD93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1704" y="4842372"/>
            <a:ext cx="6735115" cy="1257475"/>
          </a:xfrm>
          <a:prstGeom prst="rect">
            <a:avLst/>
          </a:prstGeom>
        </p:spPr>
      </p:pic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43DCBCC5-01CE-22BC-A1B8-FCE29133D025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4118445" y="4214777"/>
            <a:ext cx="33339" cy="673825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5882DA5A-268E-1037-7CCB-6EF69ACD236A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4941153" y="4228588"/>
            <a:ext cx="872488" cy="685177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67DBF163-5E25-11ED-4D0F-C3545555930D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7348950" y="4195521"/>
            <a:ext cx="144016" cy="650299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B8B56CED-E805-64EA-47E3-D79530226DA8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9320344" y="4195521"/>
            <a:ext cx="469604" cy="685177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角丸四角形 10">
            <a:extLst>
              <a:ext uri="{FF2B5EF4-FFF2-40B4-BE49-F238E27FC236}">
                <a16:creationId xmlns:a16="http://schemas.microsoft.com/office/drawing/2014/main" id="{EF6E3CF1-36FB-6885-BE58-A14B87990CBC}"/>
              </a:ext>
            </a:extLst>
          </p:cNvPr>
          <p:cNvSpPr/>
          <p:nvPr/>
        </p:nvSpPr>
        <p:spPr>
          <a:xfrm>
            <a:off x="3700108" y="3272665"/>
            <a:ext cx="836673" cy="942112"/>
          </a:xfrm>
          <a:prstGeom prst="roundRect">
            <a:avLst>
              <a:gd name="adj" fmla="val 8632"/>
            </a:avLst>
          </a:prstGeom>
          <a:noFill/>
          <a:ln w="38100">
            <a:solidFill>
              <a:srgbClr val="FF0000"/>
            </a:solidFill>
            <a:prstDash val="sysDot"/>
          </a:ln>
          <a:effectLst>
            <a:glow rad="508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角丸四角形 10">
            <a:extLst>
              <a:ext uri="{FF2B5EF4-FFF2-40B4-BE49-F238E27FC236}">
                <a16:creationId xmlns:a16="http://schemas.microsoft.com/office/drawing/2014/main" id="{1D6E8CAE-89AC-DAF5-8495-A2D0E055170D}"/>
              </a:ext>
            </a:extLst>
          </p:cNvPr>
          <p:cNvSpPr/>
          <p:nvPr/>
        </p:nvSpPr>
        <p:spPr>
          <a:xfrm>
            <a:off x="4536781" y="3297828"/>
            <a:ext cx="808744" cy="930760"/>
          </a:xfrm>
          <a:prstGeom prst="roundRect">
            <a:avLst>
              <a:gd name="adj" fmla="val 8632"/>
            </a:avLst>
          </a:prstGeom>
          <a:noFill/>
          <a:ln w="38100">
            <a:solidFill>
              <a:srgbClr val="FF0000"/>
            </a:solidFill>
            <a:prstDash val="sysDot"/>
          </a:ln>
          <a:effectLst>
            <a:glow rad="508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角丸四角形 10">
            <a:extLst>
              <a:ext uri="{FF2B5EF4-FFF2-40B4-BE49-F238E27FC236}">
                <a16:creationId xmlns:a16="http://schemas.microsoft.com/office/drawing/2014/main" id="{AE7E4D56-7948-44C5-0999-E2B39450C887}"/>
              </a:ext>
            </a:extLst>
          </p:cNvPr>
          <p:cNvSpPr/>
          <p:nvPr/>
        </p:nvSpPr>
        <p:spPr>
          <a:xfrm>
            <a:off x="6944578" y="3264761"/>
            <a:ext cx="808744" cy="930760"/>
          </a:xfrm>
          <a:prstGeom prst="roundRect">
            <a:avLst>
              <a:gd name="adj" fmla="val 8632"/>
            </a:avLst>
          </a:prstGeom>
          <a:noFill/>
          <a:ln w="38100">
            <a:solidFill>
              <a:srgbClr val="FF0000"/>
            </a:solidFill>
            <a:prstDash val="sysDot"/>
          </a:ln>
          <a:effectLst>
            <a:glow rad="508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角丸四角形 10">
            <a:extLst>
              <a:ext uri="{FF2B5EF4-FFF2-40B4-BE49-F238E27FC236}">
                <a16:creationId xmlns:a16="http://schemas.microsoft.com/office/drawing/2014/main" id="{022A59B4-D56E-3DDF-7463-B7C56ABDFDDF}"/>
              </a:ext>
            </a:extLst>
          </p:cNvPr>
          <p:cNvSpPr/>
          <p:nvPr/>
        </p:nvSpPr>
        <p:spPr>
          <a:xfrm>
            <a:off x="9385576" y="3264761"/>
            <a:ext cx="808744" cy="930760"/>
          </a:xfrm>
          <a:prstGeom prst="roundRect">
            <a:avLst>
              <a:gd name="adj" fmla="val 8632"/>
            </a:avLst>
          </a:prstGeom>
          <a:noFill/>
          <a:ln w="38100">
            <a:solidFill>
              <a:srgbClr val="FF0000"/>
            </a:solidFill>
            <a:prstDash val="sysDot"/>
          </a:ln>
          <a:effectLst>
            <a:glow rad="508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2165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E4A5BF90-7200-E038-2862-67AECDA740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5611" y="2205002"/>
            <a:ext cx="6425512" cy="40541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109EC6E-731D-FE90-A6ED-B3136D7D6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498" y="4497995"/>
            <a:ext cx="3229426" cy="17433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91DAA8F-EEF4-4AD4-4494-C65952C9671D}"/>
              </a:ext>
            </a:extLst>
          </p:cNvPr>
          <p:cNvSpPr txBox="1"/>
          <p:nvPr/>
        </p:nvSpPr>
        <p:spPr>
          <a:xfrm>
            <a:off x="983432" y="836712"/>
            <a:ext cx="10225136" cy="1358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 algn="just" defTabSz="8428038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  <a:tab pos="538163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・親：デバイスを起動するクラスターの場所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marL="269875" indent="-269875" algn="just" defTabSz="8428038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  <a:tab pos="538163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：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QR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コードのデーター番号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”1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番目を挿入するクラスター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”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の場所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marL="269875" indent="-269875" algn="just" defTabSz="8428038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  <a:tab pos="538163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：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”2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番目を挿入するクラスター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”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の場所を選択する状態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marL="269875" indent="-269875" algn="just" defTabSz="8428038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  <a:tab pos="538163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→この状態で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商品名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】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をクリックすることで子クラスターとしての分解先に決定します。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208944C-5BFF-C10A-427B-26E0054D3C4C}"/>
              </a:ext>
            </a:extLst>
          </p:cNvPr>
          <p:cNvSpPr txBox="1"/>
          <p:nvPr/>
        </p:nvSpPr>
        <p:spPr>
          <a:xfrm>
            <a:off x="0" y="0"/>
            <a:ext cx="12192000" cy="620688"/>
          </a:xfrm>
          <a:prstGeom prst="rect">
            <a:avLst/>
          </a:prstGeom>
          <a:noFill/>
          <a:ln>
            <a:noFill/>
          </a:ln>
        </p:spPr>
        <p:txBody>
          <a:bodyPr wrap="square" tIns="72000" bIns="0" rtlCol="0" anchor="ctr">
            <a:noAutofit/>
          </a:bodyPr>
          <a:lstStyle/>
          <a:p>
            <a:pPr marL="177800"/>
            <a:r>
              <a:rPr lang="ja-JP" altLang="en-US" sz="2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バーコード分解設定　手順</a:t>
            </a:r>
            <a:r>
              <a:rPr lang="ja-JP" altLang="en-US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④区切りデーターとクラスターとの「関連付け」</a:t>
            </a:r>
            <a:endParaRPr lang="en-US" altLang="ja-JP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角丸四角形 10">
            <a:extLst>
              <a:ext uri="{FF2B5EF4-FFF2-40B4-BE49-F238E27FC236}">
                <a16:creationId xmlns:a16="http://schemas.microsoft.com/office/drawing/2014/main" id="{07D86FB3-3186-A9A6-CEA2-C1213C02AEF7}"/>
              </a:ext>
            </a:extLst>
          </p:cNvPr>
          <p:cNvSpPr/>
          <p:nvPr/>
        </p:nvSpPr>
        <p:spPr>
          <a:xfrm>
            <a:off x="3598691" y="5101793"/>
            <a:ext cx="2087747" cy="277091"/>
          </a:xfrm>
          <a:prstGeom prst="roundRect">
            <a:avLst>
              <a:gd name="adj" fmla="val 8632"/>
            </a:avLst>
          </a:prstGeom>
          <a:noFill/>
          <a:ln w="38100">
            <a:solidFill>
              <a:srgbClr val="FF0000"/>
            </a:solidFill>
            <a:prstDash val="sysDot"/>
          </a:ln>
          <a:effectLst>
            <a:glow rad="508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" name="角丸四角形 10">
            <a:extLst>
              <a:ext uri="{FF2B5EF4-FFF2-40B4-BE49-F238E27FC236}">
                <a16:creationId xmlns:a16="http://schemas.microsoft.com/office/drawing/2014/main" id="{DEB71E3B-4C9A-B4D2-86CD-102EBB9EEED2}"/>
              </a:ext>
            </a:extLst>
          </p:cNvPr>
          <p:cNvSpPr/>
          <p:nvPr/>
        </p:nvSpPr>
        <p:spPr>
          <a:xfrm>
            <a:off x="3956287" y="3776003"/>
            <a:ext cx="1189168" cy="432048"/>
          </a:xfrm>
          <a:prstGeom prst="roundRect">
            <a:avLst>
              <a:gd name="adj" fmla="val 8632"/>
            </a:avLst>
          </a:prstGeom>
          <a:noFill/>
          <a:ln w="38100">
            <a:solidFill>
              <a:srgbClr val="FF0000"/>
            </a:solidFill>
            <a:prstDash val="sysDot"/>
          </a:ln>
          <a:effectLst>
            <a:glow rad="508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DAA3B151-CFE7-171D-1047-45689FC9C534}"/>
              </a:ext>
            </a:extLst>
          </p:cNvPr>
          <p:cNvSpPr/>
          <p:nvPr/>
        </p:nvSpPr>
        <p:spPr>
          <a:xfrm>
            <a:off x="5164619" y="3776003"/>
            <a:ext cx="1189168" cy="432048"/>
          </a:xfrm>
          <a:prstGeom prst="roundRect">
            <a:avLst>
              <a:gd name="adj" fmla="val 8632"/>
            </a:avLst>
          </a:prstGeom>
          <a:noFill/>
          <a:ln w="38100">
            <a:solidFill>
              <a:srgbClr val="3333FF"/>
            </a:solidFill>
            <a:prstDash val="sysDot"/>
          </a:ln>
          <a:effectLst>
            <a:glow rad="508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角丸四角形 10">
            <a:extLst>
              <a:ext uri="{FF2B5EF4-FFF2-40B4-BE49-F238E27FC236}">
                <a16:creationId xmlns:a16="http://schemas.microsoft.com/office/drawing/2014/main" id="{B68A1E79-9C05-256C-480C-A84E82232572}"/>
              </a:ext>
            </a:extLst>
          </p:cNvPr>
          <p:cNvSpPr/>
          <p:nvPr/>
        </p:nvSpPr>
        <p:spPr>
          <a:xfrm>
            <a:off x="6283838" y="5517232"/>
            <a:ext cx="3127991" cy="360040"/>
          </a:xfrm>
          <a:prstGeom prst="roundRect">
            <a:avLst>
              <a:gd name="adj" fmla="val 8632"/>
            </a:avLst>
          </a:prstGeom>
          <a:noFill/>
          <a:ln w="38100">
            <a:solidFill>
              <a:srgbClr val="3333FF"/>
            </a:solidFill>
            <a:prstDash val="sysDot"/>
          </a:ln>
          <a:effectLst>
            <a:glow rad="508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48" name="曲線コネクタ 20">
            <a:extLst>
              <a:ext uri="{FF2B5EF4-FFF2-40B4-BE49-F238E27FC236}">
                <a16:creationId xmlns:a16="http://schemas.microsoft.com/office/drawing/2014/main" id="{68F19F13-19EB-5860-BDEE-185E1AEE4584}"/>
              </a:ext>
            </a:extLst>
          </p:cNvPr>
          <p:cNvCxnSpPr>
            <a:cxnSpLocks/>
            <a:stCxn id="22" idx="0"/>
            <a:endCxn id="11" idx="2"/>
          </p:cNvCxnSpPr>
          <p:nvPr/>
        </p:nvCxnSpPr>
        <p:spPr>
          <a:xfrm rot="16200000" flipV="1">
            <a:off x="6148929" y="3818326"/>
            <a:ext cx="1309181" cy="2088631"/>
          </a:xfrm>
          <a:prstGeom prst="curvedConnector3">
            <a:avLst>
              <a:gd name="adj1" fmla="val 50000"/>
            </a:avLst>
          </a:prstGeom>
          <a:ln w="38100">
            <a:solidFill>
              <a:srgbClr val="0000FF"/>
            </a:solidFill>
            <a:prstDash val="sysDot"/>
            <a:tailEnd type="triangle"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863792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7E735FA7-5CE0-C0F9-9C47-89334DB96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0195" y="1862905"/>
            <a:ext cx="7025490" cy="43996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D46510E-8876-50E6-546C-A8E0CE13B09A}"/>
              </a:ext>
            </a:extLst>
          </p:cNvPr>
          <p:cNvSpPr txBox="1"/>
          <p:nvPr/>
        </p:nvSpPr>
        <p:spPr>
          <a:xfrm>
            <a:off x="983432" y="836712"/>
            <a:ext cx="10225136" cy="957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188" indent="-357188" defTabSz="11298238">
              <a:buNone/>
              <a:tabLst>
                <a:tab pos="357188" algn="l"/>
                <a:tab pos="628650" algn="l"/>
                <a:tab pos="898525" algn="l"/>
              </a:tabLst>
            </a:pPr>
            <a:r>
              <a:rPr lang="ja-JP" altLang="en-US" sz="1600" b="1" dirty="0">
                <a:solidFill>
                  <a:schemeClr val="accent5">
                    <a:lumMod val="50000"/>
                  </a:schemeClr>
                </a:solidFill>
                <a:cs typeface="+mn-cs"/>
              </a:rPr>
              <a:t>■設定完了時の画面</a:t>
            </a:r>
            <a:endParaRPr lang="en-US" altLang="ja-JP" sz="1600" b="1" dirty="0">
              <a:solidFill>
                <a:schemeClr val="accent5">
                  <a:lumMod val="50000"/>
                </a:schemeClr>
              </a:solidFill>
              <a:cs typeface="+mn-cs"/>
            </a:endParaRPr>
          </a:p>
          <a:p>
            <a:pPr marL="269875" indent="-269875" algn="just" defTabSz="8428038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  <a:tab pos="538163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残りの分解先の設定を完了させることで、読み取った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QR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コードのデーターが、それぞれの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バーコード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】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クラスターへ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marL="269875" indent="-269875" algn="just" defTabSz="8428038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  <a:tab pos="538163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分解されるようになります。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EB0D50C-7487-6196-62E5-1FD1BA6BD3A5}"/>
              </a:ext>
            </a:extLst>
          </p:cNvPr>
          <p:cNvSpPr txBox="1"/>
          <p:nvPr/>
        </p:nvSpPr>
        <p:spPr>
          <a:xfrm>
            <a:off x="0" y="0"/>
            <a:ext cx="12192000" cy="620688"/>
          </a:xfrm>
          <a:prstGeom prst="rect">
            <a:avLst/>
          </a:prstGeom>
          <a:noFill/>
          <a:ln>
            <a:noFill/>
          </a:ln>
        </p:spPr>
        <p:txBody>
          <a:bodyPr wrap="square" tIns="72000" bIns="0" rtlCol="0" anchor="ctr">
            <a:noAutofit/>
          </a:bodyPr>
          <a:lstStyle/>
          <a:p>
            <a:pPr marL="177800"/>
            <a:r>
              <a:rPr lang="ja-JP" altLang="en-US" sz="2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バーコード分解設定　手順</a:t>
            </a:r>
            <a:r>
              <a:rPr lang="ja-JP" altLang="en-US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⑤設定完了画面</a:t>
            </a:r>
            <a:endParaRPr lang="en-US" altLang="ja-JP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" name="角丸四角形 10">
            <a:extLst>
              <a:ext uri="{FF2B5EF4-FFF2-40B4-BE49-F238E27FC236}">
                <a16:creationId xmlns:a16="http://schemas.microsoft.com/office/drawing/2014/main" id="{46FF5A10-5DFB-12E9-DEC6-29D2FECC6F0C}"/>
              </a:ext>
            </a:extLst>
          </p:cNvPr>
          <p:cNvSpPr/>
          <p:nvPr/>
        </p:nvSpPr>
        <p:spPr>
          <a:xfrm>
            <a:off x="4705264" y="4509120"/>
            <a:ext cx="360041" cy="288032"/>
          </a:xfrm>
          <a:prstGeom prst="roundRect">
            <a:avLst>
              <a:gd name="adj" fmla="val 8632"/>
            </a:avLst>
          </a:prstGeom>
          <a:noFill/>
          <a:ln w="38100">
            <a:solidFill>
              <a:srgbClr val="FF0000"/>
            </a:solidFill>
            <a:prstDash val="sysDot"/>
          </a:ln>
          <a:effectLst>
            <a:glow rad="508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角丸四角形吹き出し 13">
            <a:extLst>
              <a:ext uri="{FF2B5EF4-FFF2-40B4-BE49-F238E27FC236}">
                <a16:creationId xmlns:a16="http://schemas.microsoft.com/office/drawing/2014/main" id="{B5E47722-D126-995D-1CF2-C43C4A66D52E}"/>
              </a:ext>
            </a:extLst>
          </p:cNvPr>
          <p:cNvSpPr/>
          <p:nvPr/>
        </p:nvSpPr>
        <p:spPr>
          <a:xfrm>
            <a:off x="6096000" y="4653136"/>
            <a:ext cx="1656184" cy="514228"/>
          </a:xfrm>
          <a:prstGeom prst="wedgeRoundRectCallout">
            <a:avLst>
              <a:gd name="adj1" fmla="val -81511"/>
              <a:gd name="adj2" fmla="val -62907"/>
              <a:gd name="adj3" fmla="val 16667"/>
            </a:avLst>
          </a:prstGeom>
          <a:solidFill>
            <a:srgbClr val="FF0000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忘れずに</a:t>
            </a:r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【OK】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7065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5E589F7A-2188-57D6-5C63-81DBE9DA15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5445" y="1984568"/>
            <a:ext cx="6411578" cy="42282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560A95C-2378-4FD0-6408-7344B11C61C2}"/>
              </a:ext>
            </a:extLst>
          </p:cNvPr>
          <p:cNvSpPr txBox="1"/>
          <p:nvPr/>
        </p:nvSpPr>
        <p:spPr>
          <a:xfrm>
            <a:off x="983432" y="836712"/>
            <a:ext cx="10225136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 defTabSz="8340725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  <a:tab pos="541338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</a:rPr>
              <a:t>①	メインメニューの「公開する」をクリックします。</a:t>
            </a:r>
          </a:p>
          <a:p>
            <a:pPr marL="269875" indent="-269875" defTabSz="8340725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  <a:tab pos="541338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</a:rPr>
              <a:t>②	編集画面がアプリ起動時の状態に戻れば、登録完了です。</a:t>
            </a:r>
          </a:p>
          <a:p>
            <a:pPr marL="269875" indent="-269875" defTabSz="8340725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  <a:tab pos="541338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</a:rPr>
              <a:t>	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</a:rPr>
              <a:t>※	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Meiryo UI" pitchFamily="50" charset="-128"/>
              </a:rPr>
              <a:t>設定内容に不備がある場合は、登録できずエラーメッセージが表示されます。内容を確認して修正を行ってください。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DB6085D-F8A6-B839-86C2-F4D81FD86150}"/>
              </a:ext>
            </a:extLst>
          </p:cNvPr>
          <p:cNvSpPr txBox="1"/>
          <p:nvPr/>
        </p:nvSpPr>
        <p:spPr>
          <a:xfrm>
            <a:off x="0" y="0"/>
            <a:ext cx="12192000" cy="620688"/>
          </a:xfrm>
          <a:prstGeom prst="rect">
            <a:avLst/>
          </a:prstGeom>
          <a:noFill/>
          <a:ln>
            <a:noFill/>
          </a:ln>
        </p:spPr>
        <p:txBody>
          <a:bodyPr wrap="square" tIns="72000" bIns="0" rtlCol="0" anchor="ctr">
            <a:noAutofit/>
          </a:bodyPr>
          <a:lstStyle/>
          <a:p>
            <a:pPr marL="177800"/>
            <a:r>
              <a:rPr lang="ja-JP" altLang="en-US" sz="24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帳票定義の公開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8B516AB-B2C5-4BBB-99FE-A4C08D9199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2104" y="3854935"/>
            <a:ext cx="3830983" cy="235788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9" name="曲線コネクタ 28">
            <a:extLst>
              <a:ext uri="{FF2B5EF4-FFF2-40B4-BE49-F238E27FC236}">
                <a16:creationId xmlns:a16="http://schemas.microsoft.com/office/drawing/2014/main" id="{9A91AB81-A38F-40DE-997F-6A0F107F15DA}"/>
              </a:ext>
            </a:extLst>
          </p:cNvPr>
          <p:cNvCxnSpPr>
            <a:cxnSpLocks/>
            <a:stCxn id="24" idx="2"/>
            <a:endCxn id="4" idx="0"/>
          </p:cNvCxnSpPr>
          <p:nvPr/>
        </p:nvCxnSpPr>
        <p:spPr>
          <a:xfrm rot="16200000" flipH="1">
            <a:off x="7593998" y="2501337"/>
            <a:ext cx="580610" cy="2126586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sysDot"/>
            <a:tailEnd type="triangle"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12266B78-0101-A4AD-0BA0-9B2E865253C4}"/>
              </a:ext>
            </a:extLst>
          </p:cNvPr>
          <p:cNvGrpSpPr/>
          <p:nvPr/>
        </p:nvGrpSpPr>
        <p:grpSpPr>
          <a:xfrm>
            <a:off x="4223791" y="2439591"/>
            <a:ext cx="3985204" cy="901471"/>
            <a:chOff x="4223792" y="2439591"/>
            <a:chExt cx="3985204" cy="901471"/>
          </a:xfrm>
        </p:grpSpPr>
        <p:sp>
          <p:nvSpPr>
            <p:cNvPr id="6" name="角丸四角形 5"/>
            <p:cNvSpPr/>
            <p:nvPr/>
          </p:nvSpPr>
          <p:spPr>
            <a:xfrm>
              <a:off x="4223792" y="2439591"/>
              <a:ext cx="1367443" cy="15718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  <a:prstDash val="sysDot"/>
            </a:ln>
            <a:effectLst>
              <a:glow rad="50800">
                <a:schemeClr val="bg1">
                  <a:alpha val="7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15696852-772C-4351-B7C9-23633D7EC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39108" y="2928101"/>
              <a:ext cx="3728797" cy="412961"/>
            </a:xfrm>
            <a:prstGeom prst="rect">
              <a:avLst/>
            </a:prstGeom>
            <a:ln w="38100">
              <a:solidFill>
                <a:srgbClr val="FF0000"/>
              </a:solidFill>
              <a:prstDash val="sysDot"/>
            </a:ln>
            <a:effectLst>
              <a:glow rad="63500">
                <a:schemeClr val="bg1">
                  <a:alpha val="50000"/>
                </a:schemeClr>
              </a:glow>
            </a:effectLst>
          </p:spPr>
        </p:pic>
        <p:grpSp>
          <p:nvGrpSpPr>
            <p:cNvPr id="29" name="グループ化 28">
              <a:extLst>
                <a:ext uri="{FF2B5EF4-FFF2-40B4-BE49-F238E27FC236}">
                  <a16:creationId xmlns:a16="http://schemas.microsoft.com/office/drawing/2014/main" id="{29828426-50F9-40A6-B797-FB2E86633313}"/>
                </a:ext>
              </a:extLst>
            </p:cNvPr>
            <p:cNvGrpSpPr/>
            <p:nvPr/>
          </p:nvGrpSpPr>
          <p:grpSpPr>
            <a:xfrm>
              <a:off x="4223793" y="2439591"/>
              <a:ext cx="3985203" cy="901471"/>
              <a:chOff x="2655944" y="2690465"/>
              <a:chExt cx="3985203" cy="901471"/>
            </a:xfrm>
          </p:grpSpPr>
          <p:cxnSp>
            <p:nvCxnSpPr>
              <p:cNvPr id="22" name="直線コネクタ 21">
                <a:extLst>
                  <a:ext uri="{FF2B5EF4-FFF2-40B4-BE49-F238E27FC236}">
                    <a16:creationId xmlns:a16="http://schemas.microsoft.com/office/drawing/2014/main" id="{C3C03361-6EB9-4182-8024-DD4CC29658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23387" y="2690465"/>
                <a:ext cx="2617760" cy="486537"/>
              </a:xfrm>
              <a:prstGeom prst="line">
                <a:avLst/>
              </a:prstGeom>
              <a:ln w="38100">
                <a:solidFill>
                  <a:srgbClr val="FF0000"/>
                </a:solidFill>
                <a:prstDash val="sysDot"/>
              </a:ln>
              <a:effectLst>
                <a:glow rad="63500">
                  <a:schemeClr val="bg1"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コネクタ 22">
                <a:extLst>
                  <a:ext uri="{FF2B5EF4-FFF2-40B4-BE49-F238E27FC236}">
                    <a16:creationId xmlns:a16="http://schemas.microsoft.com/office/drawing/2014/main" id="{62EE86BF-781F-4D68-8BC6-C51729A2DB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5944" y="2847645"/>
                <a:ext cx="215315" cy="744291"/>
              </a:xfrm>
              <a:prstGeom prst="line">
                <a:avLst/>
              </a:prstGeom>
              <a:ln w="38100">
                <a:solidFill>
                  <a:srgbClr val="FF0000"/>
                </a:solidFill>
                <a:prstDash val="sysDot"/>
              </a:ln>
              <a:effectLst>
                <a:glow rad="63500">
                  <a:schemeClr val="bg1"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角丸四角形 5">
              <a:extLst>
                <a:ext uri="{FF2B5EF4-FFF2-40B4-BE49-F238E27FC236}">
                  <a16:creationId xmlns:a16="http://schemas.microsoft.com/office/drawing/2014/main" id="{F517BD84-9517-4F95-8577-3B0326DB180D}"/>
                </a:ext>
              </a:extLst>
            </p:cNvPr>
            <p:cNvSpPr/>
            <p:nvPr/>
          </p:nvSpPr>
          <p:spPr>
            <a:xfrm>
              <a:off x="6410220" y="2995901"/>
              <a:ext cx="821581" cy="278424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  <a:prstDash val="sysDot"/>
            </a:ln>
            <a:effectLst>
              <a:glow rad="50800">
                <a:schemeClr val="bg1">
                  <a:alpha val="7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905621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77B11-930C-A7F5-88D9-5160CDEC7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F7E4B3D-B820-81F5-12D1-FA41AA74963A}"/>
              </a:ext>
            </a:extLst>
          </p:cNvPr>
          <p:cNvSpPr txBox="1"/>
          <p:nvPr/>
        </p:nvSpPr>
        <p:spPr>
          <a:xfrm>
            <a:off x="911424" y="1070514"/>
            <a:ext cx="10225136" cy="71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 algn="just" defTabSz="8428038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  <a:tab pos="538163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対象の親クラスターを選択し、バーコード分解の一覧から右クリックメニューをクリックします。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marL="269875" indent="-269875" algn="just" defTabSz="8428038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  <a:tab pos="538163" algn="l"/>
              </a:tabLst>
            </a:pP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バーコード分解設定を解除する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】【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全て解除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】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のいずれかを選択することで解除できます。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605B47CB-4DE1-0B46-6991-1393F8586F3A}"/>
              </a:ext>
            </a:extLst>
          </p:cNvPr>
          <p:cNvSpPr txBox="1">
            <a:spLocks/>
          </p:cNvSpPr>
          <p:nvPr/>
        </p:nvSpPr>
        <p:spPr>
          <a:xfrm>
            <a:off x="695400" y="853188"/>
            <a:ext cx="10801200" cy="33855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3200" kern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2800" kern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2000" kern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2000" kern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defTabSz="11298238">
              <a:buNone/>
              <a:tabLst>
                <a:tab pos="357188" algn="l"/>
                <a:tab pos="628650" algn="l"/>
                <a:tab pos="898525" algn="l"/>
              </a:tabLst>
            </a:pPr>
            <a:r>
              <a:rPr lang="ja-JP" altLang="en-US" sz="1600" b="1" dirty="0">
                <a:solidFill>
                  <a:schemeClr val="accent5">
                    <a:lumMod val="50000"/>
                  </a:schemeClr>
                </a:solidFill>
                <a:cs typeface="+mn-cs"/>
              </a:rPr>
              <a:t>■設定済みのバーコード分解設定の修正方法</a:t>
            </a:r>
            <a:endParaRPr lang="en-US" altLang="ja-JP" sz="1600" b="1" dirty="0">
              <a:solidFill>
                <a:schemeClr val="accent5">
                  <a:lumMod val="50000"/>
                </a:schemeClr>
              </a:solidFill>
              <a:cs typeface="+mn-cs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4418A1F-9BDD-BE34-DF28-A928E422F995}"/>
              </a:ext>
            </a:extLst>
          </p:cNvPr>
          <p:cNvSpPr txBox="1"/>
          <p:nvPr/>
        </p:nvSpPr>
        <p:spPr>
          <a:xfrm>
            <a:off x="0" y="0"/>
            <a:ext cx="12192000" cy="620688"/>
          </a:xfrm>
          <a:prstGeom prst="rect">
            <a:avLst/>
          </a:prstGeom>
          <a:noFill/>
          <a:ln>
            <a:noFill/>
          </a:ln>
        </p:spPr>
        <p:txBody>
          <a:bodyPr wrap="square" tIns="72000" bIns="0" rtlCol="0" anchor="ctr">
            <a:noAutofit/>
          </a:bodyPr>
          <a:lstStyle/>
          <a:p>
            <a:pPr marL="177800"/>
            <a:r>
              <a:rPr lang="ja-JP" altLang="en-US" sz="2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バーコード分解設定　練習箇所</a:t>
            </a:r>
            <a:endParaRPr lang="en-US" altLang="ja-JP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DDF850A-77FD-8B4F-1033-F28634601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9203" y="1782247"/>
            <a:ext cx="6629577" cy="45708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63486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20FB2-50C7-45BC-D9A2-0AB40033A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BF891DF-5D11-C8BD-3414-1E483C62320B}"/>
              </a:ext>
            </a:extLst>
          </p:cNvPr>
          <p:cNvSpPr txBox="1"/>
          <p:nvPr/>
        </p:nvSpPr>
        <p:spPr>
          <a:xfrm>
            <a:off x="-25391" y="0"/>
            <a:ext cx="10668000" cy="620688"/>
          </a:xfrm>
          <a:prstGeom prst="rect">
            <a:avLst/>
          </a:prstGeom>
          <a:noFill/>
        </p:spPr>
        <p:txBody>
          <a:bodyPr wrap="square" tIns="72000" bIns="0" rtlCol="0" anchor="ctr">
            <a:noAutofit/>
          </a:bodyPr>
          <a:lstStyle/>
          <a:p>
            <a:pPr marL="177800"/>
            <a:r>
              <a:rPr lang="ja-JP" altLang="en-US" sz="28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改訂履歴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55A789BB-F385-A9D7-F99B-5D40E7BE0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478725"/>
              </p:ext>
            </p:extLst>
          </p:nvPr>
        </p:nvGraphicFramePr>
        <p:xfrm>
          <a:off x="1055439" y="1422583"/>
          <a:ext cx="10081120" cy="1339496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403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3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3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6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6537">
                <a:tc>
                  <a:txBody>
                    <a:bodyPr/>
                    <a:lstStyle/>
                    <a:p>
                      <a:r>
                        <a:rPr kumimoji="1" lang="ja-JP" altLang="en-US" sz="900" b="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日付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b="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バージョン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b="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記載ページ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b="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改訂内容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724">
                <a:tc>
                  <a:txBody>
                    <a:bodyPr/>
                    <a:lstStyle/>
                    <a:p>
                      <a:r>
                        <a:rPr kumimoji="1"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2025-04-01</a:t>
                      </a:r>
                      <a:endParaRPr kumimoji="1"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b="0" dirty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Rev 1.0.0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000" b="0" dirty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--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初版を発行しました。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724">
                <a:tc>
                  <a:txBody>
                    <a:bodyPr/>
                    <a:lstStyle/>
                    <a:p>
                      <a:r>
                        <a:rPr kumimoji="1"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2025-04-08</a:t>
                      </a:r>
                      <a:endParaRPr kumimoji="1"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b="0" dirty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Rev 1.0.1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000" b="0" dirty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--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画像を差し替えました。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202650"/>
                  </a:ext>
                </a:extLst>
              </a:tr>
              <a:tr h="277724">
                <a:tc>
                  <a:txBody>
                    <a:bodyPr/>
                    <a:lstStyle/>
                    <a:p>
                      <a:r>
                        <a:rPr kumimoji="1"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2025-06-01</a:t>
                      </a:r>
                      <a:endParaRPr kumimoji="1"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b="0" dirty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Rev 1.1.0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000" b="0" dirty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--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全体の構成を調整しました。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01927"/>
                  </a:ext>
                </a:extLst>
              </a:tr>
              <a:tr h="277724">
                <a:tc>
                  <a:txBody>
                    <a:bodyPr/>
                    <a:lstStyle/>
                    <a:p>
                      <a:r>
                        <a:rPr kumimoji="1"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2025-08-04</a:t>
                      </a:r>
                      <a:endParaRPr kumimoji="1"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b="0" dirty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Rev 1.1.1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000" b="0" dirty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P.2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構成内容を調整しました。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5397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0487900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"/>
</p:tagLst>
</file>

<file path=ppt/theme/theme1.xml><?xml version="1.0" encoding="utf-8"?>
<a:theme xmlns:a="http://schemas.openxmlformats.org/drawingml/2006/main" name="PowerPoint 2010 のご紹介">
  <a:themeElements>
    <a:clrScheme name="Fresh">
      <a:dk1>
        <a:srgbClr val="262626"/>
      </a:dk1>
      <a:lt1>
        <a:sysClr val="window" lastClr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ユーザー定義 1">
      <a:majorFont>
        <a:latin typeface="Calibri"/>
        <a:ea typeface="ＭＳ Ｐゴシック"/>
        <a:cs typeface=""/>
      </a:majorFont>
      <a:minorFont>
        <a:latin typeface="Calibri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1107</Words>
  <Application>Microsoft Office PowerPoint</Application>
  <PresentationFormat>ワイド画面</PresentationFormat>
  <Paragraphs>140</Paragraphs>
  <Slides>13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9" baseType="lpstr">
      <vt:lpstr>Meiryo UI</vt:lpstr>
      <vt:lpstr>Myriad Pro</vt:lpstr>
      <vt:lpstr>メイリオ</vt:lpstr>
      <vt:lpstr>Arial</vt:lpstr>
      <vt:lpstr>Calibri</vt:lpstr>
      <vt:lpstr>PowerPoint 2010 のご紹介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帳票定義作成編_バーコード分解設定</dc:title>
  <dc:creator/>
  <cp:lastModifiedBy>伊藤 大輔</cp:lastModifiedBy>
  <cp:revision>19</cp:revision>
  <dcterms:created xsi:type="dcterms:W3CDTF">2012-01-24T01:18:54Z</dcterms:created>
  <dcterms:modified xsi:type="dcterms:W3CDTF">2025-08-04T04:04:13Z</dcterms:modified>
</cp:coreProperties>
</file>